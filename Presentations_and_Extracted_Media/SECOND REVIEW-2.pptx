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76" r:id="rId3"/>
    <p:sldId id="275" r:id="rId4"/>
    <p:sldId id="301" r:id="rId5"/>
    <p:sldId id="304" r:id="rId6"/>
    <p:sldId id="312" r:id="rId7"/>
    <p:sldId id="305" r:id="rId8"/>
    <p:sldId id="307" r:id="rId9"/>
    <p:sldId id="278" r:id="rId10"/>
    <p:sldId id="303" r:id="rId11"/>
    <p:sldId id="313" r:id="rId12"/>
    <p:sldId id="295" r:id="rId13"/>
    <p:sldId id="282" r:id="rId14"/>
    <p:sldId id="318" r:id="rId15"/>
    <p:sldId id="319" r:id="rId16"/>
    <p:sldId id="285" r:id="rId17"/>
    <p:sldId id="286" r:id="rId18"/>
    <p:sldId id="287" r:id="rId19"/>
    <p:sldId id="314" r:id="rId20"/>
    <p:sldId id="315" r:id="rId21"/>
    <p:sldId id="297" r:id="rId22"/>
    <p:sldId id="310" r:id="rId23"/>
    <p:sldId id="311" r:id="rId24"/>
    <p:sldId id="292" r:id="rId25"/>
    <p:sldId id="308" r:id="rId26"/>
    <p:sldId id="316" r:id="rId27"/>
    <p:sldId id="300" r:id="rId28"/>
    <p:sldId id="309" r:id="rId29"/>
    <p:sldId id="317" r:id="rId30"/>
    <p:sldId id="294" r:id="rId31"/>
    <p:sldId id="27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40BDEE-281A-4278-BC62-FB7FA2C0D1FD}" v="17" dt="2026-05-09T06:44:15.0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44" autoAdjust="0"/>
    <p:restoredTop sz="95033" autoAdjust="0"/>
  </p:normalViewPr>
  <p:slideViewPr>
    <p:cSldViewPr snapToGrid="0">
      <p:cViewPr varScale="1">
        <p:scale>
          <a:sx n="78" d="100"/>
          <a:sy n="78" d="100"/>
        </p:scale>
        <p:origin x="8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mathi Senthil" userId="77d21f09e774c142" providerId="LiveId" clId="{D7543A57-ED33-415D-8641-412C5105D54B}"/>
    <pc:docChg chg="custSel addSld delSld modSld">
      <pc:chgData name="Madhumathi Senthil" userId="77d21f09e774c142" providerId="LiveId" clId="{D7543A57-ED33-415D-8641-412C5105D54B}" dt="2026-05-09T06:48:25.016" v="552" actId="14100"/>
      <pc:docMkLst>
        <pc:docMk/>
      </pc:docMkLst>
      <pc:sldChg chg="delSp modSp mod">
        <pc:chgData name="Madhumathi Senthil" userId="77d21f09e774c142" providerId="LiveId" clId="{D7543A57-ED33-415D-8641-412C5105D54B}" dt="2026-05-09T05:07:20.322" v="44" actId="1076"/>
        <pc:sldMkLst>
          <pc:docMk/>
          <pc:sldMk cId="0" sldId="256"/>
        </pc:sldMkLst>
        <pc:spChg chg="mod">
          <ac:chgData name="Madhumathi Senthil" userId="77d21f09e774c142" providerId="LiveId" clId="{D7543A57-ED33-415D-8641-412C5105D54B}" dt="2026-05-09T05:03:56.919" v="5" actId="20577"/>
          <ac:spMkLst>
            <pc:docMk/>
            <pc:sldMk cId="0" sldId="256"/>
            <ac:spMk id="3" creationId="{D3627321-7DF9-2808-E091-BFB1F8842F4F}"/>
          </ac:spMkLst>
        </pc:spChg>
        <pc:spChg chg="del mod">
          <ac:chgData name="Madhumathi Senthil" userId="77d21f09e774c142" providerId="LiveId" clId="{D7543A57-ED33-415D-8641-412C5105D54B}" dt="2026-05-09T05:07:10.097" v="42" actId="21"/>
          <ac:spMkLst>
            <pc:docMk/>
            <pc:sldMk cId="0" sldId="256"/>
            <ac:spMk id="5" creationId="{E2A9E4CC-ABA9-F636-706A-50711431FB93}"/>
          </ac:spMkLst>
        </pc:spChg>
        <pc:spChg chg="mod">
          <ac:chgData name="Madhumathi Senthil" userId="77d21f09e774c142" providerId="LiveId" clId="{D7543A57-ED33-415D-8641-412C5105D54B}" dt="2026-05-09T05:07:20.322" v="44" actId="1076"/>
          <ac:spMkLst>
            <pc:docMk/>
            <pc:sldMk cId="0" sldId="256"/>
            <ac:spMk id="74" creationId="{00000000-0000-0000-0000-000000000000}"/>
          </ac:spMkLst>
        </pc:spChg>
        <pc:spChg chg="mod">
          <ac:chgData name="Madhumathi Senthil" userId="77d21f09e774c142" providerId="LiveId" clId="{D7543A57-ED33-415D-8641-412C5105D54B}" dt="2026-05-09T05:03:33.126" v="1" actId="20577"/>
          <ac:spMkLst>
            <pc:docMk/>
            <pc:sldMk cId="0" sldId="256"/>
            <ac:spMk id="75" creationId="{00000000-0000-0000-0000-000000000000}"/>
          </ac:spMkLst>
        </pc:spChg>
        <pc:spChg chg="mod">
          <ac:chgData name="Madhumathi Senthil" userId="77d21f09e774c142" providerId="LiveId" clId="{D7543A57-ED33-415D-8641-412C5105D54B}" dt="2026-05-09T05:07:16.043" v="43" actId="1076"/>
          <ac:spMkLst>
            <pc:docMk/>
            <pc:sldMk cId="0" sldId="256"/>
            <ac:spMk id="76" creationId="{00000000-0000-0000-0000-000000000000}"/>
          </ac:spMkLst>
        </pc:spChg>
      </pc:sldChg>
      <pc:sldChg chg="addSp modSp mod">
        <pc:chgData name="Madhumathi Senthil" userId="77d21f09e774c142" providerId="LiveId" clId="{D7543A57-ED33-415D-8641-412C5105D54B}" dt="2026-05-09T05:20:16.428" v="305" actId="14100"/>
        <pc:sldMkLst>
          <pc:docMk/>
          <pc:sldMk cId="266645904" sldId="282"/>
        </pc:sldMkLst>
        <pc:spChg chg="add mod">
          <ac:chgData name="Madhumathi Senthil" userId="77d21f09e774c142" providerId="LiveId" clId="{D7543A57-ED33-415D-8641-412C5105D54B}" dt="2026-05-09T05:16:02.592" v="261" actId="255"/>
          <ac:spMkLst>
            <pc:docMk/>
            <pc:sldMk cId="266645904" sldId="282"/>
            <ac:spMk id="2" creationId="{AE7DB0FC-210C-6BBB-DB60-3D83F578CB29}"/>
          </ac:spMkLst>
        </pc:spChg>
        <pc:spChg chg="add mod">
          <ac:chgData name="Madhumathi Senthil" userId="77d21f09e774c142" providerId="LiveId" clId="{D7543A57-ED33-415D-8641-412C5105D54B}" dt="2026-05-09T05:20:16.428" v="305" actId="14100"/>
          <ac:spMkLst>
            <pc:docMk/>
            <pc:sldMk cId="266645904" sldId="282"/>
            <ac:spMk id="3" creationId="{CA5A0FB1-5111-D0DB-B578-423B2CDBC0CD}"/>
          </ac:spMkLst>
        </pc:spChg>
        <pc:spChg chg="mod">
          <ac:chgData name="Madhumathi Senthil" userId="77d21f09e774c142" providerId="LiveId" clId="{D7543A57-ED33-415D-8641-412C5105D54B}" dt="2026-05-09T05:19:36.443" v="303" actId="14100"/>
          <ac:spMkLst>
            <pc:docMk/>
            <pc:sldMk cId="266645904" sldId="282"/>
            <ac:spMk id="5" creationId="{44F04519-42AB-DAFC-6F23-F2F7E8555E97}"/>
          </ac:spMkLst>
        </pc:spChg>
      </pc:sldChg>
      <pc:sldChg chg="del">
        <pc:chgData name="Madhumathi Senthil" userId="77d21f09e774c142" providerId="LiveId" clId="{D7543A57-ED33-415D-8641-412C5105D54B}" dt="2026-05-09T05:20:34.147" v="306" actId="47"/>
        <pc:sldMkLst>
          <pc:docMk/>
          <pc:sldMk cId="3234722978" sldId="283"/>
        </pc:sldMkLst>
      </pc:sldChg>
      <pc:sldChg chg="modSp mod">
        <pc:chgData name="Madhumathi Senthil" userId="77d21f09e774c142" providerId="LiveId" clId="{D7543A57-ED33-415D-8641-412C5105D54B}" dt="2026-05-09T06:48:25.016" v="552" actId="14100"/>
        <pc:sldMkLst>
          <pc:docMk/>
          <pc:sldMk cId="2697931383" sldId="285"/>
        </pc:sldMkLst>
        <pc:spChg chg="mod">
          <ac:chgData name="Madhumathi Senthil" userId="77d21f09e774c142" providerId="LiveId" clId="{D7543A57-ED33-415D-8641-412C5105D54B}" dt="2026-05-09T06:48:25.016" v="552" actId="14100"/>
          <ac:spMkLst>
            <pc:docMk/>
            <pc:sldMk cId="2697931383" sldId="285"/>
            <ac:spMk id="2" creationId="{ED9F8D4D-4FEB-C58F-C4CB-94703B4764C8}"/>
          </ac:spMkLst>
        </pc:spChg>
      </pc:sldChg>
      <pc:sldChg chg="modSp mod">
        <pc:chgData name="Madhumathi Senthil" userId="77d21f09e774c142" providerId="LiveId" clId="{D7543A57-ED33-415D-8641-412C5105D54B}" dt="2026-05-09T06:47:15.143" v="479" actId="1076"/>
        <pc:sldMkLst>
          <pc:docMk/>
          <pc:sldMk cId="3141410978" sldId="297"/>
        </pc:sldMkLst>
        <pc:spChg chg="mod">
          <ac:chgData name="Madhumathi Senthil" userId="77d21f09e774c142" providerId="LiveId" clId="{D7543A57-ED33-415D-8641-412C5105D54B}" dt="2026-05-09T06:47:15.143" v="479" actId="1076"/>
          <ac:spMkLst>
            <pc:docMk/>
            <pc:sldMk cId="3141410978" sldId="297"/>
            <ac:spMk id="2" creationId="{66941D94-7AB4-DE75-C919-25B89290CDB4}"/>
          </ac:spMkLst>
        </pc:spChg>
        <pc:spChg chg="mod">
          <ac:chgData name="Madhumathi Senthil" userId="77d21f09e774c142" providerId="LiveId" clId="{D7543A57-ED33-415D-8641-412C5105D54B}" dt="2026-05-09T06:47:08.438" v="478" actId="1076"/>
          <ac:spMkLst>
            <pc:docMk/>
            <pc:sldMk cId="3141410978" sldId="297"/>
            <ac:spMk id="12" creationId="{94619D09-DD8A-794B-2E59-0ACB21957D99}"/>
          </ac:spMkLst>
        </pc:spChg>
        <pc:spChg chg="mod">
          <ac:chgData name="Madhumathi Senthil" userId="77d21f09e774c142" providerId="LiveId" clId="{D7543A57-ED33-415D-8641-412C5105D54B}" dt="2026-05-09T06:46:58.273" v="476" actId="1076"/>
          <ac:spMkLst>
            <pc:docMk/>
            <pc:sldMk cId="3141410978" sldId="297"/>
            <ac:spMk id="14" creationId="{4BDE2AC9-6366-6774-BFDE-D1FC51A391AE}"/>
          </ac:spMkLst>
        </pc:spChg>
      </pc:sldChg>
      <pc:sldChg chg="addSp modSp new mod">
        <pc:chgData name="Madhumathi Senthil" userId="77d21f09e774c142" providerId="LiveId" clId="{D7543A57-ED33-415D-8641-412C5105D54B}" dt="2026-05-09T05:28:01.959" v="350" actId="2711"/>
        <pc:sldMkLst>
          <pc:docMk/>
          <pc:sldMk cId="3919216437" sldId="318"/>
        </pc:sldMkLst>
        <pc:spChg chg="mod">
          <ac:chgData name="Madhumathi Senthil" userId="77d21f09e774c142" providerId="LiveId" clId="{D7543A57-ED33-415D-8641-412C5105D54B}" dt="2026-05-09T05:21:39.429" v="313" actId="1076"/>
          <ac:spMkLst>
            <pc:docMk/>
            <pc:sldMk cId="3919216437" sldId="318"/>
            <ac:spMk id="2" creationId="{E56A7AB1-5E69-0860-7BDC-710720A0672E}"/>
          </ac:spMkLst>
        </pc:spChg>
        <pc:spChg chg="mod">
          <ac:chgData name="Madhumathi Senthil" userId="77d21f09e774c142" providerId="LiveId" clId="{D7543A57-ED33-415D-8641-412C5105D54B}" dt="2026-05-09T05:23:50.782" v="321" actId="14100"/>
          <ac:spMkLst>
            <pc:docMk/>
            <pc:sldMk cId="3919216437" sldId="318"/>
            <ac:spMk id="3" creationId="{16312DD7-879B-7638-A3B2-FE2CAFA76A50}"/>
          </ac:spMkLst>
        </pc:spChg>
        <pc:spChg chg="add mod">
          <ac:chgData name="Madhumathi Senthil" userId="77d21f09e774c142" providerId="LiveId" clId="{D7543A57-ED33-415D-8641-412C5105D54B}" dt="2026-05-09T05:27:28.188" v="347" actId="20577"/>
          <ac:spMkLst>
            <pc:docMk/>
            <pc:sldMk cId="3919216437" sldId="318"/>
            <ac:spMk id="4" creationId="{74A820B8-EF42-B139-6B21-3423720A368A}"/>
          </ac:spMkLst>
        </pc:spChg>
        <pc:spChg chg="add mod">
          <ac:chgData name="Madhumathi Senthil" userId="77d21f09e774c142" providerId="LiveId" clId="{D7543A57-ED33-415D-8641-412C5105D54B}" dt="2026-05-09T05:28:01.959" v="350" actId="2711"/>
          <ac:spMkLst>
            <pc:docMk/>
            <pc:sldMk cId="3919216437" sldId="318"/>
            <ac:spMk id="5" creationId="{05A27CAA-355D-E4E0-30BF-F91F226C6014}"/>
          </ac:spMkLst>
        </pc:spChg>
      </pc:sldChg>
      <pc:sldChg chg="addSp modSp new mod">
        <pc:chgData name="Madhumathi Senthil" userId="77d21f09e774c142" providerId="LiveId" clId="{D7543A57-ED33-415D-8641-412C5105D54B}" dt="2026-05-09T06:44:58.323" v="409" actId="14100"/>
        <pc:sldMkLst>
          <pc:docMk/>
          <pc:sldMk cId="1712990740" sldId="319"/>
        </pc:sldMkLst>
        <pc:spChg chg="mod">
          <ac:chgData name="Madhumathi Senthil" userId="77d21f09e774c142" providerId="LiveId" clId="{D7543A57-ED33-415D-8641-412C5105D54B}" dt="2026-05-09T06:42:13.717" v="390" actId="1076"/>
          <ac:spMkLst>
            <pc:docMk/>
            <pc:sldMk cId="1712990740" sldId="319"/>
            <ac:spMk id="2" creationId="{615F8F73-68D7-D2C3-E1CD-3C9807ABA751}"/>
          </ac:spMkLst>
        </pc:spChg>
        <pc:spChg chg="mod">
          <ac:chgData name="Madhumathi Senthil" userId="77d21f09e774c142" providerId="LiveId" clId="{D7543A57-ED33-415D-8641-412C5105D54B}" dt="2026-05-09T06:43:56.437" v="402" actId="1076"/>
          <ac:spMkLst>
            <pc:docMk/>
            <pc:sldMk cId="1712990740" sldId="319"/>
            <ac:spMk id="3" creationId="{EADAC069-6B04-BD3E-05DC-ACEB40E68593}"/>
          </ac:spMkLst>
        </pc:spChg>
        <pc:spChg chg="add mod">
          <ac:chgData name="Madhumathi Senthil" userId="77d21f09e774c142" providerId="LiveId" clId="{D7543A57-ED33-415D-8641-412C5105D54B}" dt="2026-05-09T06:44:58.323" v="409" actId="14100"/>
          <ac:spMkLst>
            <pc:docMk/>
            <pc:sldMk cId="1712990740" sldId="319"/>
            <ac:spMk id="4" creationId="{CFABD922-0CC0-F6F5-6EAE-E3ABF72AC8C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1433B7-9966-4558-BF20-2BA382AB48E5}" type="datetimeFigureOut">
              <a:rPr lang="en-IN" smtClean="0"/>
              <a:t>09-05-2026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0A6D3F-E386-4064-9C4B-65DA137DAEAD}" type="slidenum">
              <a:rPr lang="en-IN" smtClean="0"/>
              <a:t>‹#›</a:t>
            </a:fld>
            <a:endParaRPr lang="en-IN"/>
          </a:p>
        </p:txBody>
      </p:sp>
    </p:spTree>
    <p:extLst>
      <p:ext uri="{BB962C8B-B14F-4D97-AF65-F5344CB8AC3E}">
        <p14:creationId xmlns:p14="http://schemas.microsoft.com/office/powerpoint/2010/main" val="1211558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0A6D3F-E386-4064-9C4B-65DA137DAEAD}" type="slidenum">
              <a:rPr lang="en-IN" smtClean="0"/>
              <a:t>3</a:t>
            </a:fld>
            <a:endParaRPr lang="en-IN"/>
          </a:p>
        </p:txBody>
      </p:sp>
    </p:spTree>
    <p:extLst>
      <p:ext uri="{BB962C8B-B14F-4D97-AF65-F5344CB8AC3E}">
        <p14:creationId xmlns:p14="http://schemas.microsoft.com/office/powerpoint/2010/main" val="2988068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0A6D3F-E386-4064-9C4B-65DA137DAEAD}" type="slidenum">
              <a:rPr lang="en-IN" smtClean="0"/>
              <a:t>7</a:t>
            </a:fld>
            <a:endParaRPr lang="en-IN"/>
          </a:p>
        </p:txBody>
      </p:sp>
    </p:spTree>
    <p:extLst>
      <p:ext uri="{BB962C8B-B14F-4D97-AF65-F5344CB8AC3E}">
        <p14:creationId xmlns:p14="http://schemas.microsoft.com/office/powerpoint/2010/main" val="3613366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0A6D3F-E386-4064-9C4B-65DA137DAEAD}" type="slidenum">
              <a:rPr lang="en-IN" smtClean="0"/>
              <a:t>8</a:t>
            </a:fld>
            <a:endParaRPr lang="en-IN"/>
          </a:p>
        </p:txBody>
      </p:sp>
    </p:spTree>
    <p:extLst>
      <p:ext uri="{BB962C8B-B14F-4D97-AF65-F5344CB8AC3E}">
        <p14:creationId xmlns:p14="http://schemas.microsoft.com/office/powerpoint/2010/main" val="3096037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0A6D3F-E386-4064-9C4B-65DA137DAEAD}" type="slidenum">
              <a:rPr lang="en-IN" smtClean="0"/>
              <a:t>27</a:t>
            </a:fld>
            <a:endParaRPr lang="en-IN"/>
          </a:p>
        </p:txBody>
      </p:sp>
    </p:spTree>
    <p:extLst>
      <p:ext uri="{BB962C8B-B14F-4D97-AF65-F5344CB8AC3E}">
        <p14:creationId xmlns:p14="http://schemas.microsoft.com/office/powerpoint/2010/main" val="228590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E172034-FB5D-46DD-BAA3-AC21716551D7}"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1894C01-98A3-47D7-9E45-A57DE27B794B}"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8D93022F-98CA-41A9-83A5-617CC39CCAF0}"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98C6E768-6FC4-4338-BDFE-6FCD8015221F}"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400" b="0" u="none" strike="noStrike">
                <a:solidFill>
                  <a:schemeClr val="dk1">
                    <a:tint val="75000"/>
                  </a:schemeClr>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305F835-EDA3-4DC7-9974-6E8A2A25C8F3}"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3EE4466-38FC-4452-B8AC-736444FA5F35}"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3947373-3146-421F-8124-3E34701C26B9}"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08F5FDC-7E6C-4771-A088-2ACFBAC77671}"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6EA7728-53A0-48E5-ACB6-72ACAA4BE8AA}"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32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Fifth level</a:t>
            </a: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7AFCE3E-2D59-4788-B4E0-2B6C923132BC}"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728000" lvl="3" indent="-2160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7F5BC09-0CBF-4456-8AA5-711CC0A15ECC}"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Box 59"/>
          <p:cNvSpPr txBox="1"/>
          <p:nvPr/>
        </p:nvSpPr>
        <p:spPr>
          <a:xfrm>
            <a:off x="3718059" y="2255760"/>
            <a:ext cx="4008960" cy="427320"/>
          </a:xfrm>
          <a:prstGeom prst="rect">
            <a:avLst/>
          </a:prstGeom>
          <a:noFill/>
          <a:ln w="0">
            <a:noFill/>
          </a:ln>
        </p:spPr>
        <p:txBody>
          <a:bodyPr lIns="90000" tIns="45000" rIns="90000" bIns="45000" anchor="t">
            <a:spAutoFit/>
          </a:bodyPr>
          <a:lstStyle/>
          <a:p>
            <a:r>
              <a:rPr lang="en-IN" sz="2400" b="1" u="none" strike="noStrike" dirty="0">
                <a:solidFill>
                  <a:schemeClr val="dk1"/>
                </a:solidFill>
                <a:effectLst/>
                <a:uFillTx/>
                <a:latin typeface="Times New Roman"/>
              </a:rPr>
              <a:t>DEPARTMENT OF CSE</a:t>
            </a:r>
            <a:endParaRPr lang="en-IN" sz="2400" b="0" u="none" strike="noStrike" dirty="0">
              <a:solidFill>
                <a:srgbClr val="000000"/>
              </a:solidFill>
              <a:effectLst/>
              <a:uFillTx/>
              <a:latin typeface="Arial"/>
            </a:endParaRPr>
          </a:p>
        </p:txBody>
      </p:sp>
      <p:sp>
        <p:nvSpPr>
          <p:cNvPr id="61" name="TextBox 60"/>
          <p:cNvSpPr txBox="1"/>
          <p:nvPr/>
        </p:nvSpPr>
        <p:spPr>
          <a:xfrm>
            <a:off x="5713560" y="1828440"/>
            <a:ext cx="352080" cy="343800"/>
          </a:xfrm>
          <a:prstGeom prst="rect">
            <a:avLst/>
          </a:prstGeom>
          <a:noFill/>
          <a:ln w="0">
            <a:noFill/>
          </a:ln>
        </p:spPr>
        <p:txBody>
          <a:bodyPr lIns="90000" tIns="45000" rIns="90000" bIns="45000" anchor="t">
            <a:spAutoFit/>
          </a:bodyPr>
          <a:lstStyle/>
          <a:p>
            <a:r>
              <a:rPr lang="en-IN" sz="1800" b="0" u="none" strike="noStrike">
                <a:solidFill>
                  <a:schemeClr val="dk1"/>
                </a:solidFill>
                <a:effectLst/>
                <a:uFillTx/>
                <a:latin typeface="Times New Roman"/>
              </a:rPr>
              <a:t>   </a:t>
            </a:r>
            <a:endParaRPr lang="en-IN" sz="1800" b="0" u="none" strike="noStrike">
              <a:solidFill>
                <a:srgbClr val="000000"/>
              </a:solidFill>
              <a:effectLst/>
              <a:uFillTx/>
              <a:latin typeface="Arial"/>
            </a:endParaRPr>
          </a:p>
        </p:txBody>
      </p:sp>
      <p:pic>
        <p:nvPicPr>
          <p:cNvPr id="62" name="Picture 21"/>
          <p:cNvPicPr/>
          <p:nvPr/>
        </p:nvPicPr>
        <p:blipFill>
          <a:blip r:embed="rId2"/>
          <a:stretch/>
        </p:blipFill>
        <p:spPr>
          <a:xfrm>
            <a:off x="1105200" y="32580"/>
            <a:ext cx="1054800" cy="1158120"/>
          </a:xfrm>
          <a:prstGeom prst="rect">
            <a:avLst/>
          </a:prstGeom>
          <a:noFill/>
          <a:ln w="0">
            <a:noFill/>
          </a:ln>
        </p:spPr>
      </p:pic>
      <p:pic>
        <p:nvPicPr>
          <p:cNvPr id="63" name="Picture 23"/>
          <p:cNvPicPr/>
          <p:nvPr/>
        </p:nvPicPr>
        <p:blipFill>
          <a:blip r:embed="rId3"/>
          <a:stretch/>
        </p:blipFill>
        <p:spPr>
          <a:xfrm>
            <a:off x="3012120" y="9553"/>
            <a:ext cx="1169640" cy="1169640"/>
          </a:xfrm>
          <a:prstGeom prst="rect">
            <a:avLst/>
          </a:prstGeom>
          <a:noFill/>
          <a:ln w="0">
            <a:noFill/>
          </a:ln>
        </p:spPr>
      </p:pic>
      <p:pic>
        <p:nvPicPr>
          <p:cNvPr id="64" name="Picture 19"/>
          <p:cNvPicPr/>
          <p:nvPr/>
        </p:nvPicPr>
        <p:blipFill>
          <a:blip r:embed="rId4"/>
          <a:stretch/>
        </p:blipFill>
        <p:spPr>
          <a:xfrm>
            <a:off x="4952880" y="0"/>
            <a:ext cx="1527120" cy="1223280"/>
          </a:xfrm>
          <a:prstGeom prst="rect">
            <a:avLst/>
          </a:prstGeom>
          <a:noFill/>
          <a:ln w="0">
            <a:noFill/>
          </a:ln>
        </p:spPr>
      </p:pic>
      <p:pic>
        <p:nvPicPr>
          <p:cNvPr id="65" name="Picture 1"/>
          <p:cNvPicPr/>
          <p:nvPr/>
        </p:nvPicPr>
        <p:blipFill>
          <a:blip r:embed="rId5"/>
          <a:stretch/>
        </p:blipFill>
        <p:spPr>
          <a:xfrm>
            <a:off x="7343079" y="180000"/>
            <a:ext cx="767880" cy="767880"/>
          </a:xfrm>
          <a:prstGeom prst="rect">
            <a:avLst/>
          </a:prstGeom>
          <a:noFill/>
          <a:ln w="0">
            <a:noFill/>
          </a:ln>
        </p:spPr>
      </p:pic>
      <p:pic>
        <p:nvPicPr>
          <p:cNvPr id="66" name="Picture 13"/>
          <p:cNvPicPr/>
          <p:nvPr/>
        </p:nvPicPr>
        <p:blipFill>
          <a:blip r:embed="rId6"/>
          <a:stretch/>
        </p:blipFill>
        <p:spPr>
          <a:xfrm>
            <a:off x="9179880" y="38267"/>
            <a:ext cx="1039680" cy="1035360"/>
          </a:xfrm>
          <a:prstGeom prst="rect">
            <a:avLst/>
          </a:prstGeom>
          <a:noFill/>
          <a:ln w="0">
            <a:noFill/>
          </a:ln>
        </p:spPr>
      </p:pic>
      <p:sp>
        <p:nvSpPr>
          <p:cNvPr id="67" name="TextBox 66"/>
          <p:cNvSpPr txBox="1"/>
          <p:nvPr/>
        </p:nvSpPr>
        <p:spPr>
          <a:xfrm>
            <a:off x="1557982" y="1276024"/>
            <a:ext cx="9291960" cy="596520"/>
          </a:xfrm>
          <a:prstGeom prst="rect">
            <a:avLst/>
          </a:prstGeom>
          <a:noFill/>
          <a:ln w="0">
            <a:noFill/>
          </a:ln>
        </p:spPr>
        <p:txBody>
          <a:bodyPr lIns="90000" tIns="45000" rIns="90000" bIns="45000" anchor="t">
            <a:spAutoFit/>
          </a:bodyPr>
          <a:lstStyle/>
          <a:p>
            <a:r>
              <a:rPr lang="en-IN" sz="3200" b="1" u="none" strike="noStrike" dirty="0">
                <a:solidFill>
                  <a:schemeClr val="dk1"/>
                </a:solidFill>
                <a:effectLst/>
                <a:uFillTx/>
                <a:latin typeface="Times New Roman"/>
              </a:rPr>
              <a:t>NAAN MUDHALVAN-NIRAL THIRUVIZHA</a:t>
            </a:r>
            <a:endParaRPr lang="en-IN" sz="3200" b="0" u="none" strike="noStrike" dirty="0">
              <a:solidFill>
                <a:srgbClr val="000000"/>
              </a:solidFill>
              <a:effectLst/>
              <a:uFillTx/>
              <a:latin typeface="Arial"/>
            </a:endParaRPr>
          </a:p>
        </p:txBody>
      </p:sp>
      <p:sp>
        <p:nvSpPr>
          <p:cNvPr id="68" name="TextBox 67"/>
          <p:cNvSpPr txBox="1"/>
          <p:nvPr/>
        </p:nvSpPr>
        <p:spPr>
          <a:xfrm>
            <a:off x="1780919" y="1803563"/>
            <a:ext cx="8629560" cy="427320"/>
          </a:xfrm>
          <a:prstGeom prst="rect">
            <a:avLst/>
          </a:prstGeom>
          <a:noFill/>
          <a:ln w="0">
            <a:noFill/>
          </a:ln>
        </p:spPr>
        <p:txBody>
          <a:bodyPr lIns="90000" tIns="45000" rIns="90000" bIns="45000" anchor="t">
            <a:spAutoFit/>
          </a:bodyPr>
          <a:lstStyle/>
          <a:p>
            <a:r>
              <a:rPr lang="en-US" sz="2400" b="1" u="none" strike="noStrike" dirty="0">
                <a:solidFill>
                  <a:schemeClr val="dk1"/>
                </a:solidFill>
                <a:effectLst/>
                <a:uFillTx/>
                <a:latin typeface="Times New Roman"/>
              </a:rPr>
              <a:t>     UNIVERSITY </a:t>
            </a:r>
            <a:r>
              <a:rPr lang="en-IN" sz="2400" b="1" u="none" strike="noStrike" dirty="0">
                <a:solidFill>
                  <a:schemeClr val="dk1"/>
                </a:solidFill>
                <a:effectLst/>
                <a:uFillTx/>
                <a:latin typeface="Times New Roman"/>
              </a:rPr>
              <a:t> COLLEGE OF ENGINEERING</a:t>
            </a:r>
            <a:endParaRPr lang="en-IN" sz="2400" b="0" u="none" strike="noStrike" dirty="0">
              <a:solidFill>
                <a:srgbClr val="000000"/>
              </a:solidFill>
              <a:effectLst/>
              <a:uFillTx/>
              <a:latin typeface="Arial"/>
            </a:endParaRPr>
          </a:p>
        </p:txBody>
      </p:sp>
      <p:sp>
        <p:nvSpPr>
          <p:cNvPr id="69" name="TextBox 68"/>
          <p:cNvSpPr txBox="1"/>
          <p:nvPr/>
        </p:nvSpPr>
        <p:spPr>
          <a:xfrm>
            <a:off x="689731" y="4851720"/>
            <a:ext cx="4320000" cy="398655"/>
          </a:xfrm>
          <a:prstGeom prst="rect">
            <a:avLst/>
          </a:prstGeom>
          <a:noFill/>
          <a:ln w="0">
            <a:noFill/>
          </a:ln>
        </p:spPr>
        <p:txBody>
          <a:bodyPr lIns="90000" tIns="45000" rIns="90000" bIns="45000" anchor="t">
            <a:spAutoFit/>
          </a:bodyPr>
          <a:lstStyle/>
          <a:p>
            <a:r>
              <a:rPr lang="en-IN" sz="2000" b="1" u="none" strike="noStrike" dirty="0">
                <a:solidFill>
                  <a:schemeClr val="dk1"/>
                </a:solidFill>
                <a:effectLst/>
                <a:uFillTx/>
                <a:latin typeface="Times New Roman"/>
              </a:rPr>
              <a:t>PRESENTED BY </a:t>
            </a:r>
            <a:endParaRPr lang="en-IN" sz="2000" b="1" u="none" strike="noStrike" dirty="0">
              <a:solidFill>
                <a:srgbClr val="000000"/>
              </a:solidFill>
              <a:effectLst/>
              <a:uFillTx/>
              <a:latin typeface="Arial"/>
            </a:endParaRPr>
          </a:p>
        </p:txBody>
      </p:sp>
      <p:sp>
        <p:nvSpPr>
          <p:cNvPr id="73" name="TextBox 72"/>
          <p:cNvSpPr txBox="1"/>
          <p:nvPr/>
        </p:nvSpPr>
        <p:spPr>
          <a:xfrm>
            <a:off x="6203962" y="4790754"/>
            <a:ext cx="6480000" cy="1337374"/>
          </a:xfrm>
          <a:prstGeom prst="rect">
            <a:avLst/>
          </a:prstGeom>
          <a:noFill/>
          <a:ln w="0">
            <a:noFill/>
          </a:ln>
        </p:spPr>
        <p:txBody>
          <a:bodyPr lIns="90000" tIns="45000" rIns="90000" bIns="45000" anchor="t">
            <a:spAutoFit/>
          </a:bodyPr>
          <a:lstStyle/>
          <a:p>
            <a:endParaRPr lang="en-IN" sz="2100" b="0" u="none" strike="noStrike" dirty="0">
              <a:solidFill>
                <a:srgbClr val="000000"/>
              </a:solidFill>
              <a:effectLst/>
              <a:uFillTx/>
              <a:latin typeface="Arial"/>
            </a:endParaRPr>
          </a:p>
          <a:p>
            <a:endParaRPr lang="en-IN" sz="2000" b="0" u="none" strike="noStrike" dirty="0">
              <a:solidFill>
                <a:srgbClr val="000000"/>
              </a:solidFill>
              <a:effectLst/>
              <a:uFillTx/>
              <a:latin typeface="Arial"/>
            </a:endParaRPr>
          </a:p>
          <a:p>
            <a:r>
              <a:rPr lang="en-IN" sz="2000" u="none" strike="noStrike" dirty="0">
                <a:solidFill>
                  <a:schemeClr val="dk1"/>
                </a:solidFill>
                <a:effectLst/>
                <a:uFillTx/>
                <a:latin typeface="Times New Roman" panose="02020603050405020304" pitchFamily="18" charset="0"/>
                <a:cs typeface="Times New Roman" panose="02020603050405020304" pitchFamily="18" charset="0"/>
              </a:rPr>
              <a:t>Dr. SIVANESH., </a:t>
            </a:r>
            <a:r>
              <a:rPr lang="en-IN" sz="2000" u="none" strike="noStrike" dirty="0" err="1">
                <a:solidFill>
                  <a:schemeClr val="dk1"/>
                </a:solidFill>
                <a:effectLst/>
                <a:uFillTx/>
                <a:latin typeface="Times New Roman" panose="02020603050405020304" pitchFamily="18" charset="0"/>
                <a:cs typeface="Times New Roman" panose="02020603050405020304" pitchFamily="18" charset="0"/>
              </a:rPr>
              <a:t>B.Tech</a:t>
            </a:r>
            <a:r>
              <a:rPr lang="en-IN" sz="2000" u="none" strike="noStrike" dirty="0">
                <a:solidFill>
                  <a:schemeClr val="dk1"/>
                </a:solidFill>
                <a:effectLst/>
                <a:uFillTx/>
                <a:latin typeface="Times New Roman" panose="02020603050405020304" pitchFamily="18" charset="0"/>
                <a:cs typeface="Times New Roman" panose="02020603050405020304" pitchFamily="18" charset="0"/>
              </a:rPr>
              <a:t> .,</a:t>
            </a:r>
            <a:r>
              <a:rPr lang="en-IN" sz="2000" dirty="0" err="1">
                <a:solidFill>
                  <a:schemeClr val="dk1"/>
                </a:solidFill>
                <a:latin typeface="Times New Roman" panose="02020603050405020304" pitchFamily="18" charset="0"/>
                <a:cs typeface="Times New Roman" panose="02020603050405020304" pitchFamily="18" charset="0"/>
              </a:rPr>
              <a:t>M</a:t>
            </a:r>
            <a:r>
              <a:rPr lang="en-IN" sz="2000" u="none" strike="noStrike" dirty="0" err="1">
                <a:solidFill>
                  <a:schemeClr val="dk1"/>
                </a:solidFill>
                <a:effectLst/>
                <a:uFillTx/>
                <a:latin typeface="Times New Roman" panose="02020603050405020304" pitchFamily="18" charset="0"/>
                <a:cs typeface="Times New Roman" panose="02020603050405020304" pitchFamily="18" charset="0"/>
              </a:rPr>
              <a:t>.Tech</a:t>
            </a:r>
            <a:r>
              <a:rPr lang="en-IN" sz="2000" u="none" strike="noStrike" dirty="0">
                <a:solidFill>
                  <a:schemeClr val="dk1"/>
                </a:solidFill>
                <a:effectLst/>
                <a:uFillTx/>
                <a:latin typeface="Times New Roman" panose="02020603050405020304" pitchFamily="18" charset="0"/>
                <a:cs typeface="Times New Roman" panose="02020603050405020304" pitchFamily="18" charset="0"/>
              </a:rPr>
              <a:t>., Ph.</a:t>
            </a:r>
            <a:r>
              <a:rPr lang="en-IN" sz="2000" u="none" strike="noStrike">
                <a:solidFill>
                  <a:schemeClr val="dk1"/>
                </a:solidFill>
                <a:effectLst/>
                <a:uFillTx/>
                <a:latin typeface="Times New Roman" panose="02020603050405020304" pitchFamily="18" charset="0"/>
                <a:cs typeface="Times New Roman" panose="02020603050405020304" pitchFamily="18" charset="0"/>
              </a:rPr>
              <a:t>D.,</a:t>
            </a:r>
            <a:endParaRPr lang="en-IN" sz="2000" dirty="0">
              <a:solidFill>
                <a:srgbClr val="000000"/>
              </a:solidFill>
              <a:latin typeface="Times New Roman" panose="02020603050405020304" pitchFamily="18" charset="0"/>
              <a:cs typeface="Times New Roman" panose="02020603050405020304" pitchFamily="18" charset="0"/>
            </a:endParaRPr>
          </a:p>
          <a:p>
            <a:r>
              <a:rPr lang="en-IN" sz="2000" u="none" strike="noStrike">
                <a:solidFill>
                  <a:schemeClr val="dk1"/>
                </a:solidFill>
                <a:effectLst/>
                <a:uFillTx/>
                <a:latin typeface="Times New Roman" panose="02020603050405020304" pitchFamily="18" charset="0"/>
                <a:cs typeface="Times New Roman" panose="02020603050405020304" pitchFamily="18" charset="0"/>
              </a:rPr>
              <a:t>DEPARTMENT </a:t>
            </a:r>
            <a:r>
              <a:rPr lang="en-IN" sz="2000" u="none" strike="noStrike" dirty="0">
                <a:solidFill>
                  <a:schemeClr val="dk1"/>
                </a:solidFill>
                <a:effectLst/>
                <a:uFillTx/>
                <a:latin typeface="Times New Roman" panose="02020603050405020304" pitchFamily="18" charset="0"/>
                <a:cs typeface="Times New Roman" panose="02020603050405020304" pitchFamily="18" charset="0"/>
              </a:rPr>
              <a:t>OF CSE</a:t>
            </a:r>
            <a:endParaRPr lang="en-IN" sz="200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4" name="TextBox 73"/>
          <p:cNvSpPr txBox="1"/>
          <p:nvPr/>
        </p:nvSpPr>
        <p:spPr>
          <a:xfrm>
            <a:off x="2105640" y="3994733"/>
            <a:ext cx="7920000" cy="706432"/>
          </a:xfrm>
          <a:prstGeom prst="rect">
            <a:avLst/>
          </a:prstGeom>
          <a:noFill/>
          <a:ln w="0">
            <a:noFill/>
          </a:ln>
        </p:spPr>
        <p:txBody>
          <a:bodyPr lIns="90000" tIns="45000" rIns="90000" bIns="45000" anchor="t">
            <a:spAutoFit/>
          </a:bodyPr>
          <a:lstStyle/>
          <a:p>
            <a:r>
              <a:rPr lang="en-IN" sz="2000" b="1" u="none" strike="noStrike" dirty="0">
                <a:solidFill>
                  <a:schemeClr val="dk1"/>
                </a:solidFill>
                <a:effectLst/>
                <a:uFillTx/>
                <a:latin typeface="Times New Roman"/>
              </a:rPr>
              <a:t>  MAJOR AREA:</a:t>
            </a:r>
            <a:r>
              <a:rPr lang="en-US" sz="2000" b="1" dirty="0">
                <a:latin typeface="Times New Roman" panose="02020603050405020304" pitchFamily="18" charset="0"/>
                <a:cs typeface="Times New Roman" panose="02020603050405020304" pitchFamily="18" charset="0"/>
              </a:rPr>
              <a:t>Artificial Intelligence in Mental Healthcare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(AI-based Clinical Decision &amp; Therapeutic Support System)</a:t>
            </a:r>
            <a:endParaRPr lang="en-IN" sz="20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5" name="TextBox 74"/>
          <p:cNvSpPr txBox="1"/>
          <p:nvPr/>
        </p:nvSpPr>
        <p:spPr>
          <a:xfrm>
            <a:off x="3960000" y="2647567"/>
            <a:ext cx="5040000" cy="367878"/>
          </a:xfrm>
          <a:prstGeom prst="rect">
            <a:avLst/>
          </a:prstGeom>
          <a:noFill/>
          <a:ln w="0">
            <a:noFill/>
          </a:ln>
        </p:spPr>
        <p:txBody>
          <a:bodyPr lIns="90000" tIns="45000" rIns="90000" bIns="45000" anchor="t">
            <a:spAutoFit/>
          </a:bodyPr>
          <a:lstStyle/>
          <a:p>
            <a:r>
              <a:rPr lang="en-IN" b="1" dirty="0">
                <a:solidFill>
                  <a:schemeClr val="dk1"/>
                </a:solidFill>
                <a:latin typeface="Times New Roman"/>
              </a:rPr>
              <a:t>2nd</a:t>
            </a:r>
            <a:r>
              <a:rPr lang="en-IN" sz="1800" b="1" u="none" strike="noStrike" dirty="0">
                <a:solidFill>
                  <a:schemeClr val="dk1"/>
                </a:solidFill>
                <a:effectLst/>
                <a:uFillTx/>
                <a:latin typeface="Times New Roman"/>
              </a:rPr>
              <a:t> Review Date:</a:t>
            </a:r>
            <a:r>
              <a:rPr lang="en-IN" b="1" dirty="0">
                <a:solidFill>
                  <a:schemeClr val="dk1"/>
                </a:solidFill>
                <a:latin typeface="Times New Roman"/>
              </a:rPr>
              <a:t>07</a:t>
            </a:r>
            <a:r>
              <a:rPr lang="en-IN" sz="1800" b="1" u="none" strike="noStrike" dirty="0">
                <a:solidFill>
                  <a:schemeClr val="dk1"/>
                </a:solidFill>
                <a:effectLst/>
                <a:uFillTx/>
                <a:latin typeface="Times New Roman"/>
              </a:rPr>
              <a:t>/05/2026</a:t>
            </a:r>
            <a:endParaRPr lang="en-IN" sz="1800" b="0" u="none" strike="noStrike" dirty="0">
              <a:solidFill>
                <a:srgbClr val="000000"/>
              </a:solidFill>
              <a:effectLst/>
              <a:uFillTx/>
              <a:latin typeface="Arial"/>
            </a:endParaRPr>
          </a:p>
        </p:txBody>
      </p:sp>
      <p:sp>
        <p:nvSpPr>
          <p:cNvPr id="76" name="TextBox 75"/>
          <p:cNvSpPr txBox="1"/>
          <p:nvPr/>
        </p:nvSpPr>
        <p:spPr>
          <a:xfrm>
            <a:off x="539959" y="3150755"/>
            <a:ext cx="11652041" cy="1137319"/>
          </a:xfrm>
          <a:prstGeom prst="rect">
            <a:avLst/>
          </a:prstGeom>
          <a:noFill/>
          <a:ln w="0">
            <a:noFill/>
          </a:ln>
        </p:spPr>
        <p:txBody>
          <a:bodyPr wrap="square" lIns="90000" tIns="45000" rIns="90000" bIns="45000" anchor="t">
            <a:spAutoFit/>
          </a:bodyPr>
          <a:lstStyle/>
          <a:p>
            <a:r>
              <a:rPr lang="en-US" sz="2400" b="1" dirty="0">
                <a:latin typeface="Times New Roman" panose="02020603050405020304" pitchFamily="18" charset="0"/>
                <a:cs typeface="Times New Roman" panose="02020603050405020304" pitchFamily="18" charset="0"/>
              </a:rPr>
              <a:t>17.</a:t>
            </a:r>
            <a:r>
              <a:rPr lang="en-US" sz="2400" dirty="0"/>
              <a:t> </a:t>
            </a:r>
            <a:r>
              <a:rPr lang="en-US" sz="2000" dirty="0">
                <a:latin typeface="Times New Roman" panose="02020603050405020304" pitchFamily="18" charset="0"/>
                <a:cs typeface="Times New Roman" panose="02020603050405020304" pitchFamily="18" charset="0"/>
              </a:rPr>
              <a:t>How might we utilize AI chatbots and machine learning to address the challenges of incomplete alleviation of depression symptoms, attrition, and loss of follow-up in mental health treatment</a:t>
            </a:r>
            <a:endParaRPr lang="en-US" altLang="en-US" sz="20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endParaRPr lang="en-IN" sz="2200" b="1"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7" name="TextBox 76"/>
          <p:cNvSpPr txBox="1"/>
          <p:nvPr/>
        </p:nvSpPr>
        <p:spPr>
          <a:xfrm>
            <a:off x="5813079" y="4879354"/>
            <a:ext cx="3060000" cy="540000"/>
          </a:xfrm>
          <a:prstGeom prst="rect">
            <a:avLst/>
          </a:prstGeom>
          <a:noFill/>
          <a:ln w="0">
            <a:noFill/>
          </a:ln>
        </p:spPr>
        <p:txBody>
          <a:bodyPr lIns="90000" tIns="45000" rIns="90000" bIns="45000" anchor="t">
            <a:spAutoFit/>
          </a:bodyPr>
          <a:lstStyle/>
          <a:p>
            <a:r>
              <a:rPr lang="en-IN" sz="2000" b="1" u="none" strike="noStrike" dirty="0">
                <a:solidFill>
                  <a:schemeClr val="dk1"/>
                </a:solidFill>
                <a:effectLst/>
                <a:uFillTx/>
                <a:latin typeface="Times New Roman"/>
              </a:rPr>
              <a:t>GUIDED BY</a:t>
            </a:r>
            <a:endParaRPr lang="en-IN" sz="2000" b="0" u="none" strike="noStrike" dirty="0">
              <a:solidFill>
                <a:srgbClr val="000000"/>
              </a:solidFill>
              <a:effectLst/>
              <a:uFillTx/>
              <a:latin typeface="Arial"/>
            </a:endParaRPr>
          </a:p>
        </p:txBody>
      </p:sp>
      <p:sp>
        <p:nvSpPr>
          <p:cNvPr id="3" name="TextBox 2">
            <a:extLst>
              <a:ext uri="{FF2B5EF4-FFF2-40B4-BE49-F238E27FC236}">
                <a16:creationId xmlns:a16="http://schemas.microsoft.com/office/drawing/2014/main" id="{D3627321-7DF9-2808-E091-BFB1F8842F4F}"/>
              </a:ext>
            </a:extLst>
          </p:cNvPr>
          <p:cNvSpPr txBox="1"/>
          <p:nvPr/>
        </p:nvSpPr>
        <p:spPr>
          <a:xfrm>
            <a:off x="1031286" y="5295616"/>
            <a:ext cx="3998696" cy="1015663"/>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MADHUMATHI S(422623104003)</a:t>
            </a:r>
          </a:p>
          <a:p>
            <a:r>
              <a:rPr lang="en-IN" sz="2000" dirty="0">
                <a:latin typeface="Times New Roman" panose="02020603050405020304" pitchFamily="18" charset="0"/>
                <a:cs typeface="Times New Roman" panose="02020603050405020304" pitchFamily="18" charset="0"/>
              </a:rPr>
              <a:t>BALAJI P(422623104035)</a:t>
            </a:r>
          </a:p>
          <a:p>
            <a:r>
              <a:rPr lang="en-IN" sz="2000" dirty="0">
                <a:latin typeface="Times New Roman" panose="02020603050405020304" pitchFamily="18" charset="0"/>
                <a:cs typeface="Times New Roman" panose="02020603050405020304" pitchFamily="18" charset="0"/>
              </a:rPr>
              <a:t>MALINI V(422623104048)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BC04A-259B-9CBB-5626-8691DEB6960A}"/>
              </a:ext>
            </a:extLst>
          </p:cNvPr>
          <p:cNvSpPr>
            <a:spLocks noGrp="1"/>
          </p:cNvSpPr>
          <p:nvPr>
            <p:ph type="title"/>
          </p:nvPr>
        </p:nvSpPr>
        <p:spPr>
          <a:xfrm>
            <a:off x="396239" y="240391"/>
            <a:ext cx="10515240" cy="1325160"/>
          </a:xfrm>
        </p:spPr>
        <p:txBody>
          <a:bodyPr/>
          <a:lstStyle/>
          <a:p>
            <a:r>
              <a:rPr lang="en-IN" sz="4000" b="1" dirty="0">
                <a:latin typeface="Times New Roman" panose="02020603050405020304" pitchFamily="18" charset="0"/>
                <a:cs typeface="Times New Roman" panose="02020603050405020304" pitchFamily="18" charset="0"/>
              </a:rPr>
              <a:t>ABSTRACT</a:t>
            </a:r>
          </a:p>
        </p:txBody>
      </p:sp>
      <p:sp>
        <p:nvSpPr>
          <p:cNvPr id="4" name="Rectangle 1">
            <a:extLst>
              <a:ext uri="{FF2B5EF4-FFF2-40B4-BE49-F238E27FC236}">
                <a16:creationId xmlns:a16="http://schemas.microsoft.com/office/drawing/2014/main" id="{872CE439-CFF1-65B1-B690-FFA3A524E7EF}"/>
              </a:ext>
            </a:extLst>
          </p:cNvPr>
          <p:cNvSpPr>
            <a:spLocks noGrp="1" noChangeArrowheads="1"/>
          </p:cNvSpPr>
          <p:nvPr>
            <p:ph type="body"/>
          </p:nvPr>
        </p:nvSpPr>
        <p:spPr bwMode="auto">
          <a:xfrm>
            <a:off x="723481" y="1565551"/>
            <a:ext cx="11072280" cy="4136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r>
              <a:rPr lang="en-US" sz="1800" dirty="0">
                <a:latin typeface="Times New Roman" panose="02020603050405020304" pitchFamily="18" charset="0"/>
                <a:cs typeface="Times New Roman" panose="02020603050405020304" pitchFamily="18" charset="0"/>
              </a:rPr>
              <a:t>Keffi AI is a </a:t>
            </a:r>
            <a:r>
              <a:rPr lang="en-US" sz="1800" b="1" dirty="0">
                <a:latin typeface="Times New Roman" panose="02020603050405020304" pitchFamily="18" charset="0"/>
                <a:cs typeface="Times New Roman" panose="02020603050405020304" pitchFamily="18" charset="0"/>
              </a:rPr>
              <a:t>Clinical Digital Therapeutics Platform</a:t>
            </a:r>
            <a:r>
              <a:rPr lang="en-US" sz="1800" dirty="0">
                <a:latin typeface="Times New Roman" panose="02020603050405020304" pitchFamily="18" charset="0"/>
                <a:cs typeface="Times New Roman" panose="02020603050405020304" pitchFamily="18" charset="0"/>
              </a:rPr>
              <a:t> designed to improve digital mental healthcare by overcoming</a:t>
            </a:r>
          </a:p>
          <a:p>
            <a:r>
              <a:rPr lang="en-US" sz="1800" dirty="0">
                <a:latin typeface="Times New Roman" panose="02020603050405020304" pitchFamily="18" charset="0"/>
                <a:cs typeface="Times New Roman" panose="02020603050405020304" pitchFamily="18" charset="0"/>
              </a:rPr>
              <a:t> the limitations of existing chatbots, which lack memory, personalization, and clinical safety.</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system uses </a:t>
            </a:r>
            <a:r>
              <a:rPr lang="en-US" sz="1800" b="1" dirty="0">
                <a:latin typeface="Times New Roman" panose="02020603050405020304" pitchFamily="18" charset="0"/>
                <a:cs typeface="Times New Roman" panose="02020603050405020304" pitchFamily="18" charset="0"/>
              </a:rPr>
              <a:t>BERT-based emotion analysis</a:t>
            </a:r>
            <a:r>
              <a:rPr lang="en-US" sz="1800" dirty="0">
                <a:latin typeface="Times New Roman" panose="02020603050405020304" pitchFamily="18" charset="0"/>
                <a:cs typeface="Times New Roman" panose="02020603050405020304" pitchFamily="18" charset="0"/>
              </a:rPr>
              <a:t> to classify user input into </a:t>
            </a:r>
            <a:r>
              <a:rPr lang="en-US" sz="1800" b="1" dirty="0">
                <a:latin typeface="Times New Roman" panose="02020603050405020304" pitchFamily="18" charset="0"/>
                <a:cs typeface="Times New Roman" panose="02020603050405020304" pitchFamily="18" charset="0"/>
              </a:rPr>
              <a:t>96 clinically relevant emotional states</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enabling deeper understanding beyond basic sentiment detection. It also incorporates a </a:t>
            </a:r>
            <a:r>
              <a:rPr lang="en-US" sz="1800" b="1" dirty="0">
                <a:latin typeface="Times New Roman" panose="02020603050405020304" pitchFamily="18" charset="0"/>
                <a:cs typeface="Times New Roman" panose="02020603050405020304" pitchFamily="18" charset="0"/>
              </a:rPr>
              <a:t>vector-based memory system</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to retain past conversations and build a continuous psychological profile of the user.</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 </a:t>
            </a:r>
            <a:r>
              <a:rPr lang="en-US" sz="1800" b="1" dirty="0">
                <a:latin typeface="Times New Roman" panose="02020603050405020304" pitchFamily="18" charset="0"/>
                <a:cs typeface="Times New Roman" panose="02020603050405020304" pitchFamily="18" charset="0"/>
              </a:rPr>
              <a:t>dynamic Mental Health Quotient (MHQ)</a:t>
            </a:r>
            <a:r>
              <a:rPr lang="en-US" sz="1800" dirty="0">
                <a:latin typeface="Times New Roman" panose="02020603050405020304" pitchFamily="18" charset="0"/>
                <a:cs typeface="Times New Roman" panose="02020603050405020304" pitchFamily="18" charset="0"/>
              </a:rPr>
              <a:t> tracks user condition in real time, while a </a:t>
            </a:r>
            <a:r>
              <a:rPr lang="en-US" sz="1800" b="1" dirty="0">
                <a:latin typeface="Times New Roman" panose="02020603050405020304" pitchFamily="18" charset="0"/>
                <a:cs typeface="Times New Roman" panose="02020603050405020304" pitchFamily="18" charset="0"/>
              </a:rPr>
              <a:t>predictive attrition algorithm</a:t>
            </a:r>
          </a:p>
          <a:p>
            <a:r>
              <a:rPr lang="en-US" sz="1800" dirty="0">
                <a:latin typeface="Times New Roman" panose="02020603050405020304" pitchFamily="18" charset="0"/>
                <a:cs typeface="Times New Roman" panose="02020603050405020304" pitchFamily="18" charset="0"/>
              </a:rPr>
              <a:t> identifies early signs of disengagement and emotional decline. The platform integrates an </a:t>
            </a:r>
            <a:r>
              <a:rPr lang="en-US" sz="1800" b="1" dirty="0">
                <a:latin typeface="Times New Roman" panose="02020603050405020304" pitchFamily="18" charset="0"/>
                <a:cs typeface="Times New Roman" panose="02020603050405020304" pitchFamily="18" charset="0"/>
              </a:rPr>
              <a:t>automation layer (n8n)</a:t>
            </a:r>
            <a:r>
              <a:rPr lang="en-US" sz="1800" dirty="0">
                <a:latin typeface="Times New Roman" panose="02020603050405020304" pitchFamily="18" charset="0"/>
                <a:cs typeface="Times New Roman" panose="02020603050405020304" pitchFamily="18" charset="0"/>
              </a:rPr>
              <a:t> to</a:t>
            </a:r>
          </a:p>
          <a:p>
            <a:r>
              <a:rPr lang="en-US" sz="1800" dirty="0">
                <a:latin typeface="Times New Roman" panose="02020603050405020304" pitchFamily="18" charset="0"/>
                <a:cs typeface="Times New Roman" panose="02020603050405020304" pitchFamily="18" charset="0"/>
              </a:rPr>
              <a:t> trigger real-time interventions such as alerts, reminders, and crisis responses.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Keffi AI provides both a </a:t>
            </a:r>
            <a:r>
              <a:rPr lang="en-US" sz="1800" b="1" dirty="0">
                <a:latin typeface="Times New Roman" panose="02020603050405020304" pitchFamily="18" charset="0"/>
                <a:cs typeface="Times New Roman" panose="02020603050405020304" pitchFamily="18" charset="0"/>
              </a:rPr>
              <a:t>patient interface for interaction</a:t>
            </a:r>
            <a:r>
              <a:rPr lang="en-US" sz="1800" dirty="0">
                <a:latin typeface="Times New Roman" panose="02020603050405020304" pitchFamily="18" charset="0"/>
                <a:cs typeface="Times New Roman" panose="02020603050405020304" pitchFamily="18" charset="0"/>
              </a:rPr>
              <a:t> and a </a:t>
            </a:r>
            <a:r>
              <a:rPr lang="en-US" sz="1800" b="1" dirty="0">
                <a:latin typeface="Times New Roman" panose="02020603050405020304" pitchFamily="18" charset="0"/>
                <a:cs typeface="Times New Roman" panose="02020603050405020304" pitchFamily="18" charset="0"/>
              </a:rPr>
              <a:t>clinical dashboard for monitoring</a:t>
            </a:r>
            <a:r>
              <a:rPr lang="en-US" sz="1800" dirty="0">
                <a:latin typeface="Times New Roman" panose="02020603050405020304" pitchFamily="18" charset="0"/>
                <a:cs typeface="Times New Roman" panose="02020603050405020304" pitchFamily="18" charset="0"/>
              </a:rPr>
              <a:t>, bridging the gap </a:t>
            </a:r>
          </a:p>
          <a:p>
            <a:r>
              <a:rPr lang="en-US" sz="1800" dirty="0">
                <a:latin typeface="Times New Roman" panose="02020603050405020304" pitchFamily="18" charset="0"/>
                <a:cs typeface="Times New Roman" panose="02020603050405020304" pitchFamily="18" charset="0"/>
              </a:rPr>
              <a:t>between self-help tools and professional mental healthcare.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44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555AF-C34E-8240-B838-52645FB62E99}"/>
              </a:ext>
            </a:extLst>
          </p:cNvPr>
          <p:cNvSpPr>
            <a:spLocks noGrp="1"/>
          </p:cNvSpPr>
          <p:nvPr>
            <p:ph type="title"/>
          </p:nvPr>
        </p:nvSpPr>
        <p:spPr>
          <a:xfrm>
            <a:off x="132363" y="83687"/>
            <a:ext cx="10515240" cy="961342"/>
          </a:xfrm>
        </p:spPr>
        <p:txBody>
          <a:bodyPr/>
          <a:lstStyle/>
          <a:p>
            <a:r>
              <a:rPr lang="en-IN" sz="4000" b="1" dirty="0">
                <a:latin typeface="Times New Roman" panose="02020603050405020304" pitchFamily="18" charset="0"/>
                <a:cs typeface="Times New Roman" panose="02020603050405020304" pitchFamily="18" charset="0"/>
              </a:rPr>
              <a:t>PROBLEM STATEMENT</a:t>
            </a:r>
          </a:p>
        </p:txBody>
      </p:sp>
      <p:sp>
        <p:nvSpPr>
          <p:cNvPr id="4" name="Rectangle 1">
            <a:extLst>
              <a:ext uri="{FF2B5EF4-FFF2-40B4-BE49-F238E27FC236}">
                <a16:creationId xmlns:a16="http://schemas.microsoft.com/office/drawing/2014/main" id="{4F91CE75-FEE7-BA51-2DC5-F5F1DA2AE53F}"/>
              </a:ext>
            </a:extLst>
          </p:cNvPr>
          <p:cNvSpPr>
            <a:spLocks noGrp="1" noChangeArrowheads="1"/>
          </p:cNvSpPr>
          <p:nvPr>
            <p:ph type="body"/>
          </p:nvPr>
        </p:nvSpPr>
        <p:spPr bwMode="auto">
          <a:xfrm>
            <a:off x="562709" y="1045029"/>
            <a:ext cx="1135391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sz="2000" dirty="0">
                <a:latin typeface="Times New Roman" panose="02020603050405020304" pitchFamily="18" charset="0"/>
                <a:cs typeface="Times New Roman" panose="02020603050405020304" pitchFamily="18" charset="0"/>
              </a:rPr>
              <a:t>How might we utilize AI chatbots and machine learning to address the challenges of incomplete alleviation of depression symptoms, attrition, and loss of follow-up in mental health treatment.</a:t>
            </a:r>
          </a:p>
        </p:txBody>
      </p:sp>
      <p:sp>
        <p:nvSpPr>
          <p:cNvPr id="3" name="TextBox 2">
            <a:extLst>
              <a:ext uri="{FF2B5EF4-FFF2-40B4-BE49-F238E27FC236}">
                <a16:creationId xmlns:a16="http://schemas.microsoft.com/office/drawing/2014/main" id="{08308BA8-44C4-9B3F-1EC7-3415B37C6A45}"/>
              </a:ext>
            </a:extLst>
          </p:cNvPr>
          <p:cNvSpPr txBox="1"/>
          <p:nvPr/>
        </p:nvSpPr>
        <p:spPr>
          <a:xfrm>
            <a:off x="562709" y="1925991"/>
            <a:ext cx="3806235" cy="400110"/>
          </a:xfrm>
          <a:prstGeom prst="rect">
            <a:avLst/>
          </a:prstGeom>
          <a:noFill/>
        </p:spPr>
        <p:txBody>
          <a:bodyPr wrap="none" rtlCol="0">
            <a:spAutoFit/>
          </a:bodyPr>
          <a:lstStyle/>
          <a:p>
            <a:r>
              <a:rPr lang="en-IN" sz="2000" b="1" dirty="0">
                <a:latin typeface="Times New Roman" panose="02020603050405020304" pitchFamily="18" charset="0"/>
                <a:cs typeface="Times New Roman" panose="02020603050405020304" pitchFamily="18" charset="0"/>
              </a:rPr>
              <a:t>Three Interconnected Challenges</a:t>
            </a:r>
          </a:p>
        </p:txBody>
      </p:sp>
      <p:sp>
        <p:nvSpPr>
          <p:cNvPr id="5" name="TextBox 4">
            <a:extLst>
              <a:ext uri="{FF2B5EF4-FFF2-40B4-BE49-F238E27FC236}">
                <a16:creationId xmlns:a16="http://schemas.microsoft.com/office/drawing/2014/main" id="{08A2A976-DD8E-821E-9003-3FA50CE7C231}"/>
              </a:ext>
            </a:extLst>
          </p:cNvPr>
          <p:cNvSpPr txBox="1"/>
          <p:nvPr/>
        </p:nvSpPr>
        <p:spPr>
          <a:xfrm>
            <a:off x="562710" y="2499177"/>
            <a:ext cx="3928903" cy="4308872"/>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1. Incomplete Alleviation of Depression Symptoms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Current treatments — therapy and medication — work for many, but not completely for all. Studies show that nearly </a:t>
            </a:r>
            <a:r>
              <a:rPr lang="en-US" sz="1600" b="1" dirty="0">
                <a:latin typeface="Times New Roman" panose="02020603050405020304" pitchFamily="18" charset="0"/>
                <a:cs typeface="Times New Roman" panose="02020603050405020304" pitchFamily="18" charset="0"/>
              </a:rPr>
              <a:t>50–60% of depression patients don't achieve full remission</a:t>
            </a:r>
            <a:r>
              <a:rPr lang="en-US" sz="1600" dirty="0">
                <a:latin typeface="Times New Roman" panose="02020603050405020304" pitchFamily="18" charset="0"/>
                <a:cs typeface="Times New Roman" panose="02020603050405020304" pitchFamily="18" charset="0"/>
              </a:rPr>
              <a:t> after a first-line treatment. This happens because:</a:t>
            </a:r>
          </a:p>
          <a:p>
            <a:r>
              <a:rPr lang="en-US" sz="1600" dirty="0">
                <a:latin typeface="Times New Roman" panose="02020603050405020304" pitchFamily="18" charset="0"/>
                <a:cs typeface="Times New Roman" panose="02020603050405020304" pitchFamily="18" charset="0"/>
              </a:rPr>
              <a:t>Treatment is often </a:t>
            </a:r>
            <a:r>
              <a:rPr lang="en-US" sz="1600" b="1" dirty="0">
                <a:latin typeface="Times New Roman" panose="02020603050405020304" pitchFamily="18" charset="0"/>
                <a:cs typeface="Times New Roman" panose="02020603050405020304" pitchFamily="18" charset="0"/>
              </a:rPr>
              <a:t>one-size-fits-all</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Symptom tracking between sessions is </a:t>
            </a:r>
            <a:r>
              <a:rPr lang="en-US" sz="1600" b="1" dirty="0">
                <a:latin typeface="Times New Roman" panose="02020603050405020304" pitchFamily="18" charset="0"/>
                <a:cs typeface="Times New Roman" panose="02020603050405020304" pitchFamily="18" charset="0"/>
              </a:rPr>
              <a:t>inconsistent or absent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Patients suffer in silence between weekly or monthly appointments</a:t>
            </a:r>
          </a:p>
          <a:p>
            <a:r>
              <a:rPr lang="en-US" sz="1600" dirty="0">
                <a:latin typeface="Times New Roman" panose="02020603050405020304" pitchFamily="18" charset="0"/>
                <a:cs typeface="Times New Roman" panose="02020603050405020304" pitchFamily="18" charset="0"/>
              </a:rPr>
              <a:t>There's a </a:t>
            </a:r>
            <a:r>
              <a:rPr lang="en-US" sz="1600" b="1" dirty="0">
                <a:latin typeface="Times New Roman" panose="02020603050405020304" pitchFamily="18" charset="0"/>
                <a:cs typeface="Times New Roman" panose="02020603050405020304" pitchFamily="18" charset="0"/>
              </a:rPr>
              <a:t>significant gap</a:t>
            </a:r>
            <a:r>
              <a:rPr lang="en-US" sz="1600" dirty="0">
                <a:latin typeface="Times New Roman" panose="02020603050405020304" pitchFamily="18" charset="0"/>
                <a:cs typeface="Times New Roman" panose="02020603050405020304" pitchFamily="18" charset="0"/>
              </a:rPr>
              <a:t> between clinic visits where symptoms can worsen undetected</a:t>
            </a:r>
          </a:p>
          <a:p>
            <a:endParaRPr lang="en-IN" dirty="0"/>
          </a:p>
        </p:txBody>
      </p:sp>
      <p:sp>
        <p:nvSpPr>
          <p:cNvPr id="6" name="TextBox 5">
            <a:extLst>
              <a:ext uri="{FF2B5EF4-FFF2-40B4-BE49-F238E27FC236}">
                <a16:creationId xmlns:a16="http://schemas.microsoft.com/office/drawing/2014/main" id="{6462244F-6172-F363-A0BA-04A25552E5C7}"/>
              </a:ext>
            </a:extLst>
          </p:cNvPr>
          <p:cNvSpPr txBox="1"/>
          <p:nvPr/>
        </p:nvSpPr>
        <p:spPr>
          <a:xfrm>
            <a:off x="4751633" y="2454853"/>
            <a:ext cx="3520806" cy="4062651"/>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2. Attrition — Dropping Out of Treatment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 large portion of patients </a:t>
            </a:r>
            <a:r>
              <a:rPr lang="en-US" sz="1600" b="1" dirty="0">
                <a:latin typeface="Times New Roman" panose="02020603050405020304" pitchFamily="18" charset="0"/>
                <a:cs typeface="Times New Roman" panose="02020603050405020304" pitchFamily="18" charset="0"/>
              </a:rPr>
              <a:t>abandon treatment prematurely</a:t>
            </a:r>
            <a:r>
              <a:rPr lang="en-US" sz="1600" dirty="0">
                <a:latin typeface="Times New Roman" panose="02020603050405020304" pitchFamily="18" charset="0"/>
                <a:cs typeface="Times New Roman" panose="02020603050405020304" pitchFamily="18" charset="0"/>
              </a:rPr>
              <a:t>, often before meaningful progress is made. Key reasons include:</a:t>
            </a:r>
          </a:p>
          <a:p>
            <a:r>
              <a:rPr lang="en-US" sz="1600" b="1" dirty="0">
                <a:latin typeface="Times New Roman" panose="02020603050405020304" pitchFamily="18" charset="0"/>
                <a:cs typeface="Times New Roman" panose="02020603050405020304" pitchFamily="18" charset="0"/>
              </a:rPr>
              <a:t>Stigma</a:t>
            </a:r>
            <a:r>
              <a:rPr lang="en-US" sz="1600" dirty="0">
                <a:latin typeface="Times New Roman" panose="02020603050405020304" pitchFamily="18" charset="0"/>
                <a:cs typeface="Times New Roman" panose="02020603050405020304" pitchFamily="18" charset="0"/>
              </a:rPr>
              <a:t> around seeking continued mental health support</a:t>
            </a:r>
          </a:p>
          <a:p>
            <a:r>
              <a:rPr lang="en-US" sz="1600" b="1" dirty="0">
                <a:latin typeface="Times New Roman" panose="02020603050405020304" pitchFamily="18" charset="0"/>
                <a:cs typeface="Times New Roman" panose="02020603050405020304" pitchFamily="18" charset="0"/>
              </a:rPr>
              <a:t>Cost and accessibility</a:t>
            </a:r>
            <a:r>
              <a:rPr lang="en-US" sz="1600" dirty="0">
                <a:latin typeface="Times New Roman" panose="02020603050405020304" pitchFamily="18" charset="0"/>
                <a:cs typeface="Times New Roman" panose="02020603050405020304" pitchFamily="18" charset="0"/>
              </a:rPr>
              <a:t> barriers — therapy is expensive and geographically limited</a:t>
            </a:r>
          </a:p>
          <a:p>
            <a:r>
              <a:rPr lang="en-US" sz="1600" b="1" dirty="0">
                <a:latin typeface="Times New Roman" panose="02020603050405020304" pitchFamily="18" charset="0"/>
                <a:cs typeface="Times New Roman" panose="02020603050405020304" pitchFamily="18" charset="0"/>
              </a:rPr>
              <a:t>Lack of motivation</a:t>
            </a:r>
            <a:r>
              <a:rPr lang="en-US" sz="1600" dirty="0">
                <a:latin typeface="Times New Roman" panose="02020603050405020304" pitchFamily="18" charset="0"/>
                <a:cs typeface="Times New Roman" panose="02020603050405020304" pitchFamily="18" charset="0"/>
              </a:rPr>
              <a:t> when progress feels slow or invisible</a:t>
            </a:r>
          </a:p>
          <a:p>
            <a:r>
              <a:rPr lang="en-US" sz="1600" dirty="0">
                <a:latin typeface="Times New Roman" panose="02020603050405020304" pitchFamily="18" charset="0"/>
                <a:cs typeface="Times New Roman" panose="02020603050405020304" pitchFamily="18" charset="0"/>
              </a:rPr>
              <a:t>Feeling </a:t>
            </a:r>
            <a:r>
              <a:rPr lang="en-US" sz="1600" b="1" dirty="0">
                <a:latin typeface="Times New Roman" panose="02020603050405020304" pitchFamily="18" charset="0"/>
                <a:cs typeface="Times New Roman" panose="02020603050405020304" pitchFamily="18" charset="0"/>
              </a:rPr>
              <a:t>disconnected</a:t>
            </a:r>
            <a:r>
              <a:rPr lang="en-US" sz="1600" dirty="0">
                <a:latin typeface="Times New Roman" panose="02020603050405020304" pitchFamily="18" charset="0"/>
                <a:cs typeface="Times New Roman" panose="02020603050405020304" pitchFamily="18" charset="0"/>
              </a:rPr>
              <a:t> from a therapist they see infrequently</a:t>
            </a:r>
          </a:p>
          <a:p>
            <a:endParaRPr lang="en-IN" dirty="0"/>
          </a:p>
        </p:txBody>
      </p:sp>
      <p:sp>
        <p:nvSpPr>
          <p:cNvPr id="8" name="TextBox 7">
            <a:extLst>
              <a:ext uri="{FF2B5EF4-FFF2-40B4-BE49-F238E27FC236}">
                <a16:creationId xmlns:a16="http://schemas.microsoft.com/office/drawing/2014/main" id="{4E756C7C-6DD1-47AA-3CF9-AFE3BCEA145D}"/>
              </a:ext>
            </a:extLst>
          </p:cNvPr>
          <p:cNvSpPr txBox="1"/>
          <p:nvPr/>
        </p:nvSpPr>
        <p:spPr>
          <a:xfrm>
            <a:off x="8532459" y="2454853"/>
            <a:ext cx="3520807" cy="3816429"/>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3. Loss to Follow-Up</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Even patients who complete an initial treatment course often </a:t>
            </a:r>
            <a:r>
              <a:rPr lang="en-US" sz="1600" b="1" dirty="0">
                <a:latin typeface="Times New Roman" panose="02020603050405020304" pitchFamily="18" charset="0"/>
                <a:cs typeface="Times New Roman" panose="02020603050405020304" pitchFamily="18" charset="0"/>
              </a:rPr>
              <a:t>disappear from care entirely</a:t>
            </a:r>
            <a:r>
              <a:rPr lang="en-US" sz="1600" dirty="0">
                <a:latin typeface="Times New Roman" panose="02020603050405020304" pitchFamily="18" charset="0"/>
                <a:cs typeface="Times New Roman" panose="02020603050405020304" pitchFamily="18" charset="0"/>
              </a:rPr>
              <a:t>. This is dangerous because:</a:t>
            </a:r>
          </a:p>
          <a:p>
            <a:r>
              <a:rPr lang="en-US" sz="1600" dirty="0">
                <a:latin typeface="Times New Roman" panose="02020603050405020304" pitchFamily="18" charset="0"/>
                <a:cs typeface="Times New Roman" panose="02020603050405020304" pitchFamily="18" charset="0"/>
              </a:rPr>
              <a:t>Depression is </a:t>
            </a:r>
            <a:r>
              <a:rPr lang="en-US" sz="1600" b="1" dirty="0">
                <a:latin typeface="Times New Roman" panose="02020603050405020304" pitchFamily="18" charset="0"/>
                <a:cs typeface="Times New Roman" panose="02020603050405020304" pitchFamily="18" charset="0"/>
              </a:rPr>
              <a:t>episodic and recurring</a:t>
            </a:r>
            <a:r>
              <a:rPr lang="en-US" sz="1600" dirty="0">
                <a:latin typeface="Times New Roman" panose="02020603050405020304" pitchFamily="18" charset="0"/>
                <a:cs typeface="Times New Roman" panose="02020603050405020304" pitchFamily="18" charset="0"/>
              </a:rPr>
              <a:t> — without follow-up, relapse goes undetected</a:t>
            </a:r>
          </a:p>
          <a:p>
            <a:r>
              <a:rPr lang="en-US" sz="1600" dirty="0">
                <a:latin typeface="Times New Roman" panose="02020603050405020304" pitchFamily="18" charset="0"/>
                <a:cs typeface="Times New Roman" panose="02020603050405020304" pitchFamily="18" charset="0"/>
              </a:rPr>
              <a:t>There's no system proactively </a:t>
            </a:r>
            <a:r>
              <a:rPr lang="en-US" sz="1600" b="1" dirty="0">
                <a:latin typeface="Times New Roman" panose="02020603050405020304" pitchFamily="18" charset="0"/>
                <a:cs typeface="Times New Roman" panose="02020603050405020304" pitchFamily="18" charset="0"/>
              </a:rPr>
              <a:t>reaching out</a:t>
            </a:r>
            <a:r>
              <a:rPr lang="en-US" sz="1600" dirty="0">
                <a:latin typeface="Times New Roman" panose="02020603050405020304" pitchFamily="18" charset="0"/>
                <a:cs typeface="Times New Roman" panose="02020603050405020304" pitchFamily="18" charset="0"/>
              </a:rPr>
              <a:t> to at-risk patients</a:t>
            </a:r>
          </a:p>
          <a:p>
            <a:r>
              <a:rPr lang="en-US" sz="1600" dirty="0">
                <a:latin typeface="Times New Roman" panose="02020603050405020304" pitchFamily="18" charset="0"/>
                <a:cs typeface="Times New Roman" panose="02020603050405020304" pitchFamily="18" charset="0"/>
              </a:rPr>
              <a:t>Clinicians are overwhelmed and cannot manually track hundreds of patients</a:t>
            </a:r>
          </a:p>
          <a:p>
            <a:r>
              <a:rPr lang="en-US" sz="1600" dirty="0">
                <a:latin typeface="Times New Roman" panose="02020603050405020304" pitchFamily="18" charset="0"/>
                <a:cs typeface="Times New Roman" panose="02020603050405020304" pitchFamily="18" charset="0"/>
              </a:rPr>
              <a:t>The handoff between </a:t>
            </a:r>
            <a:r>
              <a:rPr lang="en-US" sz="1600" b="1" dirty="0">
                <a:latin typeface="Times New Roman" panose="02020603050405020304" pitchFamily="18" charset="0"/>
                <a:cs typeface="Times New Roman" panose="02020603050405020304" pitchFamily="18" charset="0"/>
              </a:rPr>
              <a:t>crisis care and long-term care</a:t>
            </a:r>
            <a:r>
              <a:rPr lang="en-US" sz="1600" dirty="0">
                <a:latin typeface="Times New Roman" panose="02020603050405020304" pitchFamily="18" charset="0"/>
                <a:cs typeface="Times New Roman" panose="02020603050405020304" pitchFamily="18" charset="0"/>
              </a:rPr>
              <a:t> is often broken</a:t>
            </a:r>
          </a:p>
          <a:p>
            <a:endParaRPr lang="en-IN" dirty="0"/>
          </a:p>
        </p:txBody>
      </p:sp>
    </p:spTree>
    <p:extLst>
      <p:ext uri="{BB962C8B-B14F-4D97-AF65-F5344CB8AC3E}">
        <p14:creationId xmlns:p14="http://schemas.microsoft.com/office/powerpoint/2010/main" val="1966936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A73A5-6D40-7764-8BEB-61B1A033A420}"/>
              </a:ext>
            </a:extLst>
          </p:cNvPr>
          <p:cNvSpPr>
            <a:spLocks noGrp="1"/>
          </p:cNvSpPr>
          <p:nvPr>
            <p:ph type="title"/>
          </p:nvPr>
        </p:nvSpPr>
        <p:spPr>
          <a:xfrm>
            <a:off x="305517" y="375089"/>
            <a:ext cx="10515240" cy="549360"/>
          </a:xfrm>
        </p:spPr>
        <p:txBody>
          <a:bodyPr/>
          <a:lstStyle/>
          <a:p>
            <a:r>
              <a:rPr lang="en-IN" b="1" dirty="0">
                <a:latin typeface="Times New Roman" panose="02020603050405020304" pitchFamily="18" charset="0"/>
                <a:cs typeface="Times New Roman" panose="02020603050405020304" pitchFamily="18" charset="0"/>
              </a:rPr>
              <a:t>SOLUTION</a:t>
            </a:r>
            <a:endParaRPr lang="en-IN" dirty="0"/>
          </a:p>
        </p:txBody>
      </p:sp>
      <p:sp>
        <p:nvSpPr>
          <p:cNvPr id="8" name="TextBox 7">
            <a:extLst>
              <a:ext uri="{FF2B5EF4-FFF2-40B4-BE49-F238E27FC236}">
                <a16:creationId xmlns:a16="http://schemas.microsoft.com/office/drawing/2014/main" id="{1990B4E0-8F2B-6BF1-AF07-FC7E0D1CF15B}"/>
              </a:ext>
            </a:extLst>
          </p:cNvPr>
          <p:cNvSpPr txBox="1"/>
          <p:nvPr/>
        </p:nvSpPr>
        <p:spPr>
          <a:xfrm>
            <a:off x="1014884" y="1185705"/>
            <a:ext cx="10279463" cy="230832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Keffi AI is designed as a </a:t>
            </a:r>
            <a:r>
              <a:rPr lang="en-US" b="1" dirty="0">
                <a:latin typeface="Times New Roman" panose="02020603050405020304" pitchFamily="18" charset="0"/>
                <a:cs typeface="Times New Roman" panose="02020603050405020304" pitchFamily="18" charset="0"/>
              </a:rPr>
              <a:t>clinical mental health support system</a:t>
            </a:r>
            <a:r>
              <a:rPr lang="en-US" dirty="0">
                <a:latin typeface="Times New Roman" panose="02020603050405020304" pitchFamily="18" charset="0"/>
                <a:cs typeface="Times New Roman" panose="02020603050405020304" pitchFamily="18" charset="0"/>
              </a:rPr>
              <a:t>, not just a chatbot.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uses </a:t>
            </a:r>
            <a:r>
              <a:rPr lang="en-US" b="1" dirty="0">
                <a:latin typeface="Times New Roman" panose="02020603050405020304" pitchFamily="18" charset="0"/>
                <a:cs typeface="Times New Roman" panose="02020603050405020304" pitchFamily="18" charset="0"/>
              </a:rPr>
              <a:t>AI + psychological frameworks</a:t>
            </a:r>
            <a:r>
              <a:rPr lang="en-US" dirty="0">
                <a:latin typeface="Times New Roman" panose="02020603050405020304" pitchFamily="18" charset="0"/>
                <a:cs typeface="Times New Roman" panose="02020603050405020304" pitchFamily="18" charset="0"/>
              </a:rPr>
              <a:t> to understand user emotions and respond using </a:t>
            </a:r>
            <a:r>
              <a:rPr lang="en-US" b="1" dirty="0">
                <a:latin typeface="Times New Roman" panose="02020603050405020304" pitchFamily="18" charset="0"/>
                <a:cs typeface="Times New Roman" panose="02020603050405020304" pitchFamily="18" charset="0"/>
              </a:rPr>
              <a:t>scientifically validated therapeutic strategies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Instead of giving generic replies, Keffi:</a:t>
            </a:r>
          </a:p>
          <a:p>
            <a:r>
              <a:rPr lang="en-US" dirty="0">
                <a:latin typeface="Times New Roman" panose="02020603050405020304" pitchFamily="18" charset="0"/>
                <a:cs typeface="Times New Roman" panose="02020603050405020304" pitchFamily="18" charset="0"/>
              </a:rPr>
              <a:t>      Analyzes user emotion in real-time </a:t>
            </a:r>
          </a:p>
          <a:p>
            <a:r>
              <a:rPr lang="en-US" dirty="0">
                <a:latin typeface="Times New Roman" panose="02020603050405020304" pitchFamily="18" charset="0"/>
                <a:cs typeface="Times New Roman" panose="02020603050405020304" pitchFamily="18" charset="0"/>
              </a:rPr>
              <a:t>      Selects the </a:t>
            </a:r>
            <a:r>
              <a:rPr lang="en-US" b="1" dirty="0">
                <a:latin typeface="Times New Roman" panose="02020603050405020304" pitchFamily="18" charset="0"/>
                <a:cs typeface="Times New Roman" panose="02020603050405020304" pitchFamily="18" charset="0"/>
              </a:rPr>
              <a:t>best therapeutic response type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Provides </a:t>
            </a:r>
            <a:r>
              <a:rPr lang="en-US" b="1" dirty="0">
                <a:latin typeface="Times New Roman" panose="02020603050405020304" pitchFamily="18" charset="0"/>
                <a:cs typeface="Times New Roman" panose="02020603050405020304" pitchFamily="18" charset="0"/>
              </a:rPr>
              <a:t>personalized, safe, and structured support</a:t>
            </a:r>
            <a:endParaRPr lang="en-US" dirty="0">
              <a:latin typeface="Times New Roman" panose="02020603050405020304" pitchFamily="18" charset="0"/>
              <a:cs typeface="Times New Roman" panose="02020603050405020304" pitchFamily="18" charset="0"/>
            </a:endParaRPr>
          </a:p>
          <a:p>
            <a:endParaRPr lang="en-IN" dirty="0"/>
          </a:p>
        </p:txBody>
      </p:sp>
      <p:sp>
        <p:nvSpPr>
          <p:cNvPr id="9" name="TextBox 8">
            <a:extLst>
              <a:ext uri="{FF2B5EF4-FFF2-40B4-BE49-F238E27FC236}">
                <a16:creationId xmlns:a16="http://schemas.microsoft.com/office/drawing/2014/main" id="{A7F07E4A-0732-3DB0-3173-47B7C837612F}"/>
              </a:ext>
            </a:extLst>
          </p:cNvPr>
          <p:cNvSpPr txBox="1"/>
          <p:nvPr/>
        </p:nvSpPr>
        <p:spPr>
          <a:xfrm>
            <a:off x="1014884" y="3429000"/>
            <a:ext cx="6403676"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Keffi’s 7 Therapeutic AI Response Types</a:t>
            </a:r>
            <a:endParaRPr lang="en-IN" sz="28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3616EDB-A2C2-3641-6405-FF08E14151A4}"/>
              </a:ext>
            </a:extLst>
          </p:cNvPr>
          <p:cNvSpPr txBox="1"/>
          <p:nvPr/>
        </p:nvSpPr>
        <p:spPr>
          <a:xfrm>
            <a:off x="1115367" y="4481565"/>
            <a:ext cx="5506497" cy="203132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1.Validation &amp; Empathy</a:t>
            </a:r>
          </a:p>
          <a:p>
            <a:r>
              <a:rPr lang="en-US" dirty="0">
                <a:latin typeface="Times New Roman" panose="02020603050405020304" pitchFamily="18" charset="0"/>
                <a:cs typeface="Times New Roman" panose="02020603050405020304" pitchFamily="18" charset="0"/>
              </a:rPr>
              <a:t>Accepts user feelings without judgment </a:t>
            </a:r>
          </a:p>
          <a:p>
            <a:r>
              <a:rPr lang="en-US" dirty="0">
                <a:latin typeface="Times New Roman" panose="02020603050405020304" pitchFamily="18" charset="0"/>
                <a:cs typeface="Times New Roman" panose="02020603050405020304" pitchFamily="18" charset="0"/>
              </a:rPr>
              <a:t>Builds emotional trust </a:t>
            </a:r>
          </a:p>
          <a:p>
            <a:r>
              <a:rPr lang="en-US" dirty="0">
                <a:latin typeface="Times New Roman" panose="02020603050405020304" pitchFamily="18" charset="0"/>
                <a:cs typeface="Times New Roman" panose="02020603050405020304" pitchFamily="18" charset="0"/>
              </a:rPr>
              <a:t>Based on: </a:t>
            </a:r>
            <a:r>
              <a:rPr lang="en-US" i="1" dirty="0">
                <a:latin typeface="Times New Roman" panose="02020603050405020304" pitchFamily="18" charset="0"/>
                <a:cs typeface="Times New Roman" panose="02020603050405020304" pitchFamily="18" charset="0"/>
              </a:rPr>
              <a:t>Person-Centered Therapy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Proof: </a:t>
            </a:r>
            <a:r>
              <a:rPr lang="en-US" b="1" dirty="0">
                <a:latin typeface="Times New Roman" panose="02020603050405020304" pitchFamily="18" charset="0"/>
                <a:cs typeface="Times New Roman" panose="02020603050405020304" pitchFamily="18" charset="0"/>
              </a:rPr>
              <a:t>30% therapy success depends on feeling understood</a:t>
            </a:r>
            <a:endParaRPr lang="en-US" dirty="0">
              <a:latin typeface="Times New Roman" panose="02020603050405020304" pitchFamily="18" charset="0"/>
              <a:cs typeface="Times New Roman" panose="02020603050405020304" pitchFamily="18" charset="0"/>
            </a:endParaRPr>
          </a:p>
          <a:p>
            <a:endParaRPr lang="en-IN" dirty="0"/>
          </a:p>
        </p:txBody>
      </p:sp>
      <p:sp>
        <p:nvSpPr>
          <p:cNvPr id="11" name="TextBox 10">
            <a:extLst>
              <a:ext uri="{FF2B5EF4-FFF2-40B4-BE49-F238E27FC236}">
                <a16:creationId xmlns:a16="http://schemas.microsoft.com/office/drawing/2014/main" id="{5EC5A622-4320-15B3-4543-44E2A7449B1F}"/>
              </a:ext>
            </a:extLst>
          </p:cNvPr>
          <p:cNvSpPr txBox="1"/>
          <p:nvPr/>
        </p:nvSpPr>
        <p:spPr>
          <a:xfrm>
            <a:off x="6551526" y="4481565"/>
            <a:ext cx="5563574" cy="1754326"/>
          </a:xfrm>
          <a:prstGeom prst="rect">
            <a:avLst/>
          </a:prstGeom>
          <a:noFill/>
        </p:spPr>
        <p:txBody>
          <a:bodyPr wrap="none" rtlCol="0">
            <a:spAutoFit/>
          </a:bodyPr>
          <a:lstStyle/>
          <a:p>
            <a:r>
              <a:rPr lang="en-IN" b="1" dirty="0"/>
              <a:t>2.Metaphor &amp; Storytelling</a:t>
            </a:r>
          </a:p>
          <a:p>
            <a:r>
              <a:rPr lang="en-IN" dirty="0"/>
              <a:t>Uses simple stories or analogies </a:t>
            </a:r>
          </a:p>
          <a:p>
            <a:r>
              <a:rPr lang="en-IN" dirty="0"/>
              <a:t>Helps users process emotions gently </a:t>
            </a:r>
          </a:p>
          <a:p>
            <a:r>
              <a:rPr lang="en-IN" dirty="0"/>
              <a:t>Based on: </a:t>
            </a:r>
            <a:r>
              <a:rPr lang="en-IN" i="1" dirty="0"/>
              <a:t>Acceptance &amp; Commitment Therapy (ACT)</a:t>
            </a:r>
            <a:br>
              <a:rPr lang="en-IN" dirty="0"/>
            </a:br>
            <a:r>
              <a:rPr lang="en-IN" dirty="0"/>
              <a:t>Proof: Helps in </a:t>
            </a:r>
            <a:r>
              <a:rPr lang="en-IN" b="1" dirty="0"/>
              <a:t>cognitive </a:t>
            </a:r>
            <a:r>
              <a:rPr lang="en-IN" b="1" dirty="0" err="1"/>
              <a:t>defusion</a:t>
            </a:r>
            <a:r>
              <a:rPr lang="en-IN" b="1" dirty="0"/>
              <a:t> (reduces overthinking)</a:t>
            </a:r>
            <a:endParaRPr lang="en-IN" dirty="0"/>
          </a:p>
          <a:p>
            <a:endParaRPr lang="en-IN" dirty="0"/>
          </a:p>
        </p:txBody>
      </p:sp>
    </p:spTree>
    <p:extLst>
      <p:ext uri="{BB962C8B-B14F-4D97-AF65-F5344CB8AC3E}">
        <p14:creationId xmlns:p14="http://schemas.microsoft.com/office/powerpoint/2010/main" val="835043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7E40C6-E8EA-D7FB-6DA2-877DE77DDD8B}"/>
              </a:ext>
            </a:extLst>
          </p:cNvPr>
          <p:cNvSpPr txBox="1"/>
          <p:nvPr/>
        </p:nvSpPr>
        <p:spPr>
          <a:xfrm>
            <a:off x="602901" y="673240"/>
            <a:ext cx="3707425" cy="1754326"/>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3.Grounding &amp; Somatic Techniques</a:t>
            </a:r>
          </a:p>
          <a:p>
            <a:r>
              <a:rPr lang="en-US" dirty="0">
                <a:latin typeface="Times New Roman" panose="02020603050405020304" pitchFamily="18" charset="0"/>
                <a:cs typeface="Times New Roman" panose="02020603050405020304" pitchFamily="18" charset="0"/>
              </a:rPr>
              <a:t>Breathing exercises (4-7-8) </a:t>
            </a:r>
          </a:p>
          <a:p>
            <a:r>
              <a:rPr lang="en-US" dirty="0">
                <a:latin typeface="Times New Roman" panose="02020603050405020304" pitchFamily="18" charset="0"/>
                <a:cs typeface="Times New Roman" panose="02020603050405020304" pitchFamily="18" charset="0"/>
              </a:rPr>
              <a:t>Brings user to present moment </a:t>
            </a:r>
          </a:p>
          <a:p>
            <a:r>
              <a:rPr lang="en-US" dirty="0">
                <a:latin typeface="Times New Roman" panose="02020603050405020304" pitchFamily="18" charset="0"/>
                <a:cs typeface="Times New Roman" panose="02020603050405020304" pitchFamily="18" charset="0"/>
              </a:rPr>
              <a:t>Based on: </a:t>
            </a:r>
            <a:r>
              <a:rPr lang="en-US" i="1" dirty="0">
                <a:latin typeface="Times New Roman" panose="02020603050405020304" pitchFamily="18" charset="0"/>
                <a:cs typeface="Times New Roman" panose="02020603050405020304" pitchFamily="18" charset="0"/>
              </a:rPr>
              <a:t>Polyvagal Theory &amp; MBSR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Proof: </a:t>
            </a:r>
            <a:r>
              <a:rPr lang="en-US" b="1" dirty="0">
                <a:latin typeface="Times New Roman" panose="02020603050405020304" pitchFamily="18" charset="0"/>
                <a:cs typeface="Times New Roman" panose="02020603050405020304" pitchFamily="18" charset="0"/>
              </a:rPr>
              <a:t>Reduces panic by 45–50%</a:t>
            </a:r>
            <a:endParaRPr lang="en-US" dirty="0">
              <a:latin typeface="Times New Roman" panose="02020603050405020304" pitchFamily="18"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F591E18F-D4C2-C92E-C4FB-87C5755921CE}"/>
              </a:ext>
            </a:extLst>
          </p:cNvPr>
          <p:cNvSpPr txBox="1"/>
          <p:nvPr/>
        </p:nvSpPr>
        <p:spPr>
          <a:xfrm>
            <a:off x="5686344" y="743579"/>
            <a:ext cx="6802183" cy="1754326"/>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4.Cognitive Reframing (CBT)</a:t>
            </a:r>
          </a:p>
          <a:p>
            <a:r>
              <a:rPr lang="en-IN" dirty="0">
                <a:latin typeface="Times New Roman" panose="02020603050405020304" pitchFamily="18" charset="0"/>
                <a:cs typeface="Times New Roman" panose="02020603050405020304" pitchFamily="18" charset="0"/>
              </a:rPr>
              <a:t>Changes negative thinking patterns </a:t>
            </a:r>
          </a:p>
          <a:p>
            <a:r>
              <a:rPr lang="en-IN" dirty="0">
                <a:latin typeface="Times New Roman" panose="02020603050405020304" pitchFamily="18" charset="0"/>
                <a:cs typeface="Times New Roman" panose="02020603050405020304" pitchFamily="18" charset="0"/>
              </a:rPr>
              <a:t>Builds positive mindset </a:t>
            </a:r>
          </a:p>
          <a:p>
            <a:r>
              <a:rPr lang="en-IN" dirty="0">
                <a:latin typeface="Times New Roman" panose="02020603050405020304" pitchFamily="18" charset="0"/>
                <a:cs typeface="Times New Roman" panose="02020603050405020304" pitchFamily="18" charset="0"/>
              </a:rPr>
              <a:t>Based on: </a:t>
            </a:r>
            <a:r>
              <a:rPr lang="en-IN" i="1" dirty="0">
                <a:latin typeface="Times New Roman" panose="02020603050405020304" pitchFamily="18" charset="0"/>
                <a:cs typeface="Times New Roman" panose="02020603050405020304" pitchFamily="18" charset="0"/>
              </a:rPr>
              <a:t>Cognitive </a:t>
            </a:r>
            <a:r>
              <a:rPr lang="en-IN" i="1" dirty="0" err="1">
                <a:latin typeface="Times New Roman" panose="02020603050405020304" pitchFamily="18" charset="0"/>
                <a:cs typeface="Times New Roman" panose="02020603050405020304" pitchFamily="18" charset="0"/>
              </a:rPr>
              <a:t>Behavioral</a:t>
            </a:r>
            <a:r>
              <a:rPr lang="en-IN" i="1" dirty="0">
                <a:latin typeface="Times New Roman" panose="02020603050405020304" pitchFamily="18" charset="0"/>
                <a:cs typeface="Times New Roman" panose="02020603050405020304" pitchFamily="18" charset="0"/>
              </a:rPr>
              <a:t> Therapy (CBT)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Proof: </a:t>
            </a:r>
            <a:r>
              <a:rPr lang="en-IN" b="1" dirty="0">
                <a:latin typeface="Times New Roman" panose="02020603050405020304" pitchFamily="18" charset="0"/>
                <a:cs typeface="Times New Roman" panose="02020603050405020304" pitchFamily="18" charset="0"/>
              </a:rPr>
              <a:t>50–75% reduction in depression &amp; anxiety (WHO approved)</a:t>
            </a:r>
            <a:endParaRPr lang="en-IN" dirty="0">
              <a:latin typeface="Times New Roman" panose="02020603050405020304" pitchFamily="18" charset="0"/>
              <a:cs typeface="Times New Roman" panose="02020603050405020304" pitchFamily="18" charset="0"/>
            </a:endParaRPr>
          </a:p>
          <a:p>
            <a:endParaRPr lang="en-IN" dirty="0"/>
          </a:p>
        </p:txBody>
      </p:sp>
      <p:sp>
        <p:nvSpPr>
          <p:cNvPr id="7" name="TextBox 6">
            <a:extLst>
              <a:ext uri="{FF2B5EF4-FFF2-40B4-BE49-F238E27FC236}">
                <a16:creationId xmlns:a16="http://schemas.microsoft.com/office/drawing/2014/main" id="{C673398D-D46A-CE96-2521-4F6ED8DF55EC}"/>
              </a:ext>
            </a:extLst>
          </p:cNvPr>
          <p:cNvSpPr txBox="1"/>
          <p:nvPr/>
        </p:nvSpPr>
        <p:spPr>
          <a:xfrm>
            <a:off x="602901" y="3054699"/>
            <a:ext cx="5094343" cy="1754326"/>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5.Reflective Questioning</a:t>
            </a:r>
          </a:p>
          <a:p>
            <a:r>
              <a:rPr lang="en-US" dirty="0">
                <a:latin typeface="Times New Roman" panose="02020603050405020304" pitchFamily="18" charset="0"/>
                <a:cs typeface="Times New Roman" panose="02020603050405020304" pitchFamily="18" charset="0"/>
              </a:rPr>
              <a:t>Asks open-ended questions </a:t>
            </a:r>
          </a:p>
          <a:p>
            <a:r>
              <a:rPr lang="en-US" dirty="0">
                <a:latin typeface="Times New Roman" panose="02020603050405020304" pitchFamily="18" charset="0"/>
                <a:cs typeface="Times New Roman" panose="02020603050405020304" pitchFamily="18" charset="0"/>
              </a:rPr>
              <a:t>Helps users understand themselves </a:t>
            </a:r>
          </a:p>
          <a:p>
            <a:r>
              <a:rPr lang="en-US" dirty="0">
                <a:latin typeface="Times New Roman" panose="02020603050405020304" pitchFamily="18" charset="0"/>
                <a:cs typeface="Times New Roman" panose="02020603050405020304" pitchFamily="18" charset="0"/>
              </a:rPr>
              <a:t>Based on: </a:t>
            </a:r>
            <a:r>
              <a:rPr lang="en-US" i="1" dirty="0">
                <a:latin typeface="Times New Roman" panose="02020603050405020304" pitchFamily="18" charset="0"/>
                <a:cs typeface="Times New Roman" panose="02020603050405020304" pitchFamily="18" charset="0"/>
              </a:rPr>
              <a:t>Motivational Interviewing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Proof: Improves </a:t>
            </a:r>
            <a:r>
              <a:rPr lang="en-US" b="1" dirty="0">
                <a:latin typeface="Times New Roman" panose="02020603050405020304" pitchFamily="18" charset="0"/>
                <a:cs typeface="Times New Roman" panose="02020603050405020304" pitchFamily="18" charset="0"/>
              </a:rPr>
              <a:t>self-awareness &amp; behavior change</a:t>
            </a:r>
            <a:endParaRPr lang="en-US" dirty="0">
              <a:latin typeface="Times New Roman" panose="02020603050405020304" pitchFamily="18" charset="0"/>
              <a:cs typeface="Times New Roman" panose="02020603050405020304" pitchFamily="18" charset="0"/>
            </a:endParaRPr>
          </a:p>
          <a:p>
            <a:endParaRPr lang="en-IN" dirty="0"/>
          </a:p>
        </p:txBody>
      </p:sp>
      <p:sp>
        <p:nvSpPr>
          <p:cNvPr id="8" name="TextBox 7">
            <a:extLst>
              <a:ext uri="{FF2B5EF4-FFF2-40B4-BE49-F238E27FC236}">
                <a16:creationId xmlns:a16="http://schemas.microsoft.com/office/drawing/2014/main" id="{DE69DF26-3641-E6BD-2863-D81D53C38A7B}"/>
              </a:ext>
            </a:extLst>
          </p:cNvPr>
          <p:cNvSpPr txBox="1"/>
          <p:nvPr/>
        </p:nvSpPr>
        <p:spPr>
          <a:xfrm>
            <a:off x="5692079" y="3054699"/>
            <a:ext cx="4767331" cy="1754326"/>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6.Guided Options (Quick Replies)</a:t>
            </a:r>
          </a:p>
          <a:p>
            <a:r>
              <a:rPr lang="en-IN" dirty="0">
                <a:latin typeface="Times New Roman" panose="02020603050405020304" pitchFamily="18" charset="0"/>
                <a:cs typeface="Times New Roman" panose="02020603050405020304" pitchFamily="18" charset="0"/>
              </a:rPr>
              <a:t>Provides A/B/C choices </a:t>
            </a:r>
          </a:p>
          <a:p>
            <a:r>
              <a:rPr lang="en-IN" dirty="0">
                <a:latin typeface="Times New Roman" panose="02020603050405020304" pitchFamily="18" charset="0"/>
                <a:cs typeface="Times New Roman" panose="02020603050405020304" pitchFamily="18" charset="0"/>
              </a:rPr>
              <a:t>Reduces mental effort </a:t>
            </a:r>
          </a:p>
          <a:p>
            <a:r>
              <a:rPr lang="en-IN" dirty="0">
                <a:latin typeface="Times New Roman" panose="02020603050405020304" pitchFamily="18" charset="0"/>
                <a:cs typeface="Times New Roman" panose="02020603050405020304" pitchFamily="18" charset="0"/>
              </a:rPr>
              <a:t>Based on: </a:t>
            </a:r>
            <a:r>
              <a:rPr lang="en-IN" i="1" dirty="0">
                <a:latin typeface="Times New Roman" panose="02020603050405020304" pitchFamily="18" charset="0"/>
                <a:cs typeface="Times New Roman" panose="02020603050405020304" pitchFamily="18" charset="0"/>
              </a:rPr>
              <a:t>Cognitive Load Theory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Proof: Reduces </a:t>
            </a:r>
            <a:r>
              <a:rPr lang="en-IN" b="1" dirty="0">
                <a:latin typeface="Times New Roman" panose="02020603050405020304" pitchFamily="18" charset="0"/>
                <a:cs typeface="Times New Roman" panose="02020603050405020304" pitchFamily="18" charset="0"/>
              </a:rPr>
              <a:t>decision fatigue &amp; user dropout</a:t>
            </a:r>
            <a:endParaRPr lang="en-IN" dirty="0">
              <a:latin typeface="Times New Roman" panose="02020603050405020304" pitchFamily="18" charset="0"/>
              <a:cs typeface="Times New Roman" panose="02020603050405020304" pitchFamily="18" charset="0"/>
            </a:endParaRPr>
          </a:p>
          <a:p>
            <a:endParaRPr lang="en-IN" dirty="0"/>
          </a:p>
        </p:txBody>
      </p:sp>
      <p:sp>
        <p:nvSpPr>
          <p:cNvPr id="9" name="TextBox 8">
            <a:extLst>
              <a:ext uri="{FF2B5EF4-FFF2-40B4-BE49-F238E27FC236}">
                <a16:creationId xmlns:a16="http://schemas.microsoft.com/office/drawing/2014/main" id="{1EEA1510-5C4F-7E81-36E5-A2887034E57F}"/>
              </a:ext>
            </a:extLst>
          </p:cNvPr>
          <p:cNvSpPr txBox="1"/>
          <p:nvPr/>
        </p:nvSpPr>
        <p:spPr>
          <a:xfrm>
            <a:off x="602901" y="5103674"/>
            <a:ext cx="5083443" cy="1754326"/>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7.Crisis Intervention (SOS)</a:t>
            </a:r>
          </a:p>
          <a:p>
            <a:r>
              <a:rPr lang="en-US" dirty="0">
                <a:latin typeface="Times New Roman" panose="02020603050405020304" pitchFamily="18" charset="0"/>
                <a:cs typeface="Times New Roman" panose="02020603050405020304" pitchFamily="18" charset="0"/>
              </a:rPr>
              <a:t>Detects suicidal or high-risk signals </a:t>
            </a:r>
          </a:p>
          <a:p>
            <a:r>
              <a:rPr lang="en-US" dirty="0">
                <a:latin typeface="Times New Roman" panose="02020603050405020304" pitchFamily="18" charset="0"/>
                <a:cs typeface="Times New Roman" panose="02020603050405020304" pitchFamily="18" charset="0"/>
              </a:rPr>
              <a:t>Triggers emergency support </a:t>
            </a:r>
          </a:p>
          <a:p>
            <a:r>
              <a:rPr lang="en-US" dirty="0">
                <a:latin typeface="Times New Roman" panose="02020603050405020304" pitchFamily="18" charset="0"/>
                <a:cs typeface="Times New Roman" panose="02020603050405020304" pitchFamily="18" charset="0"/>
              </a:rPr>
              <a:t>Based on: </a:t>
            </a:r>
            <a:r>
              <a:rPr lang="en-US" i="1" dirty="0">
                <a:latin typeface="Times New Roman" panose="02020603050405020304" pitchFamily="18" charset="0"/>
                <a:cs typeface="Times New Roman" panose="02020603050405020304" pitchFamily="18" charset="0"/>
              </a:rPr>
              <a:t>WHO Suicide Prevention Protocols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Proof: Ensures </a:t>
            </a:r>
            <a:r>
              <a:rPr lang="en-US" b="1" dirty="0">
                <a:latin typeface="Times New Roman" panose="02020603050405020304" pitchFamily="18" charset="0"/>
                <a:cs typeface="Times New Roman" panose="02020603050405020304" pitchFamily="18" charset="0"/>
              </a:rPr>
              <a:t>clinical safety &amp; ethical compliance</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06469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79B7D45-1AD9-0657-BCA6-A3A8822F40A3}"/>
              </a:ext>
            </a:extLst>
          </p:cNvPr>
          <p:cNvSpPr>
            <a:spLocks noGrp="1"/>
          </p:cNvSpPr>
          <p:nvPr>
            <p:ph type="body"/>
          </p:nvPr>
        </p:nvSpPr>
        <p:spPr>
          <a:xfrm>
            <a:off x="767742" y="622998"/>
            <a:ext cx="10515240" cy="5908431"/>
          </a:xfrm>
        </p:spPr>
        <p:txBody>
          <a:bodyPr/>
          <a:lstStyle/>
          <a:p>
            <a:pPr marL="0" indent="0">
              <a:buNone/>
            </a:pPr>
            <a:r>
              <a:rPr lang="en-IN" b="1" dirty="0">
                <a:latin typeface="Times New Roman" panose="02020603050405020304" pitchFamily="18" charset="0"/>
                <a:cs typeface="Times New Roman" panose="02020603050405020304" pitchFamily="18" charset="0"/>
              </a:rPr>
              <a:t>EXISTING SYSTEM</a:t>
            </a:r>
          </a:p>
          <a:p>
            <a:pPr marL="0" indent="0">
              <a:buNone/>
            </a:pPr>
            <a:endParaRPr lang="en-US" sz="1800" b="1" dirty="0"/>
          </a:p>
          <a:p>
            <a:pPr marL="0" indent="0">
              <a:buNone/>
            </a:pPr>
            <a:r>
              <a:rPr lang="en-US" sz="1800" b="1" dirty="0"/>
              <a:t>1.</a:t>
            </a:r>
            <a:r>
              <a:rPr lang="en-US" sz="1800" b="1" dirty="0">
                <a:latin typeface="Times New Roman" panose="02020603050405020304" pitchFamily="18" charset="0"/>
                <a:cs typeface="Times New Roman" panose="02020603050405020304" pitchFamily="18" charset="0"/>
              </a:rPr>
              <a:t>Rule-Based Chatbots(Examples: </a:t>
            </a:r>
            <a:r>
              <a:rPr lang="en-US" sz="1800" b="1" dirty="0" err="1">
                <a:latin typeface="Times New Roman" panose="02020603050405020304" pitchFamily="18" charset="0"/>
                <a:cs typeface="Times New Roman" panose="02020603050405020304" pitchFamily="18" charset="0"/>
              </a:rPr>
              <a:t>Woebot</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Wysa</a:t>
            </a:r>
            <a:r>
              <a:rPr lang="en-US" sz="1800" b="1"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Rule-based chatbots like </a:t>
            </a:r>
            <a:r>
              <a:rPr lang="en-US" sz="1800" dirty="0" err="1">
                <a:latin typeface="Times New Roman" panose="02020603050405020304" pitchFamily="18" charset="0"/>
                <a:cs typeface="Times New Roman" panose="02020603050405020304" pitchFamily="18" charset="0"/>
              </a:rPr>
              <a:t>Woebot</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Wysa</a:t>
            </a:r>
            <a:r>
              <a:rPr lang="en-US" sz="1800" dirty="0">
                <a:latin typeface="Times New Roman" panose="02020603050405020304" pitchFamily="18" charset="0"/>
                <a:cs typeface="Times New Roman" panose="02020603050405020304" pitchFamily="18" charset="0"/>
              </a:rPr>
              <a:t> operate on simple keyword matching. When a user types a message, the bot identifies a keyword and returns a pre-written response — the same answer every time, regardless of context or emotional depth. There is no real AI understanding behind the conversation. After just 2 to 3 sessions, patients begin to feel the robotic nature of the interaction. These systems have zero clinical diagnosis ability, carry no memory between sessions, and involve no doctor at any point in the process.</a:t>
            </a:r>
          </a:p>
          <a:p>
            <a:pPr marL="0" indent="0">
              <a:buNone/>
            </a:pPr>
            <a:r>
              <a:rPr lang="en-US" sz="1800" b="1" dirty="0">
                <a:latin typeface="Times New Roman" panose="02020603050405020304" pitchFamily="18" charset="0"/>
                <a:cs typeface="Times New Roman" panose="02020603050405020304" pitchFamily="18" charset="0"/>
              </a:rPr>
              <a:t>2.LLM Wrappers(Examples: ChatGPT-based Mental Health Bots)</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LLM-based mental health bots are essentially ChatGPT with a mental health prompt layered on top. The user's message — including all personal details — is sent directly to OpenAI's servers with no anonymization or privacy filtering. These systems have no emotion classification, no PHQ or MHQ scoring, and no follow-up mechanism. Because they are generative models, they carry a high hallucination risk — meaning they can confidently produce incorrect or even harmful clinical advice. They are not HIPAA compliant and have no awareness of the patient's history or mental health trajectory.</a:t>
            </a:r>
          </a:p>
          <a:p>
            <a:pPr marL="0" indent="0">
              <a:buNone/>
            </a:pPr>
            <a:r>
              <a:rPr lang="en-US" sz="1800" b="1" dirty="0">
                <a:latin typeface="Times New Roman" panose="02020603050405020304" pitchFamily="18" charset="0"/>
                <a:cs typeface="Times New Roman" panose="02020603050405020304" pitchFamily="18" charset="0"/>
              </a:rPr>
              <a:t>3.Traditional Therapy Apps(Examples: </a:t>
            </a:r>
            <a:r>
              <a:rPr lang="en-US" sz="1800" b="1" dirty="0" err="1">
                <a:latin typeface="Times New Roman" panose="02020603050405020304" pitchFamily="18" charset="0"/>
                <a:cs typeface="Times New Roman" panose="02020603050405020304" pitchFamily="18" charset="0"/>
              </a:rPr>
              <a:t>BetterHelp</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Talkspace</a:t>
            </a:r>
            <a:r>
              <a:rPr lang="en-US" sz="1800" b="1"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Traditional therapy platforms like </a:t>
            </a:r>
            <a:r>
              <a:rPr lang="en-US" sz="1800" dirty="0" err="1">
                <a:latin typeface="Times New Roman" panose="02020603050405020304" pitchFamily="18" charset="0"/>
                <a:cs typeface="Times New Roman" panose="02020603050405020304" pitchFamily="18" charset="0"/>
              </a:rPr>
              <a:t>BetterHelp</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Talkspace</a:t>
            </a:r>
            <a:r>
              <a:rPr lang="en-US" sz="1800" dirty="0">
                <a:latin typeface="Times New Roman" panose="02020603050405020304" pitchFamily="18" charset="0"/>
                <a:cs typeface="Times New Roman" panose="02020603050405020304" pitchFamily="18" charset="0"/>
              </a:rPr>
              <a:t> connect patients with licensed human therapists. While this provides genuine clinical value, it comes with serious limitations in scalability and accessibility. Sessions cost between $60 to $100 per hour, require patients to wait days or even weeks for an appointment, and offer no real-time monitoring between sessions. There is no crisis detection between appointments, no automated intervention if a patient stops engaging, and no 24/7 availability. For patients in rural India — where language barriers and cultural stigma already limit access — these platforms are practically out of reach.</a:t>
            </a:r>
          </a:p>
          <a:p>
            <a:pPr marL="0" indent="0">
              <a:buNone/>
            </a:pPr>
            <a:endParaRPr lang="en-US" sz="1800" dirty="0"/>
          </a:p>
          <a:p>
            <a:pPr marL="0" indent="0">
              <a:buNone/>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1316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C13F5-06D4-B1CA-C0C4-18425FB6D1A9}"/>
              </a:ext>
            </a:extLst>
          </p:cNvPr>
          <p:cNvSpPr>
            <a:spLocks noGrp="1"/>
          </p:cNvSpPr>
          <p:nvPr>
            <p:ph type="title"/>
          </p:nvPr>
        </p:nvSpPr>
        <p:spPr>
          <a:xfrm>
            <a:off x="305518" y="244459"/>
            <a:ext cx="10515240" cy="1325160"/>
          </a:xfrm>
        </p:spPr>
        <p:txBody>
          <a:bodyPr/>
          <a:lstStyle/>
          <a:p>
            <a:r>
              <a:rPr lang="en-IN" sz="4000" b="1" dirty="0">
                <a:latin typeface="Times New Roman" panose="02020603050405020304" pitchFamily="18" charset="0"/>
                <a:cs typeface="Times New Roman" panose="02020603050405020304" pitchFamily="18" charset="0"/>
              </a:rPr>
              <a:t>RESEARCH AND SCIENTIFIC VALIDATION</a:t>
            </a:r>
          </a:p>
        </p:txBody>
      </p:sp>
      <p:sp>
        <p:nvSpPr>
          <p:cNvPr id="4" name="TextBox 3">
            <a:extLst>
              <a:ext uri="{FF2B5EF4-FFF2-40B4-BE49-F238E27FC236}">
                <a16:creationId xmlns:a16="http://schemas.microsoft.com/office/drawing/2014/main" id="{5223F40A-EAB3-74C0-FEC3-ADB6C3818E40}"/>
              </a:ext>
            </a:extLst>
          </p:cNvPr>
          <p:cNvSpPr txBox="1"/>
          <p:nvPr/>
        </p:nvSpPr>
        <p:spPr>
          <a:xfrm>
            <a:off x="492369" y="2120202"/>
            <a:ext cx="3737987" cy="424731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CBT Effectiveness (Cognitive Reframing)</a:t>
            </a:r>
          </a:p>
          <a:p>
            <a:r>
              <a:rPr lang="en-US" b="1" dirty="0">
                <a:latin typeface="Times New Roman" panose="02020603050405020304" pitchFamily="18" charset="0"/>
                <a:cs typeface="Times New Roman" panose="02020603050405020304" pitchFamily="18" charset="0"/>
              </a:rPr>
              <a:t>Paper: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Hofmann, S. G., Asnaani, A., Vonk, I. J. J., Sawyer, A. T., &amp; Fang, A. (2012). </a:t>
            </a:r>
            <a:r>
              <a:rPr lang="en-US" i="1" dirty="0">
                <a:latin typeface="Times New Roman" panose="02020603050405020304" pitchFamily="18" charset="0"/>
                <a:cs typeface="Times New Roman" panose="02020603050405020304" pitchFamily="18" charset="0"/>
              </a:rPr>
              <a:t>The Efficacy of Cognitive Behavioral Therapy: A Review of Meta-analyses.</a:t>
            </a:r>
            <a:r>
              <a:rPr lang="en-US" dirty="0">
                <a:latin typeface="Times New Roman" panose="02020603050405020304" pitchFamily="18" charset="0"/>
                <a:cs typeface="Times New Roman" panose="02020603050405020304" pitchFamily="18" charset="0"/>
              </a:rPr>
              <a:t> Cognitive Therapy and Research, 36(5), 427–440.</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CBT is WHO &amp; APA's gold standard — proven 50–75% success rate in reducing depression and anxiety symptoms across multiple meta-analyses.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B4EC218-836B-6FCA-A98A-CB04C4B9D658}"/>
              </a:ext>
            </a:extLst>
          </p:cNvPr>
          <p:cNvSpPr txBox="1"/>
          <p:nvPr/>
        </p:nvSpPr>
        <p:spPr>
          <a:xfrm>
            <a:off x="4774641" y="2120202"/>
            <a:ext cx="3274089" cy="452431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Empathy &amp; Therapeutic Alliance (Person-Centered)</a:t>
            </a:r>
          </a:p>
          <a:p>
            <a:r>
              <a:rPr lang="en-US" b="1" dirty="0">
                <a:latin typeface="Times New Roman" panose="02020603050405020304" pitchFamily="18" charset="0"/>
                <a:cs typeface="Times New Roman" panose="02020603050405020304" pitchFamily="18" charset="0"/>
              </a:rPr>
              <a:t>Paper: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Norcross, J. C., &amp; </a:t>
            </a:r>
            <a:r>
              <a:rPr lang="en-US" dirty="0" err="1">
                <a:latin typeface="Times New Roman" panose="02020603050405020304" pitchFamily="18" charset="0"/>
                <a:cs typeface="Times New Roman" panose="02020603050405020304" pitchFamily="18" charset="0"/>
              </a:rPr>
              <a:t>Wampold</a:t>
            </a:r>
            <a:r>
              <a:rPr lang="en-US" dirty="0">
                <a:latin typeface="Times New Roman" panose="02020603050405020304" pitchFamily="18" charset="0"/>
                <a:cs typeface="Times New Roman" panose="02020603050405020304" pitchFamily="18" charset="0"/>
              </a:rPr>
              <a:t>, B. E. (2011). </a:t>
            </a:r>
            <a:r>
              <a:rPr lang="en-US" i="1" dirty="0">
                <a:latin typeface="Times New Roman" panose="02020603050405020304" pitchFamily="18" charset="0"/>
                <a:cs typeface="Times New Roman" panose="02020603050405020304" pitchFamily="18" charset="0"/>
              </a:rPr>
              <a:t>Evidence-based therapy relationships: Research conclusions and clinical practices.</a:t>
            </a:r>
            <a:r>
              <a:rPr lang="en-US" dirty="0">
                <a:latin typeface="Times New Roman" panose="02020603050405020304" pitchFamily="18" charset="0"/>
                <a:cs typeface="Times New Roman" panose="02020603050405020304" pitchFamily="18" charset="0"/>
              </a:rPr>
              <a:t> Psychotherapy, 48(1), 98–102.</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Therapeutic alliance alone — the feeling of being heard — accounts for 30% of treatment success, independent of medication or technique.</a:t>
            </a:r>
          </a:p>
          <a:p>
            <a:endParaRPr lang="en-IN" dirty="0"/>
          </a:p>
        </p:txBody>
      </p:sp>
      <p:sp>
        <p:nvSpPr>
          <p:cNvPr id="6" name="TextBox 5">
            <a:extLst>
              <a:ext uri="{FF2B5EF4-FFF2-40B4-BE49-F238E27FC236}">
                <a16:creationId xmlns:a16="http://schemas.microsoft.com/office/drawing/2014/main" id="{5FC4262D-B1F4-A586-D261-E074D4EA2F92}"/>
              </a:ext>
            </a:extLst>
          </p:cNvPr>
          <p:cNvSpPr txBox="1"/>
          <p:nvPr/>
        </p:nvSpPr>
        <p:spPr>
          <a:xfrm>
            <a:off x="8704837" y="2120202"/>
            <a:ext cx="3487163" cy="452431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ACT &amp; Mindfulness (Grounding &amp; Metaphors)</a:t>
            </a:r>
          </a:p>
          <a:p>
            <a:r>
              <a:rPr lang="en-US" b="1" dirty="0">
                <a:latin typeface="Times New Roman" panose="02020603050405020304" pitchFamily="18" charset="0"/>
                <a:cs typeface="Times New Roman" panose="02020603050405020304" pitchFamily="18" charset="0"/>
              </a:rPr>
              <a:t>Paper: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Hayes, S. C., Luoma, J. B., Bond, F. W., Masuda, A., &amp; Lillis, J. (2006). </a:t>
            </a:r>
            <a:r>
              <a:rPr lang="en-US" i="1" dirty="0">
                <a:latin typeface="Times New Roman" panose="02020603050405020304" pitchFamily="18" charset="0"/>
                <a:cs typeface="Times New Roman" panose="02020603050405020304" pitchFamily="18" charset="0"/>
              </a:rPr>
              <a:t>Acceptance and Commitment Therapy: Model, processes and outcomes.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Research and Therapy, 44(1), 1–25.</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NHS-recommended ACT &amp; mindfulness techniques reduce panic attacks and extreme anxiety by 45–50% through grounding and breathing exercises.</a:t>
            </a:r>
          </a:p>
          <a:p>
            <a:endParaRPr lang="en-IN" dirty="0"/>
          </a:p>
        </p:txBody>
      </p:sp>
    </p:spTree>
    <p:extLst>
      <p:ext uri="{BB962C8B-B14F-4D97-AF65-F5344CB8AC3E}">
        <p14:creationId xmlns:p14="http://schemas.microsoft.com/office/powerpoint/2010/main" val="3028284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C53A5B-6459-BEC3-8A60-362B35FA7773}"/>
              </a:ext>
            </a:extLst>
          </p:cNvPr>
          <p:cNvSpPr txBox="1"/>
          <p:nvPr/>
        </p:nvSpPr>
        <p:spPr>
          <a:xfrm>
            <a:off x="1045029" y="663190"/>
            <a:ext cx="3888712" cy="5078313"/>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AI Chatbot Proof — The </a:t>
            </a:r>
            <a:r>
              <a:rPr lang="en-IN" b="1" dirty="0" err="1">
                <a:latin typeface="Times New Roman" panose="02020603050405020304" pitchFamily="18" charset="0"/>
                <a:cs typeface="Times New Roman" panose="02020603050405020304" pitchFamily="18" charset="0"/>
              </a:rPr>
              <a:t>Woebot</a:t>
            </a:r>
            <a:r>
              <a:rPr lang="en-IN" b="1" dirty="0">
                <a:latin typeface="Times New Roman" panose="02020603050405020304" pitchFamily="18" charset="0"/>
                <a:cs typeface="Times New Roman" panose="02020603050405020304" pitchFamily="18" charset="0"/>
              </a:rPr>
              <a:t> Study (YOUR STRONGEST CARD)</a:t>
            </a:r>
          </a:p>
          <a:p>
            <a:r>
              <a:rPr lang="en-IN" b="1" dirty="0">
                <a:latin typeface="Times New Roman" panose="02020603050405020304" pitchFamily="18" charset="0"/>
                <a:cs typeface="Times New Roman" panose="02020603050405020304" pitchFamily="18" charset="0"/>
              </a:rPr>
              <a:t>Paper:</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Fitzpatrick, K. K., Darcy, A., &amp; </a:t>
            </a:r>
            <a:r>
              <a:rPr lang="en-IN" dirty="0" err="1">
                <a:latin typeface="Times New Roman" panose="02020603050405020304" pitchFamily="18" charset="0"/>
                <a:cs typeface="Times New Roman" panose="02020603050405020304" pitchFamily="18" charset="0"/>
              </a:rPr>
              <a:t>Vierhile</a:t>
            </a:r>
            <a:r>
              <a:rPr lang="en-IN" dirty="0">
                <a:latin typeface="Times New Roman" panose="02020603050405020304" pitchFamily="18" charset="0"/>
                <a:cs typeface="Times New Roman" panose="02020603050405020304" pitchFamily="18" charset="0"/>
              </a:rPr>
              <a:t>, M. (2017). </a:t>
            </a:r>
            <a:r>
              <a:rPr lang="en-IN" i="1" dirty="0">
                <a:latin typeface="Times New Roman" panose="02020603050405020304" pitchFamily="18" charset="0"/>
                <a:cs typeface="Times New Roman" panose="02020603050405020304" pitchFamily="18" charset="0"/>
              </a:rPr>
              <a:t>Delivering Cognitive </a:t>
            </a:r>
            <a:r>
              <a:rPr lang="en-IN" i="1" dirty="0" err="1">
                <a:latin typeface="Times New Roman" panose="02020603050405020304" pitchFamily="18" charset="0"/>
                <a:cs typeface="Times New Roman" panose="02020603050405020304" pitchFamily="18" charset="0"/>
              </a:rPr>
              <a:t>Behavior</a:t>
            </a:r>
            <a:r>
              <a:rPr lang="en-IN" i="1" dirty="0">
                <a:latin typeface="Times New Roman" panose="02020603050405020304" pitchFamily="18" charset="0"/>
                <a:cs typeface="Times New Roman" panose="02020603050405020304" pitchFamily="18" charset="0"/>
              </a:rPr>
              <a:t> Therapy to Young Adults With Symptoms of Depression and Anxiety Using a Fully Automated Conversational Agent (</a:t>
            </a:r>
            <a:r>
              <a:rPr lang="en-IN" i="1" dirty="0" err="1">
                <a:latin typeface="Times New Roman" panose="02020603050405020304" pitchFamily="18" charset="0"/>
                <a:cs typeface="Times New Roman" panose="02020603050405020304" pitchFamily="18" charset="0"/>
              </a:rPr>
              <a:t>Woebot</a:t>
            </a:r>
            <a:r>
              <a:rPr lang="en-IN" i="1" dirty="0">
                <a:latin typeface="Times New Roman" panose="02020603050405020304" pitchFamily="18" charset="0"/>
                <a:cs typeface="Times New Roman" panose="02020603050405020304" pitchFamily="18" charset="0"/>
              </a:rPr>
              <a:t>): A Randomized Controlled Trial.</a:t>
            </a:r>
            <a:r>
              <a:rPr lang="en-IN" dirty="0">
                <a:latin typeface="Times New Roman" panose="02020603050405020304" pitchFamily="18" charset="0"/>
                <a:cs typeface="Times New Roman" panose="02020603050405020304" pitchFamily="18" charset="0"/>
              </a:rPr>
              <a:t> JMIR Mental Health, 4(2), e19.</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 just </a:t>
            </a:r>
            <a:r>
              <a:rPr lang="en-IN" b="1" dirty="0">
                <a:latin typeface="Times New Roman" panose="02020603050405020304" pitchFamily="18" charset="0"/>
                <a:cs typeface="Times New Roman" panose="02020603050405020304" pitchFamily="18" charset="0"/>
              </a:rPr>
              <a:t>2 weeks</a:t>
            </a:r>
            <a:r>
              <a:rPr lang="en-IN" dirty="0">
                <a:latin typeface="Times New Roman" panose="02020603050405020304" pitchFamily="18" charset="0"/>
                <a:cs typeface="Times New Roman" panose="02020603050405020304" pitchFamily="18" charset="0"/>
              </a:rPr>
              <a:t>, an AI chatbot using CBT &amp; empathy reduced depression symptoms by </a:t>
            </a:r>
            <a:r>
              <a:rPr lang="en-IN" b="1" dirty="0">
                <a:latin typeface="Times New Roman" panose="02020603050405020304" pitchFamily="18" charset="0"/>
                <a:cs typeface="Times New Roman" panose="02020603050405020304" pitchFamily="18" charset="0"/>
              </a:rPr>
              <a:t>22%</a:t>
            </a:r>
            <a:r>
              <a:rPr lang="en-IN" dirty="0">
                <a:latin typeface="Times New Roman" panose="02020603050405020304" pitchFamily="18" charset="0"/>
                <a:cs typeface="Times New Roman" panose="02020603050405020304" pitchFamily="18" charset="0"/>
              </a:rPr>
              <a:t> — scientifically validated via randomized controlled trial at Stanford University.</a:t>
            </a:r>
          </a:p>
          <a:p>
            <a:endParaRPr lang="en-IN" dirty="0"/>
          </a:p>
        </p:txBody>
      </p:sp>
      <p:sp>
        <p:nvSpPr>
          <p:cNvPr id="5" name="TextBox 4">
            <a:extLst>
              <a:ext uri="{FF2B5EF4-FFF2-40B4-BE49-F238E27FC236}">
                <a16:creationId xmlns:a16="http://schemas.microsoft.com/office/drawing/2014/main" id="{F4484805-95F9-E0CF-E641-BC64D18A02D4}"/>
              </a:ext>
            </a:extLst>
          </p:cNvPr>
          <p:cNvSpPr txBox="1"/>
          <p:nvPr/>
        </p:nvSpPr>
        <p:spPr>
          <a:xfrm>
            <a:off x="6792685" y="663190"/>
            <a:ext cx="3888711" cy="452431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Crisis Intervention &amp; SOS Protocol</a:t>
            </a:r>
          </a:p>
          <a:p>
            <a:r>
              <a:rPr lang="en-IN" b="1" dirty="0">
                <a:latin typeface="Times New Roman" panose="02020603050405020304" pitchFamily="18" charset="0"/>
                <a:cs typeface="Times New Roman" panose="02020603050405020304" pitchFamily="18" charset="0"/>
              </a:rPr>
              <a:t>Reference Tool:</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Posner, K., et al. (2011). </a:t>
            </a:r>
            <a:r>
              <a:rPr lang="en-IN" i="1" dirty="0">
                <a:latin typeface="Times New Roman" panose="02020603050405020304" pitchFamily="18" charset="0"/>
                <a:cs typeface="Times New Roman" panose="02020603050405020304" pitchFamily="18" charset="0"/>
              </a:rPr>
              <a:t>The Columbia–Suicide Severity Rating Scale: Initial Validity and Internal Consistency Findings From Three Multisite Studies With Adolescents and Adults.</a:t>
            </a:r>
            <a:r>
              <a:rPr lang="en-IN" dirty="0">
                <a:latin typeface="Times New Roman" panose="02020603050405020304" pitchFamily="18" charset="0"/>
                <a:cs typeface="Times New Roman" panose="02020603050405020304" pitchFamily="18" charset="0"/>
              </a:rPr>
              <a:t> American Journal of Psychiatry, 168(12), 1266–1277.</a:t>
            </a:r>
          </a:p>
          <a:p>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Keffi's SOS system follows WHO Suicide Prevention Guidelines and the clinically validated C-SSRS triage protocol — ensuring safe human escalation when AI detects crisis signals.</a:t>
            </a:r>
          </a:p>
        </p:txBody>
      </p:sp>
    </p:spTree>
    <p:extLst>
      <p:ext uri="{BB962C8B-B14F-4D97-AF65-F5344CB8AC3E}">
        <p14:creationId xmlns:p14="http://schemas.microsoft.com/office/powerpoint/2010/main" val="3692967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2654-EC93-4B1D-CAFB-0C31FF6054D9}"/>
              </a:ext>
            </a:extLst>
          </p:cNvPr>
          <p:cNvSpPr>
            <a:spLocks noGrp="1"/>
          </p:cNvSpPr>
          <p:nvPr>
            <p:ph type="title"/>
          </p:nvPr>
        </p:nvSpPr>
        <p:spPr>
          <a:xfrm>
            <a:off x="275373" y="336461"/>
            <a:ext cx="10034236" cy="690037"/>
          </a:xfrm>
        </p:spPr>
        <p:txBody>
          <a:bodyPr/>
          <a:lstStyle/>
          <a:p>
            <a:r>
              <a:rPr lang="en-IN" sz="4000" b="1" dirty="0">
                <a:latin typeface="Times New Roman" panose="02020603050405020304" pitchFamily="18" charset="0"/>
                <a:cs typeface="Times New Roman" panose="02020603050405020304" pitchFamily="18" charset="0"/>
              </a:rPr>
              <a:t>96-STATE CLINICAL EMOTION MODEL</a:t>
            </a:r>
          </a:p>
        </p:txBody>
      </p:sp>
      <p:sp>
        <p:nvSpPr>
          <p:cNvPr id="3" name="TextBox 2">
            <a:extLst>
              <a:ext uri="{FF2B5EF4-FFF2-40B4-BE49-F238E27FC236}">
                <a16:creationId xmlns:a16="http://schemas.microsoft.com/office/drawing/2014/main" id="{A04AD9AE-D2A5-2017-0366-C942A38FC436}"/>
              </a:ext>
            </a:extLst>
          </p:cNvPr>
          <p:cNvSpPr txBox="1"/>
          <p:nvPr/>
        </p:nvSpPr>
        <p:spPr>
          <a:xfrm>
            <a:off x="275373" y="1185706"/>
            <a:ext cx="4718536" cy="5632311"/>
          </a:xfrm>
          <a:prstGeom prst="rect">
            <a:avLst/>
          </a:prstGeom>
          <a:noFill/>
        </p:spPr>
        <p:txBody>
          <a:bodyPr wrap="none" rtlCol="0">
            <a:spAutoFit/>
          </a:bodyPr>
          <a:lstStyle/>
          <a:p>
            <a:pPr>
              <a:defRPr b="1"/>
            </a:pPr>
            <a:r>
              <a:rPr lang="en-IN" dirty="0">
                <a:latin typeface="Times New Roman" panose="02020603050405020304" pitchFamily="18" charset="0"/>
                <a:cs typeface="Times New Roman" panose="02020603050405020304" pitchFamily="18" charset="0"/>
              </a:rPr>
              <a:t>DEPRESSION (41 TYPES)</a:t>
            </a:r>
          </a:p>
          <a:p>
            <a:pPr lvl="1"/>
            <a:r>
              <a:rPr lang="en-IN" dirty="0">
                <a:latin typeface="Times New Roman" panose="02020603050405020304" pitchFamily="18" charset="0"/>
                <a:cs typeface="Times New Roman" panose="02020603050405020304" pitchFamily="18" charset="0"/>
              </a:rPr>
              <a:t>MDD – 2+ weeks severe sadness</a:t>
            </a:r>
          </a:p>
          <a:p>
            <a:pPr lvl="1"/>
            <a:r>
              <a:rPr lang="en-IN" dirty="0">
                <a:latin typeface="Times New Roman" panose="02020603050405020304" pitchFamily="18" charset="0"/>
                <a:cs typeface="Times New Roman" panose="02020603050405020304" pitchFamily="18" charset="0"/>
              </a:rPr>
              <a:t>PDD – Chronic mild depression 2+ yrs</a:t>
            </a:r>
          </a:p>
          <a:p>
            <a:pPr lvl="1"/>
            <a:r>
              <a:rPr lang="en-IN" dirty="0">
                <a:latin typeface="Times New Roman" panose="02020603050405020304" pitchFamily="18" charset="0"/>
                <a:cs typeface="Times New Roman" panose="02020603050405020304" pitchFamily="18" charset="0"/>
              </a:rPr>
              <a:t>Bipolar – High vs low mood swings</a:t>
            </a:r>
          </a:p>
          <a:p>
            <a:pPr lvl="1"/>
            <a:r>
              <a:rPr lang="en-IN" dirty="0">
                <a:latin typeface="Times New Roman" panose="02020603050405020304" pitchFamily="18" charset="0"/>
                <a:cs typeface="Times New Roman" panose="02020603050405020304" pitchFamily="18" charset="0"/>
              </a:rPr>
              <a:t>Postpartum – After childbirth depression</a:t>
            </a:r>
          </a:p>
          <a:p>
            <a:pPr lvl="1"/>
            <a:r>
              <a:rPr lang="en-IN" dirty="0">
                <a:latin typeface="Times New Roman" panose="02020603050405020304" pitchFamily="18" charset="0"/>
                <a:cs typeface="Times New Roman" panose="02020603050405020304" pitchFamily="18" charset="0"/>
              </a:rPr>
              <a:t>SAD – Seasonal depression</a:t>
            </a:r>
          </a:p>
          <a:p>
            <a:pPr lvl="1"/>
            <a:r>
              <a:rPr lang="en-IN" dirty="0">
                <a:latin typeface="Times New Roman" panose="02020603050405020304" pitchFamily="18" charset="0"/>
                <a:cs typeface="Times New Roman" panose="02020603050405020304" pitchFamily="18" charset="0"/>
              </a:rPr>
              <a:t>Psychotic – With hallucinations</a:t>
            </a:r>
          </a:p>
          <a:p>
            <a:pPr lvl="1"/>
            <a:r>
              <a:rPr lang="en-IN" dirty="0">
                <a:latin typeface="Times New Roman" panose="02020603050405020304" pitchFamily="18" charset="0"/>
                <a:cs typeface="Times New Roman" panose="02020603050405020304" pitchFamily="18" charset="0"/>
              </a:rPr>
              <a:t>PMDD – Before periods mood issues</a:t>
            </a:r>
          </a:p>
          <a:p>
            <a:pPr lvl="1"/>
            <a:r>
              <a:rPr lang="en-IN" dirty="0">
                <a:latin typeface="Times New Roman" panose="02020603050405020304" pitchFamily="18" charset="0"/>
                <a:cs typeface="Times New Roman" panose="02020603050405020304" pitchFamily="18" charset="0"/>
              </a:rPr>
              <a:t>Atypical – Temporary mood lift + oversleep</a:t>
            </a:r>
          </a:p>
          <a:p>
            <a:pPr lvl="1"/>
            <a:r>
              <a:rPr lang="en-IN" dirty="0">
                <a:latin typeface="Times New Roman" panose="02020603050405020304" pitchFamily="18" charset="0"/>
                <a:cs typeface="Times New Roman" panose="02020603050405020304" pitchFamily="18" charset="0"/>
              </a:rPr>
              <a:t>DMDD – Child anger disorder</a:t>
            </a:r>
          </a:p>
          <a:p>
            <a:pPr lvl="1"/>
            <a:r>
              <a:rPr lang="en-IN" dirty="0">
                <a:latin typeface="Times New Roman" panose="02020603050405020304" pitchFamily="18" charset="0"/>
                <a:cs typeface="Times New Roman" panose="02020603050405020304" pitchFamily="18" charset="0"/>
              </a:rPr>
              <a:t>TRD – Not responding to treatment</a:t>
            </a:r>
          </a:p>
          <a:p>
            <a:pPr lvl="1"/>
            <a:r>
              <a:rPr lang="en-IN" dirty="0">
                <a:latin typeface="Times New Roman" panose="02020603050405020304" pitchFamily="18" charset="0"/>
                <a:cs typeface="Times New Roman" panose="02020603050405020304" pitchFamily="18" charset="0"/>
              </a:rPr>
              <a:t>Substance-induced – Due to drugs/alcohol</a:t>
            </a:r>
          </a:p>
          <a:p>
            <a:pPr lvl="1"/>
            <a:r>
              <a:rPr lang="en-IN" dirty="0">
                <a:latin typeface="Times New Roman" panose="02020603050405020304" pitchFamily="18" charset="0"/>
                <a:cs typeface="Times New Roman" panose="02020603050405020304" pitchFamily="18" charset="0"/>
              </a:rPr>
              <a:t>Medical-condition – Due to illness</a:t>
            </a:r>
          </a:p>
          <a:p>
            <a:pPr lvl="1"/>
            <a:r>
              <a:rPr lang="en-IN" dirty="0">
                <a:latin typeface="Times New Roman" panose="02020603050405020304" pitchFamily="18" charset="0"/>
                <a:cs typeface="Times New Roman" panose="02020603050405020304" pitchFamily="18" charset="0"/>
              </a:rPr>
              <a:t>Smiling – Hidden depression</a:t>
            </a:r>
          </a:p>
          <a:p>
            <a:pPr lvl="1"/>
            <a:r>
              <a:rPr lang="en-IN" dirty="0">
                <a:latin typeface="Times New Roman" panose="02020603050405020304" pitchFamily="18" charset="0"/>
                <a:cs typeface="Times New Roman" panose="02020603050405020304" pitchFamily="18" charset="0"/>
              </a:rPr>
              <a:t>Melancholic – No pleasure at all</a:t>
            </a:r>
          </a:p>
          <a:p>
            <a:pPr lvl="1"/>
            <a:r>
              <a:rPr lang="en-IN" dirty="0">
                <a:latin typeface="Times New Roman" panose="02020603050405020304" pitchFamily="18" charset="0"/>
                <a:cs typeface="Times New Roman" panose="02020603050405020304" pitchFamily="18" charset="0"/>
              </a:rPr>
              <a:t>Agitated – Restless + overthinking</a:t>
            </a:r>
          </a:p>
          <a:p>
            <a:pPr lvl="1"/>
            <a:r>
              <a:rPr lang="en-IN" dirty="0">
                <a:latin typeface="Times New Roman" panose="02020603050405020304" pitchFamily="18" charset="0"/>
                <a:cs typeface="Times New Roman" panose="02020603050405020304" pitchFamily="18" charset="0"/>
              </a:rPr>
              <a:t>Double – Mild + severe combo</a:t>
            </a:r>
          </a:p>
          <a:p>
            <a:pPr lvl="1"/>
            <a:r>
              <a:rPr lang="en-IN" dirty="0">
                <a:latin typeface="Times New Roman" panose="02020603050405020304" pitchFamily="18" charset="0"/>
                <a:cs typeface="Times New Roman" panose="02020603050405020304" pitchFamily="18" charset="0"/>
              </a:rPr>
              <a:t>Minor – Less severe MDD</a:t>
            </a:r>
          </a:p>
          <a:p>
            <a:pPr lvl="1"/>
            <a:r>
              <a:rPr lang="en-IN" dirty="0">
                <a:latin typeface="Times New Roman" panose="02020603050405020304" pitchFamily="18" charset="0"/>
                <a:cs typeface="Times New Roman" panose="02020603050405020304" pitchFamily="18" charset="0"/>
              </a:rPr>
              <a:t>Catatonic – No movement state</a:t>
            </a:r>
          </a:p>
          <a:p>
            <a:endParaRPr lang="en-IN" dirty="0"/>
          </a:p>
        </p:txBody>
      </p:sp>
      <p:sp>
        <p:nvSpPr>
          <p:cNvPr id="4" name="TextBox 3">
            <a:extLst>
              <a:ext uri="{FF2B5EF4-FFF2-40B4-BE49-F238E27FC236}">
                <a16:creationId xmlns:a16="http://schemas.microsoft.com/office/drawing/2014/main" id="{6822D87D-4AC9-07E2-8CE6-BEC0372650D0}"/>
              </a:ext>
            </a:extLst>
          </p:cNvPr>
          <p:cNvSpPr txBox="1"/>
          <p:nvPr/>
        </p:nvSpPr>
        <p:spPr>
          <a:xfrm>
            <a:off x="6260124" y="1185706"/>
            <a:ext cx="4578882" cy="5909310"/>
          </a:xfrm>
          <a:prstGeom prst="rect">
            <a:avLst/>
          </a:prstGeom>
          <a:noFill/>
        </p:spPr>
        <p:txBody>
          <a:bodyPr wrap="none" rtlCol="0">
            <a:spAutoFit/>
          </a:bodyPr>
          <a:lstStyle/>
          <a:p>
            <a:pPr lvl="1"/>
            <a:r>
              <a:rPr lang="en-IN" dirty="0">
                <a:latin typeface="Times New Roman" panose="02020603050405020304" pitchFamily="18" charset="0"/>
                <a:cs typeface="Times New Roman" panose="02020603050405020304" pitchFamily="18" charset="0"/>
              </a:rPr>
              <a:t>Endogenous – Internal chemical cause</a:t>
            </a:r>
          </a:p>
          <a:p>
            <a:pPr lvl="1"/>
            <a:r>
              <a:rPr lang="en-IN" dirty="0">
                <a:latin typeface="Times New Roman" panose="02020603050405020304" pitchFamily="18" charset="0"/>
                <a:cs typeface="Times New Roman" panose="02020603050405020304" pitchFamily="18" charset="0"/>
              </a:rPr>
              <a:t>Reactive – Due to life event</a:t>
            </a:r>
          </a:p>
          <a:p>
            <a:pPr lvl="1"/>
            <a:r>
              <a:rPr lang="en-IN" dirty="0">
                <a:latin typeface="Times New Roman" panose="02020603050405020304" pitchFamily="18" charset="0"/>
                <a:cs typeface="Times New Roman" panose="02020603050405020304" pitchFamily="18" charset="0"/>
              </a:rPr>
              <a:t>Existential – Meaning-of-life sadness</a:t>
            </a:r>
          </a:p>
          <a:p>
            <a:pPr lvl="1"/>
            <a:r>
              <a:rPr lang="en-IN" dirty="0">
                <a:latin typeface="Times New Roman" panose="02020603050405020304" pitchFamily="18" charset="0"/>
                <a:cs typeface="Times New Roman" panose="02020603050405020304" pitchFamily="18" charset="0"/>
              </a:rPr>
              <a:t>Masked – Physical pain instead</a:t>
            </a:r>
          </a:p>
          <a:p>
            <a:pPr lvl="1"/>
            <a:r>
              <a:rPr lang="en-IN" dirty="0">
                <a:latin typeface="Times New Roman" panose="02020603050405020304" pitchFamily="18" charset="0"/>
                <a:cs typeface="Times New Roman" panose="02020603050405020304" pitchFamily="18" charset="0"/>
              </a:rPr>
              <a:t>Geriatric – Elderly depression</a:t>
            </a:r>
          </a:p>
          <a:p>
            <a:pPr lvl="1"/>
            <a:r>
              <a:rPr lang="en-IN" dirty="0">
                <a:latin typeface="Times New Roman" panose="02020603050405020304" pitchFamily="18" charset="0"/>
                <a:cs typeface="Times New Roman" panose="02020603050405020304" pitchFamily="18" charset="0"/>
              </a:rPr>
              <a:t>Recurrent Brief – Short repeated episodes</a:t>
            </a:r>
          </a:p>
          <a:p>
            <a:pPr lvl="1"/>
            <a:r>
              <a:rPr lang="en-IN" dirty="0">
                <a:latin typeface="Times New Roman" panose="02020603050405020304" pitchFamily="18" charset="0"/>
                <a:cs typeface="Times New Roman" panose="02020603050405020304" pitchFamily="18" charset="0"/>
              </a:rPr>
              <a:t>Unipolar – Only low mood</a:t>
            </a:r>
          </a:p>
          <a:p>
            <a:pPr lvl="1"/>
            <a:r>
              <a:rPr lang="en-IN" dirty="0">
                <a:latin typeface="Times New Roman" panose="02020603050405020304" pitchFamily="18" charset="0"/>
                <a:cs typeface="Times New Roman" panose="02020603050405020304" pitchFamily="18" charset="0"/>
              </a:rPr>
              <a:t>Vascular – Blood flow issue</a:t>
            </a:r>
          </a:p>
          <a:p>
            <a:pPr lvl="1"/>
            <a:r>
              <a:rPr lang="en-IN" dirty="0">
                <a:latin typeface="Times New Roman" panose="02020603050405020304" pitchFamily="18" charset="0"/>
                <a:cs typeface="Times New Roman" panose="02020603050405020304" pitchFamily="18" charset="0"/>
              </a:rPr>
              <a:t>Cyclothymia – Mild bipolar</a:t>
            </a:r>
          </a:p>
          <a:p>
            <a:pPr lvl="1"/>
            <a:r>
              <a:rPr lang="en-IN" dirty="0">
                <a:latin typeface="Times New Roman" panose="02020603050405020304" pitchFamily="18" charset="0"/>
                <a:cs typeface="Times New Roman" panose="02020603050405020304" pitchFamily="18" charset="0"/>
              </a:rPr>
              <a:t>Mixed Anxiety – Anxiety + depression</a:t>
            </a:r>
          </a:p>
          <a:p>
            <a:pPr lvl="1"/>
            <a:r>
              <a:rPr lang="en-IN" dirty="0">
                <a:latin typeface="Times New Roman" panose="02020603050405020304" pitchFamily="18" charset="0"/>
                <a:cs typeface="Times New Roman" panose="02020603050405020304" pitchFamily="18" charset="0"/>
              </a:rPr>
              <a:t>Perimenopausal – Menopause-related</a:t>
            </a:r>
          </a:p>
          <a:p>
            <a:pPr lvl="1"/>
            <a:r>
              <a:rPr lang="en-IN" dirty="0">
                <a:latin typeface="Times New Roman" panose="02020603050405020304" pitchFamily="18" charset="0"/>
                <a:cs typeface="Times New Roman" panose="02020603050405020304" pitchFamily="18" charset="0"/>
              </a:rPr>
              <a:t>Post-</a:t>
            </a:r>
            <a:r>
              <a:rPr lang="en-IN" dirty="0" err="1">
                <a:latin typeface="Times New Roman" panose="02020603050405020304" pitchFamily="18" charset="0"/>
                <a:cs typeface="Times New Roman" panose="02020603050405020304" pitchFamily="18" charset="0"/>
              </a:rPr>
              <a:t>Schizo</a:t>
            </a:r>
            <a:r>
              <a:rPr lang="en-IN" dirty="0">
                <a:latin typeface="Times New Roman" panose="02020603050405020304" pitchFamily="18" charset="0"/>
                <a:cs typeface="Times New Roman" panose="02020603050405020304" pitchFamily="18" charset="0"/>
              </a:rPr>
              <a:t> – After schizophrenia</a:t>
            </a:r>
          </a:p>
          <a:p>
            <a:pPr lvl="1"/>
            <a:r>
              <a:rPr lang="en-IN" dirty="0">
                <a:latin typeface="Times New Roman" panose="02020603050405020304" pitchFamily="18" charset="0"/>
                <a:cs typeface="Times New Roman" panose="02020603050405020304" pitchFamily="18" charset="0"/>
              </a:rPr>
              <a:t>Adjustment – Life change stress</a:t>
            </a:r>
          </a:p>
          <a:p>
            <a:pPr lvl="1"/>
            <a:r>
              <a:rPr lang="en-IN" dirty="0">
                <a:latin typeface="Times New Roman" panose="02020603050405020304" pitchFamily="18" charset="0"/>
                <a:cs typeface="Times New Roman" panose="02020603050405020304" pitchFamily="18" charset="0"/>
              </a:rPr>
              <a:t>Antenatal – During pregnancy</a:t>
            </a:r>
          </a:p>
          <a:p>
            <a:pPr lvl="1"/>
            <a:r>
              <a:rPr lang="en-IN" dirty="0">
                <a:latin typeface="Times New Roman" panose="02020603050405020304" pitchFamily="18" charset="0"/>
                <a:cs typeface="Times New Roman" panose="02020603050405020304" pitchFamily="18" charset="0"/>
              </a:rPr>
              <a:t>Prolonged Grief – Long-term grief</a:t>
            </a:r>
          </a:p>
          <a:p>
            <a:pPr lvl="1"/>
            <a:r>
              <a:rPr lang="en-IN" dirty="0">
                <a:latin typeface="Times New Roman" panose="02020603050405020304" pitchFamily="18" charset="0"/>
                <a:cs typeface="Times New Roman" panose="02020603050405020304" pitchFamily="18" charset="0"/>
              </a:rPr>
              <a:t>Male Syndrome – Anger/risk </a:t>
            </a:r>
            <a:r>
              <a:rPr lang="en-IN" dirty="0" err="1">
                <a:latin typeface="Times New Roman" panose="02020603050405020304" pitchFamily="18" charset="0"/>
                <a:cs typeface="Times New Roman" panose="02020603050405020304" pitchFamily="18" charset="0"/>
              </a:rPr>
              <a:t>behavior</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Burnout – Work stress exhaustion</a:t>
            </a:r>
          </a:p>
          <a:p>
            <a:pPr lvl="1"/>
            <a:r>
              <a:rPr lang="en-IN" dirty="0">
                <a:latin typeface="Times New Roman" panose="02020603050405020304" pitchFamily="18" charset="0"/>
                <a:cs typeface="Times New Roman" panose="02020603050405020304" pitchFamily="18" charset="0"/>
              </a:rPr>
              <a:t>Anergic – No energy state</a:t>
            </a:r>
          </a:p>
          <a:p>
            <a:pPr lvl="1"/>
            <a:r>
              <a:rPr lang="en-IN" dirty="0">
                <a:latin typeface="Times New Roman" panose="02020603050405020304" pitchFamily="18" charset="0"/>
                <a:cs typeface="Times New Roman" panose="02020603050405020304" pitchFamily="18" charset="0"/>
              </a:rPr>
              <a:t>D-MER – Breastfeeding sadness</a:t>
            </a:r>
          </a:p>
          <a:p>
            <a:pPr lvl="1"/>
            <a:r>
              <a:rPr lang="en-IN" dirty="0">
                <a:latin typeface="Times New Roman" panose="02020603050405020304" pitchFamily="18" charset="0"/>
                <a:cs typeface="Times New Roman" panose="02020603050405020304" pitchFamily="18" charset="0"/>
              </a:rPr>
              <a:t>PCD – After intimacy sadness</a:t>
            </a:r>
          </a:p>
          <a:p>
            <a:endParaRPr lang="en-IN" dirty="0"/>
          </a:p>
        </p:txBody>
      </p:sp>
    </p:spTree>
    <p:extLst>
      <p:ext uri="{BB962C8B-B14F-4D97-AF65-F5344CB8AC3E}">
        <p14:creationId xmlns:p14="http://schemas.microsoft.com/office/powerpoint/2010/main" val="1117756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E6BFF5-B9CA-8229-6278-2EDF1AA289F9}"/>
              </a:ext>
            </a:extLst>
          </p:cNvPr>
          <p:cNvSpPr txBox="1"/>
          <p:nvPr/>
        </p:nvSpPr>
        <p:spPr>
          <a:xfrm>
            <a:off x="160775" y="117693"/>
            <a:ext cx="4039438" cy="6740307"/>
          </a:xfrm>
          <a:prstGeom prst="rect">
            <a:avLst/>
          </a:prstGeom>
          <a:noFill/>
        </p:spPr>
        <p:txBody>
          <a:bodyPr wrap="square" rtlCol="0">
            <a:spAutoFit/>
          </a:bodyPr>
          <a:lstStyle/>
          <a:p>
            <a:pPr>
              <a:defRPr b="1"/>
            </a:pPr>
            <a:r>
              <a:rPr lang="en-US" dirty="0">
                <a:latin typeface="Times New Roman" panose="02020603050405020304" pitchFamily="18" charset="0"/>
                <a:cs typeface="Times New Roman" panose="02020603050405020304" pitchFamily="18" charset="0"/>
              </a:rPr>
              <a:t>ALLEVATION (18 STATES)</a:t>
            </a:r>
          </a:p>
          <a:p>
            <a:pPr lvl="1"/>
            <a:r>
              <a:rPr lang="en-US" dirty="0">
                <a:latin typeface="Times New Roman" panose="02020603050405020304" pitchFamily="18" charset="0"/>
                <a:cs typeface="Times New Roman" panose="02020603050405020304" pitchFamily="18" charset="0"/>
              </a:rPr>
              <a:t>Partial Response – Only partial recovery</a:t>
            </a:r>
          </a:p>
          <a:p>
            <a:pPr lvl="1"/>
            <a:r>
              <a:rPr lang="en-US" dirty="0">
                <a:latin typeface="Times New Roman" panose="02020603050405020304" pitchFamily="18" charset="0"/>
                <a:cs typeface="Times New Roman" panose="02020603050405020304" pitchFamily="18" charset="0"/>
              </a:rPr>
              <a:t>Residual Symptoms – Some symptoms remain</a:t>
            </a:r>
          </a:p>
          <a:p>
            <a:pPr lvl="1"/>
            <a:r>
              <a:rPr lang="en-US" dirty="0">
                <a:latin typeface="Times New Roman" panose="02020603050405020304" pitchFamily="18" charset="0"/>
                <a:cs typeface="Times New Roman" panose="02020603050405020304" pitchFamily="18" charset="0"/>
              </a:rPr>
              <a:t>Tachyphylaxis – Drug stops working</a:t>
            </a:r>
          </a:p>
          <a:p>
            <a:pPr lvl="1"/>
            <a:r>
              <a:rPr lang="en-US" dirty="0">
                <a:latin typeface="Times New Roman" panose="02020603050405020304" pitchFamily="18" charset="0"/>
                <a:cs typeface="Times New Roman" panose="02020603050405020304" pitchFamily="18" charset="0"/>
              </a:rPr>
              <a:t>Breakthrough – Depression returns</a:t>
            </a:r>
          </a:p>
          <a:p>
            <a:pPr lvl="1"/>
            <a:r>
              <a:rPr lang="en-US" dirty="0">
                <a:latin typeface="Times New Roman" panose="02020603050405020304" pitchFamily="18" charset="0"/>
                <a:cs typeface="Times New Roman" panose="02020603050405020304" pitchFamily="18" charset="0"/>
              </a:rPr>
              <a:t>TRD – No response to treatment</a:t>
            </a:r>
          </a:p>
          <a:p>
            <a:pPr lvl="1"/>
            <a:r>
              <a:rPr lang="en-US" dirty="0">
                <a:latin typeface="Times New Roman" panose="02020603050405020304" pitchFamily="18" charset="0"/>
                <a:cs typeface="Times New Roman" panose="02020603050405020304" pitchFamily="18" charset="0"/>
              </a:rPr>
              <a:t>Full Remission – Complete recovery</a:t>
            </a:r>
          </a:p>
          <a:p>
            <a:pPr lvl="1"/>
            <a:r>
              <a:rPr lang="en-US" dirty="0">
                <a:latin typeface="Times New Roman" panose="02020603050405020304" pitchFamily="18" charset="0"/>
                <a:cs typeface="Times New Roman" panose="02020603050405020304" pitchFamily="18" charset="0"/>
              </a:rPr>
              <a:t>Sustained Recovery – Stable long-term</a:t>
            </a:r>
          </a:p>
          <a:p>
            <a:pPr lvl="1"/>
            <a:r>
              <a:rPr lang="en-US" dirty="0">
                <a:latin typeface="Times New Roman" panose="02020603050405020304" pitchFamily="18" charset="0"/>
                <a:cs typeface="Times New Roman" panose="02020603050405020304" pitchFamily="18" charset="0"/>
              </a:rPr>
              <a:t>Spontaneous – Auto recovery</a:t>
            </a:r>
          </a:p>
          <a:p>
            <a:pPr lvl="1"/>
            <a:r>
              <a:rPr lang="en-US" dirty="0">
                <a:latin typeface="Times New Roman" panose="02020603050405020304" pitchFamily="18" charset="0"/>
                <a:cs typeface="Times New Roman" panose="02020603050405020304" pitchFamily="18" charset="0"/>
              </a:rPr>
              <a:t>Placebo – Belief improves state</a:t>
            </a:r>
          </a:p>
          <a:p>
            <a:pPr lvl="1"/>
            <a:r>
              <a:rPr lang="en-US" dirty="0">
                <a:latin typeface="Times New Roman" panose="02020603050405020304" pitchFamily="18" charset="0"/>
                <a:cs typeface="Times New Roman" panose="02020603050405020304" pitchFamily="18" charset="0"/>
              </a:rPr>
              <a:t>Nocebo – Negative belief worsens</a:t>
            </a:r>
          </a:p>
          <a:p>
            <a:pPr lvl="1"/>
            <a:r>
              <a:rPr lang="en-US" dirty="0">
                <a:latin typeface="Times New Roman" panose="02020603050405020304" pitchFamily="18" charset="0"/>
                <a:cs typeface="Times New Roman" panose="02020603050405020304" pitchFamily="18" charset="0"/>
              </a:rPr>
              <a:t>Honeymoon – Short-term improvement</a:t>
            </a:r>
          </a:p>
          <a:p>
            <a:pPr lvl="1"/>
            <a:r>
              <a:rPr lang="en-US" dirty="0">
                <a:latin typeface="Times New Roman" panose="02020603050405020304" pitchFamily="18" charset="0"/>
                <a:cs typeface="Times New Roman" panose="02020603050405020304" pitchFamily="18" charset="0"/>
              </a:rPr>
              <a:t>Relapse – Return before recovery</a:t>
            </a:r>
          </a:p>
          <a:p>
            <a:pPr lvl="1"/>
            <a:r>
              <a:rPr lang="en-US" dirty="0">
                <a:latin typeface="Times New Roman" panose="02020603050405020304" pitchFamily="18" charset="0"/>
                <a:cs typeface="Times New Roman" panose="02020603050405020304" pitchFamily="18" charset="0"/>
              </a:rPr>
              <a:t>Recurrence – New episode later</a:t>
            </a:r>
          </a:p>
          <a:p>
            <a:pPr lvl="1"/>
            <a:r>
              <a:rPr lang="en-US" dirty="0">
                <a:latin typeface="Times New Roman" panose="02020603050405020304" pitchFamily="18" charset="0"/>
                <a:cs typeface="Times New Roman" panose="02020603050405020304" pitchFamily="18" charset="0"/>
              </a:rPr>
              <a:t>Pseudo-resistance – Improper treatment issue</a:t>
            </a:r>
          </a:p>
          <a:p>
            <a:pPr lvl="1"/>
            <a:r>
              <a:rPr lang="en-US" dirty="0">
                <a:latin typeface="Times New Roman" panose="02020603050405020304" pitchFamily="18" charset="0"/>
                <a:cs typeface="Times New Roman" panose="02020603050405020304" pitchFamily="18" charset="0"/>
              </a:rPr>
              <a:t>Emotional Blunting – No emotions</a:t>
            </a:r>
          </a:p>
          <a:p>
            <a:pPr lvl="1"/>
            <a:r>
              <a:rPr lang="en-US" dirty="0">
                <a:latin typeface="Times New Roman" panose="02020603050405020304" pitchFamily="18" charset="0"/>
                <a:cs typeface="Times New Roman" panose="02020603050405020304" pitchFamily="18" charset="0"/>
              </a:rPr>
              <a:t>TEAS – Switch to mania</a:t>
            </a:r>
          </a:p>
          <a:p>
            <a:pPr lvl="1"/>
            <a:r>
              <a:rPr lang="en-US" dirty="0">
                <a:latin typeface="Times New Roman" panose="02020603050405020304" pitchFamily="18" charset="0"/>
                <a:cs typeface="Times New Roman" panose="02020603050405020304" pitchFamily="18" charset="0"/>
              </a:rPr>
              <a:t>Withdrawal – Stopping drug effects</a:t>
            </a:r>
          </a:p>
          <a:p>
            <a:endParaRPr lang="en-IN" dirty="0"/>
          </a:p>
        </p:txBody>
      </p:sp>
      <p:sp>
        <p:nvSpPr>
          <p:cNvPr id="5" name="TextBox 4">
            <a:extLst>
              <a:ext uri="{FF2B5EF4-FFF2-40B4-BE49-F238E27FC236}">
                <a16:creationId xmlns:a16="http://schemas.microsoft.com/office/drawing/2014/main" id="{D6228DE7-1ED9-FDF0-D345-107DF9638245}"/>
              </a:ext>
            </a:extLst>
          </p:cNvPr>
          <p:cNvSpPr txBox="1"/>
          <p:nvPr/>
        </p:nvSpPr>
        <p:spPr>
          <a:xfrm>
            <a:off x="4272224" y="117693"/>
            <a:ext cx="3647551" cy="6463308"/>
          </a:xfrm>
          <a:prstGeom prst="rect">
            <a:avLst/>
          </a:prstGeom>
          <a:noFill/>
        </p:spPr>
        <p:txBody>
          <a:bodyPr wrap="square" rtlCol="0">
            <a:spAutoFit/>
          </a:bodyPr>
          <a:lstStyle/>
          <a:p>
            <a:pPr>
              <a:defRPr b="1"/>
            </a:pPr>
            <a:r>
              <a:rPr lang="en-IN" dirty="0">
                <a:latin typeface="Times New Roman" panose="02020603050405020304" pitchFamily="18" charset="0"/>
                <a:cs typeface="Times New Roman" panose="02020603050405020304" pitchFamily="18" charset="0"/>
              </a:rPr>
              <a:t>ATTRITION (20 TYPES)</a:t>
            </a:r>
          </a:p>
          <a:p>
            <a:pPr lvl="1"/>
            <a:r>
              <a:rPr lang="en-IN" dirty="0">
                <a:latin typeface="Times New Roman" panose="02020603050405020304" pitchFamily="18" charset="0"/>
                <a:cs typeface="Times New Roman" panose="02020603050405020304" pitchFamily="18" charset="0"/>
              </a:rPr>
              <a:t>Voluntary – Leave by choice</a:t>
            </a:r>
          </a:p>
          <a:p>
            <a:pPr lvl="1"/>
            <a:r>
              <a:rPr lang="en-IN" dirty="0">
                <a:latin typeface="Times New Roman" panose="02020603050405020304" pitchFamily="18" charset="0"/>
                <a:cs typeface="Times New Roman" panose="02020603050405020304" pitchFamily="18" charset="0"/>
              </a:rPr>
              <a:t>Involuntary – Forced removal</a:t>
            </a:r>
          </a:p>
          <a:p>
            <a:pPr lvl="1"/>
            <a:r>
              <a:rPr lang="en-IN" dirty="0">
                <a:latin typeface="Times New Roman" panose="02020603050405020304" pitchFamily="18" charset="0"/>
                <a:cs typeface="Times New Roman" panose="02020603050405020304" pitchFamily="18" charset="0"/>
              </a:rPr>
              <a:t>Internal – Shift within org</a:t>
            </a:r>
          </a:p>
          <a:p>
            <a:pPr lvl="1"/>
            <a:r>
              <a:rPr lang="en-IN" dirty="0">
                <a:latin typeface="Times New Roman" panose="02020603050405020304" pitchFamily="18" charset="0"/>
                <a:cs typeface="Times New Roman" panose="02020603050405020304" pitchFamily="18" charset="0"/>
              </a:rPr>
              <a:t>Demographic – Retirement/death</a:t>
            </a:r>
          </a:p>
          <a:p>
            <a:pPr lvl="1"/>
            <a:r>
              <a:rPr lang="en-IN" dirty="0">
                <a:latin typeface="Times New Roman" panose="02020603050405020304" pitchFamily="18" charset="0"/>
                <a:cs typeface="Times New Roman" panose="02020603050405020304" pitchFamily="18" charset="0"/>
              </a:rPr>
              <a:t>Regrettable – Loss of top talent</a:t>
            </a:r>
          </a:p>
          <a:p>
            <a:pPr lvl="1"/>
            <a:r>
              <a:rPr lang="en-IN" dirty="0">
                <a:latin typeface="Times New Roman" panose="02020603050405020304" pitchFamily="18" charset="0"/>
                <a:cs typeface="Times New Roman" panose="02020603050405020304" pitchFamily="18" charset="0"/>
              </a:rPr>
              <a:t>Non-regrettable – Low performer leaves</a:t>
            </a:r>
          </a:p>
          <a:p>
            <a:pPr lvl="1"/>
            <a:r>
              <a:rPr lang="en-IN" dirty="0">
                <a:latin typeface="Times New Roman" panose="02020603050405020304" pitchFamily="18" charset="0"/>
                <a:cs typeface="Times New Roman" panose="02020603050405020304" pitchFamily="18" charset="0"/>
              </a:rPr>
              <a:t>New-hire – Early exit</a:t>
            </a:r>
          </a:p>
          <a:p>
            <a:pPr lvl="1"/>
            <a:r>
              <a:rPr lang="en-IN" dirty="0">
                <a:latin typeface="Times New Roman" panose="02020603050405020304" pitchFamily="18" charset="0"/>
                <a:cs typeface="Times New Roman" panose="02020603050405020304" pitchFamily="18" charset="0"/>
              </a:rPr>
              <a:t>Veteran – Long-term exit</a:t>
            </a:r>
          </a:p>
          <a:p>
            <a:pPr lvl="1"/>
            <a:r>
              <a:rPr lang="en-IN" dirty="0">
                <a:latin typeface="Times New Roman" panose="02020603050405020304" pitchFamily="18" charset="0"/>
                <a:cs typeface="Times New Roman" panose="02020603050405020304" pitchFamily="18" charset="0"/>
              </a:rPr>
              <a:t>Customer churn – Service leaving</a:t>
            </a:r>
          </a:p>
          <a:p>
            <a:pPr lvl="1"/>
            <a:r>
              <a:rPr lang="en-IN" dirty="0">
                <a:latin typeface="Times New Roman" panose="02020603050405020304" pitchFamily="18" charset="0"/>
                <a:cs typeface="Times New Roman" panose="02020603050405020304" pitchFamily="18" charset="0"/>
              </a:rPr>
              <a:t>Student dropout – Education quit</a:t>
            </a:r>
          </a:p>
          <a:p>
            <a:pPr lvl="1"/>
            <a:r>
              <a:rPr lang="en-IN" dirty="0">
                <a:latin typeface="Times New Roman" panose="02020603050405020304" pitchFamily="18" charset="0"/>
                <a:cs typeface="Times New Roman" panose="02020603050405020304" pitchFamily="18" charset="0"/>
              </a:rPr>
              <a:t>Mechanical – Wear &amp; tear</a:t>
            </a:r>
          </a:p>
          <a:p>
            <a:pPr lvl="1"/>
            <a:r>
              <a:rPr lang="en-IN" dirty="0">
                <a:latin typeface="Times New Roman" panose="02020603050405020304" pitchFamily="18" charset="0"/>
                <a:cs typeface="Times New Roman" panose="02020603050405020304" pitchFamily="18" charset="0"/>
              </a:rPr>
              <a:t>Dental – Teeth wear</a:t>
            </a:r>
          </a:p>
          <a:p>
            <a:pPr lvl="1"/>
            <a:r>
              <a:rPr lang="en-IN" dirty="0">
                <a:latin typeface="Times New Roman" panose="02020603050405020304" pitchFamily="18" charset="0"/>
                <a:cs typeface="Times New Roman" panose="02020603050405020304" pitchFamily="18" charset="0"/>
              </a:rPr>
              <a:t>Geological – Rock erosion</a:t>
            </a:r>
          </a:p>
          <a:p>
            <a:pPr lvl="1"/>
            <a:r>
              <a:rPr lang="en-IN" dirty="0">
                <a:latin typeface="Times New Roman" panose="02020603050405020304" pitchFamily="18" charset="0"/>
                <a:cs typeface="Times New Roman" panose="02020603050405020304" pitchFamily="18" charset="0"/>
              </a:rPr>
              <a:t>War attrition – Loss in war</a:t>
            </a:r>
          </a:p>
          <a:p>
            <a:pPr lvl="1"/>
            <a:r>
              <a:rPr lang="en-IN" dirty="0">
                <a:latin typeface="Times New Roman" panose="02020603050405020304" pitchFamily="18" charset="0"/>
                <a:cs typeface="Times New Roman" panose="02020603050405020304" pitchFamily="18" charset="0"/>
              </a:rPr>
              <a:t>Clinical trial – Patient dropout</a:t>
            </a:r>
          </a:p>
          <a:p>
            <a:pPr lvl="1"/>
            <a:r>
              <a:rPr lang="en-IN" dirty="0">
                <a:latin typeface="Times New Roman" panose="02020603050405020304" pitchFamily="18" charset="0"/>
                <a:cs typeface="Times New Roman" panose="02020603050405020304" pitchFamily="18" charset="0"/>
              </a:rPr>
              <a:t>Therapeutic – Stop treatment</a:t>
            </a:r>
          </a:p>
          <a:p>
            <a:pPr lvl="1"/>
            <a:r>
              <a:rPr lang="en-IN" dirty="0">
                <a:latin typeface="Times New Roman" panose="02020603050405020304" pitchFamily="18" charset="0"/>
                <a:cs typeface="Times New Roman" panose="02020603050405020304" pitchFamily="18" charset="0"/>
              </a:rPr>
              <a:t>Data loss – Packet loss</a:t>
            </a:r>
          </a:p>
          <a:p>
            <a:endParaRPr lang="en-IN" dirty="0"/>
          </a:p>
        </p:txBody>
      </p:sp>
      <p:sp>
        <p:nvSpPr>
          <p:cNvPr id="6" name="TextBox 5">
            <a:extLst>
              <a:ext uri="{FF2B5EF4-FFF2-40B4-BE49-F238E27FC236}">
                <a16:creationId xmlns:a16="http://schemas.microsoft.com/office/drawing/2014/main" id="{F00D2459-6954-F8EA-D1AF-1DD80DA1D2AC}"/>
              </a:ext>
            </a:extLst>
          </p:cNvPr>
          <p:cNvSpPr txBox="1"/>
          <p:nvPr/>
        </p:nvSpPr>
        <p:spPr>
          <a:xfrm>
            <a:off x="8098972" y="117693"/>
            <a:ext cx="3932254" cy="6740307"/>
          </a:xfrm>
          <a:prstGeom prst="rect">
            <a:avLst/>
          </a:prstGeom>
          <a:noFill/>
        </p:spPr>
        <p:txBody>
          <a:bodyPr wrap="square" rtlCol="0">
            <a:spAutoFit/>
          </a:bodyPr>
          <a:lstStyle/>
          <a:p>
            <a:pPr>
              <a:defRPr b="1"/>
            </a:pPr>
            <a:r>
              <a:rPr lang="en-US" dirty="0">
                <a:latin typeface="Times New Roman" panose="02020603050405020304" pitchFamily="18" charset="0"/>
                <a:cs typeface="Times New Roman" panose="02020603050405020304" pitchFamily="18" charset="0"/>
              </a:rPr>
              <a:t>LOSS OF FOLLOW-UP (17 TYPES)</a:t>
            </a:r>
          </a:p>
          <a:p>
            <a:pPr lvl="1"/>
            <a:r>
              <a:rPr lang="en-US" dirty="0">
                <a:latin typeface="Times New Roman" panose="02020603050405020304" pitchFamily="18" charset="0"/>
                <a:cs typeface="Times New Roman" panose="02020603050405020304" pitchFamily="18" charset="0"/>
              </a:rPr>
              <a:t>Voluntary Withdrawal – Stops by choice</a:t>
            </a:r>
          </a:p>
          <a:p>
            <a:pPr lvl="1"/>
            <a:r>
              <a:rPr lang="en-US" dirty="0">
                <a:latin typeface="Times New Roman" panose="02020603050405020304" pitchFamily="18" charset="0"/>
                <a:cs typeface="Times New Roman" panose="02020603050405020304" pitchFamily="18" charset="0"/>
              </a:rPr>
              <a:t>Non-compliance – Avoids treatment</a:t>
            </a:r>
          </a:p>
          <a:p>
            <a:pPr lvl="1"/>
            <a:r>
              <a:rPr lang="en-US" dirty="0">
                <a:latin typeface="Times New Roman" panose="02020603050405020304" pitchFamily="18" charset="0"/>
                <a:cs typeface="Times New Roman" panose="02020603050405020304" pitchFamily="18" charset="0"/>
              </a:rPr>
              <a:t>Cured perception – Thinks cured</a:t>
            </a:r>
          </a:p>
          <a:p>
            <a:pPr lvl="1"/>
            <a:r>
              <a:rPr lang="en-US" dirty="0">
                <a:latin typeface="Times New Roman" panose="02020603050405020304" pitchFamily="18" charset="0"/>
                <a:cs typeface="Times New Roman" panose="02020603050405020304" pitchFamily="18" charset="0"/>
              </a:rPr>
              <a:t>Unintentional – Missed visits</a:t>
            </a:r>
          </a:p>
          <a:p>
            <a:pPr lvl="1"/>
            <a:r>
              <a:rPr lang="en-US" dirty="0">
                <a:latin typeface="Times New Roman" panose="02020603050405020304" pitchFamily="18" charset="0"/>
                <a:cs typeface="Times New Roman" panose="02020603050405020304" pitchFamily="18" charset="0"/>
              </a:rPr>
              <a:t>Silent loss – No contact</a:t>
            </a:r>
          </a:p>
          <a:p>
            <a:pPr lvl="1"/>
            <a:r>
              <a:rPr lang="en-US" dirty="0">
                <a:latin typeface="Times New Roman" panose="02020603050405020304" pitchFamily="18" charset="0"/>
                <a:cs typeface="Times New Roman" panose="02020603050405020304" pitchFamily="18" charset="0"/>
              </a:rPr>
              <a:t>Passive dropout – Ignores follow-up</a:t>
            </a:r>
          </a:p>
          <a:p>
            <a:pPr lvl="1"/>
            <a:r>
              <a:rPr lang="en-US" dirty="0">
                <a:latin typeface="Times New Roman" panose="02020603050405020304" pitchFamily="18" charset="0"/>
                <a:cs typeface="Times New Roman" panose="02020603050405020304" pitchFamily="18" charset="0"/>
              </a:rPr>
              <a:t>Active dropout – Informs and leaves</a:t>
            </a:r>
          </a:p>
          <a:p>
            <a:pPr lvl="1"/>
            <a:r>
              <a:rPr lang="en-US" dirty="0">
                <a:latin typeface="Times New Roman" panose="02020603050405020304" pitchFamily="18" charset="0"/>
                <a:cs typeface="Times New Roman" panose="02020603050405020304" pitchFamily="18" charset="0"/>
              </a:rPr>
              <a:t>Death – Patient expired</a:t>
            </a:r>
          </a:p>
          <a:p>
            <a:pPr lvl="1"/>
            <a:r>
              <a:rPr lang="en-US" dirty="0">
                <a:latin typeface="Times New Roman" panose="02020603050405020304" pitchFamily="18" charset="0"/>
                <a:cs typeface="Times New Roman" panose="02020603050405020304" pitchFamily="18" charset="0"/>
              </a:rPr>
              <a:t>Morbidity – Too ill to come</a:t>
            </a:r>
          </a:p>
          <a:p>
            <a:pPr lvl="1"/>
            <a:r>
              <a:rPr lang="en-US" dirty="0">
                <a:latin typeface="Times New Roman" panose="02020603050405020304" pitchFamily="18" charset="0"/>
                <a:cs typeface="Times New Roman" panose="02020603050405020304" pitchFamily="18" charset="0"/>
              </a:rPr>
              <a:t>Geographic – Moved away</a:t>
            </a:r>
          </a:p>
          <a:p>
            <a:pPr lvl="1"/>
            <a:r>
              <a:rPr lang="en-US" dirty="0">
                <a:latin typeface="Times New Roman" panose="02020603050405020304" pitchFamily="18" charset="0"/>
                <a:cs typeface="Times New Roman" panose="02020603050405020304" pitchFamily="18" charset="0"/>
              </a:rPr>
              <a:t>Economic – Cannot afford</a:t>
            </a:r>
          </a:p>
          <a:p>
            <a:pPr lvl="1"/>
            <a:r>
              <a:rPr lang="en-US" dirty="0">
                <a:latin typeface="Times New Roman" panose="02020603050405020304" pitchFamily="18" charset="0"/>
                <a:cs typeface="Times New Roman" panose="02020603050405020304" pitchFamily="18" charset="0"/>
              </a:rPr>
              <a:t>Stigma – Social fear</a:t>
            </a:r>
          </a:p>
          <a:p>
            <a:pPr lvl="1"/>
            <a:r>
              <a:rPr lang="en-US" dirty="0">
                <a:latin typeface="Times New Roman" panose="02020603050405020304" pitchFamily="18" charset="0"/>
                <a:cs typeface="Times New Roman" panose="02020603050405020304" pitchFamily="18" charset="0"/>
              </a:rPr>
              <a:t>Admin loss – System error</a:t>
            </a:r>
          </a:p>
          <a:p>
            <a:pPr lvl="1"/>
            <a:r>
              <a:rPr lang="en-US" dirty="0">
                <a:latin typeface="Times New Roman" panose="02020603050405020304" pitchFamily="18" charset="0"/>
                <a:cs typeface="Times New Roman" panose="02020603050405020304" pitchFamily="18" charset="0"/>
              </a:rPr>
              <a:t>Provider relocation – Doctor changed</a:t>
            </a:r>
          </a:p>
          <a:p>
            <a:pPr lvl="1"/>
            <a:r>
              <a:rPr lang="en-US" dirty="0">
                <a:latin typeface="Times New Roman" panose="02020603050405020304" pitchFamily="18" charset="0"/>
                <a:cs typeface="Times New Roman" panose="02020603050405020304" pitchFamily="18" charset="0"/>
              </a:rPr>
              <a:t>Protocol burden – Too complex</a:t>
            </a:r>
          </a:p>
          <a:p>
            <a:pPr lvl="1"/>
            <a:r>
              <a:rPr lang="en-US" dirty="0">
                <a:latin typeface="Times New Roman" panose="02020603050405020304" pitchFamily="18" charset="0"/>
                <a:cs typeface="Times New Roman" panose="02020603050405020304" pitchFamily="18" charset="0"/>
              </a:rPr>
              <a:t>Intermittent – Returns later</a:t>
            </a:r>
          </a:p>
          <a:p>
            <a:pPr lvl="1"/>
            <a:r>
              <a:rPr lang="en-US" dirty="0">
                <a:latin typeface="Times New Roman" panose="02020603050405020304" pitchFamily="18" charset="0"/>
                <a:cs typeface="Times New Roman" panose="02020603050405020304" pitchFamily="18" charset="0"/>
              </a:rPr>
              <a:t>Permanent – Never returns</a:t>
            </a:r>
          </a:p>
          <a:p>
            <a:endParaRPr lang="en-IN" dirty="0"/>
          </a:p>
        </p:txBody>
      </p:sp>
    </p:spTree>
    <p:extLst>
      <p:ext uri="{BB962C8B-B14F-4D97-AF65-F5344CB8AC3E}">
        <p14:creationId xmlns:p14="http://schemas.microsoft.com/office/powerpoint/2010/main" val="3326812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BEBB2F7-DB76-A02F-3222-CEE5CA0D084F}"/>
              </a:ext>
            </a:extLst>
          </p:cNvPr>
          <p:cNvGraphicFramePr>
            <a:graphicFrameLocks noGrp="1"/>
          </p:cNvGraphicFramePr>
          <p:nvPr>
            <p:extLst>
              <p:ext uri="{D42A27DB-BD31-4B8C-83A1-F6EECF244321}">
                <p14:modId xmlns:p14="http://schemas.microsoft.com/office/powerpoint/2010/main" val="875274608"/>
              </p:ext>
            </p:extLst>
          </p:nvPr>
        </p:nvGraphicFramePr>
        <p:xfrm>
          <a:off x="243841" y="719666"/>
          <a:ext cx="11704319" cy="5904654"/>
        </p:xfrm>
        <a:graphic>
          <a:graphicData uri="http://schemas.openxmlformats.org/drawingml/2006/table">
            <a:tbl>
              <a:tblPr firstRow="1">
                <a:tableStyleId>{5C22544A-7EE6-4342-B048-85BDC9FD1C3A}</a:tableStyleId>
              </a:tblPr>
              <a:tblGrid>
                <a:gridCol w="2082069">
                  <a:extLst>
                    <a:ext uri="{9D8B030D-6E8A-4147-A177-3AD203B41FA5}">
                      <a16:colId xmlns:a16="http://schemas.microsoft.com/office/drawing/2014/main" val="2136458371"/>
                    </a:ext>
                  </a:extLst>
                </a:gridCol>
                <a:gridCol w="1629446">
                  <a:extLst>
                    <a:ext uri="{9D8B030D-6E8A-4147-A177-3AD203B41FA5}">
                      <a16:colId xmlns:a16="http://schemas.microsoft.com/office/drawing/2014/main" val="3325976385"/>
                    </a:ext>
                  </a:extLst>
                </a:gridCol>
                <a:gridCol w="1006422">
                  <a:extLst>
                    <a:ext uri="{9D8B030D-6E8A-4147-A177-3AD203B41FA5}">
                      <a16:colId xmlns:a16="http://schemas.microsoft.com/office/drawing/2014/main" val="4171855838"/>
                    </a:ext>
                  </a:extLst>
                </a:gridCol>
                <a:gridCol w="2907443">
                  <a:extLst>
                    <a:ext uri="{9D8B030D-6E8A-4147-A177-3AD203B41FA5}">
                      <a16:colId xmlns:a16="http://schemas.microsoft.com/office/drawing/2014/main" val="2831704441"/>
                    </a:ext>
                  </a:extLst>
                </a:gridCol>
                <a:gridCol w="1773220">
                  <a:extLst>
                    <a:ext uri="{9D8B030D-6E8A-4147-A177-3AD203B41FA5}">
                      <a16:colId xmlns:a16="http://schemas.microsoft.com/office/drawing/2014/main" val="3397995186"/>
                    </a:ext>
                  </a:extLst>
                </a:gridCol>
                <a:gridCol w="2305719">
                  <a:extLst>
                    <a:ext uri="{9D8B030D-6E8A-4147-A177-3AD203B41FA5}">
                      <a16:colId xmlns:a16="http://schemas.microsoft.com/office/drawing/2014/main" val="2238416442"/>
                    </a:ext>
                  </a:extLst>
                </a:gridCol>
              </a:tblGrid>
              <a:tr h="860040">
                <a:tc>
                  <a:txBody>
                    <a:bodyPr/>
                    <a:lstStyle/>
                    <a:p>
                      <a:pPr>
                        <a:buNone/>
                      </a:pPr>
                      <a:r>
                        <a:rPr lang="en-IN" b="1" dirty="0"/>
                        <a:t>Title</a:t>
                      </a:r>
                      <a:endParaRPr lang="en-IN" dirty="0"/>
                    </a:p>
                  </a:txBody>
                  <a:tcPr anchor="ctr"/>
                </a:tc>
                <a:tc>
                  <a:txBody>
                    <a:bodyPr/>
                    <a:lstStyle/>
                    <a:p>
                      <a:r>
                        <a:rPr lang="en-IN" dirty="0"/>
                        <a:t>Author(s)</a:t>
                      </a:r>
                    </a:p>
                  </a:txBody>
                  <a:tcPr/>
                </a:tc>
                <a:tc>
                  <a:txBody>
                    <a:bodyPr/>
                    <a:lstStyle/>
                    <a:p>
                      <a:r>
                        <a:rPr lang="en-IN" dirty="0"/>
                        <a:t>Year</a:t>
                      </a:r>
                    </a:p>
                  </a:txBody>
                  <a:tcPr/>
                </a:tc>
                <a:tc>
                  <a:txBody>
                    <a:bodyPr/>
                    <a:lstStyle/>
                    <a:p>
                      <a:r>
                        <a:rPr lang="en-IN" dirty="0"/>
                        <a:t>Methodology / Approach</a:t>
                      </a:r>
                    </a:p>
                  </a:txBody>
                  <a:tcPr/>
                </a:tc>
                <a:tc>
                  <a:txBody>
                    <a:bodyPr/>
                    <a:lstStyle/>
                    <a:p>
                      <a:r>
                        <a:rPr lang="en-IN" dirty="0"/>
                        <a:t>Dataset Used</a:t>
                      </a:r>
                    </a:p>
                  </a:txBody>
                  <a:tcPr/>
                </a:tc>
                <a:tc>
                  <a:txBody>
                    <a:bodyPr/>
                    <a:lstStyle/>
                    <a:p>
                      <a:r>
                        <a:rPr lang="en-IN" dirty="0"/>
                        <a:t>Key Findings</a:t>
                      </a:r>
                    </a:p>
                  </a:txBody>
                  <a:tcPr/>
                </a:tc>
                <a:extLst>
                  <a:ext uri="{0D108BD9-81ED-4DB2-BD59-A6C34878D82A}">
                    <a16:rowId xmlns:a16="http://schemas.microsoft.com/office/drawing/2014/main" val="2970931192"/>
                  </a:ext>
                </a:extLst>
              </a:tr>
              <a:tr h="1190674">
                <a:tc>
                  <a:txBody>
                    <a:bodyPr/>
                    <a:lstStyle/>
                    <a:p>
                      <a:pPr>
                        <a:buNone/>
                      </a:pPr>
                      <a:r>
                        <a:rPr lang="en-US" dirty="0"/>
                        <a:t>Emotion Detection using Deep Learning</a:t>
                      </a:r>
                      <a:endParaRPr lang="en-IN" dirty="0"/>
                    </a:p>
                  </a:txBody>
                  <a:tcPr anchor="ctr"/>
                </a:tc>
                <a:tc>
                  <a:txBody>
                    <a:bodyPr/>
                    <a:lstStyle/>
                    <a:p>
                      <a:pPr>
                        <a:buNone/>
                      </a:pPr>
                      <a:r>
                        <a:rPr lang="en-IN" dirty="0"/>
                        <a:t>A. Kumar, R. Singh</a:t>
                      </a:r>
                    </a:p>
                  </a:txBody>
                  <a:tcPr anchor="ctr"/>
                </a:tc>
                <a:tc>
                  <a:txBody>
                    <a:bodyPr/>
                    <a:lstStyle/>
                    <a:p>
                      <a:pPr>
                        <a:buNone/>
                      </a:pPr>
                      <a:r>
                        <a:rPr lang="en-IN" b="0" dirty="0"/>
                        <a:t>2021</a:t>
                      </a:r>
                    </a:p>
                  </a:txBody>
                  <a:tcPr anchor="ctr"/>
                </a:tc>
                <a:tc>
                  <a:txBody>
                    <a:bodyPr/>
                    <a:lstStyle/>
                    <a:p>
                      <a:pPr>
                        <a:buNone/>
                      </a:pPr>
                      <a:r>
                        <a:rPr lang="en-IN" dirty="0"/>
                        <a:t>BERT-based emotion classification model</a:t>
                      </a:r>
                    </a:p>
                  </a:txBody>
                  <a:tcPr anchor="ctr"/>
                </a:tc>
                <a:tc>
                  <a:txBody>
                    <a:bodyPr/>
                    <a:lstStyle/>
                    <a:p>
                      <a:pPr>
                        <a:buNone/>
                      </a:pPr>
                      <a:r>
                        <a:rPr lang="en-IN" dirty="0" err="1"/>
                        <a:t>GoEmotions</a:t>
                      </a:r>
                      <a:r>
                        <a:rPr lang="en-IN" dirty="0"/>
                        <a:t> Dataset</a:t>
                      </a:r>
                    </a:p>
                  </a:txBody>
                  <a:tcPr anchor="ctr"/>
                </a:tc>
                <a:tc>
                  <a:txBody>
                    <a:bodyPr/>
                    <a:lstStyle/>
                    <a:p>
                      <a:pPr>
                        <a:buNone/>
                      </a:pPr>
                      <a:r>
                        <a:rPr lang="en-US" dirty="0"/>
                        <a:t>Deep learning improves accuracy in multi-emotion detection</a:t>
                      </a:r>
                      <a:endParaRPr lang="en-IN" dirty="0"/>
                    </a:p>
                  </a:txBody>
                  <a:tcPr anchor="ctr"/>
                </a:tc>
                <a:extLst>
                  <a:ext uri="{0D108BD9-81ED-4DB2-BD59-A6C34878D82A}">
                    <a16:rowId xmlns:a16="http://schemas.microsoft.com/office/drawing/2014/main" val="1563679797"/>
                  </a:ext>
                </a:extLst>
              </a:tr>
              <a:tr h="1065020">
                <a:tc>
                  <a:txBody>
                    <a:bodyPr/>
                    <a:lstStyle/>
                    <a:p>
                      <a:pPr>
                        <a:buNone/>
                      </a:pPr>
                      <a:r>
                        <a:rPr lang="en-US"/>
                        <a:t>Sentiment Analysis for Mental Health Monitoring</a:t>
                      </a:r>
                    </a:p>
                  </a:txBody>
                  <a:tcPr anchor="ctr"/>
                </a:tc>
                <a:tc>
                  <a:txBody>
                    <a:bodyPr/>
                    <a:lstStyle/>
                    <a:p>
                      <a:r>
                        <a:rPr lang="en-IN" dirty="0"/>
                        <a:t>J. Smith et al.</a:t>
                      </a:r>
                    </a:p>
                  </a:txBody>
                  <a:tcPr/>
                </a:tc>
                <a:tc>
                  <a:txBody>
                    <a:bodyPr/>
                    <a:lstStyle/>
                    <a:p>
                      <a:r>
                        <a:rPr lang="en-IN" dirty="0"/>
                        <a:t>2020</a:t>
                      </a:r>
                    </a:p>
                  </a:txBody>
                  <a:tcPr/>
                </a:tc>
                <a:tc>
                  <a:txBody>
                    <a:bodyPr/>
                    <a:lstStyle/>
                    <a:p>
                      <a:r>
                        <a:rPr lang="en-US" dirty="0"/>
                        <a:t>NLP-based sentiment classification using machine learning</a:t>
                      </a:r>
                      <a:endParaRPr lang="en-IN" dirty="0"/>
                    </a:p>
                  </a:txBody>
                  <a:tcPr/>
                </a:tc>
                <a:tc>
                  <a:txBody>
                    <a:bodyPr/>
                    <a:lstStyle/>
                    <a:p>
                      <a:r>
                        <a:rPr lang="en-IN" dirty="0"/>
                        <a:t>Twitter Dataset</a:t>
                      </a:r>
                    </a:p>
                  </a:txBody>
                  <a:tcPr/>
                </a:tc>
                <a:tc>
                  <a:txBody>
                    <a:bodyPr/>
                    <a:lstStyle/>
                    <a:p>
                      <a:r>
                        <a:rPr lang="en-US" dirty="0"/>
                        <a:t>Social media data can effectively detect emotional states</a:t>
                      </a:r>
                      <a:endParaRPr lang="en-IN" dirty="0"/>
                    </a:p>
                  </a:txBody>
                  <a:tcPr/>
                </a:tc>
                <a:extLst>
                  <a:ext uri="{0D108BD9-81ED-4DB2-BD59-A6C34878D82A}">
                    <a16:rowId xmlns:a16="http://schemas.microsoft.com/office/drawing/2014/main" val="3741427550"/>
                  </a:ext>
                </a:extLst>
              </a:tr>
              <a:tr h="944880">
                <a:tc>
                  <a:txBody>
                    <a:bodyPr/>
                    <a:lstStyle/>
                    <a:p>
                      <a:r>
                        <a:rPr lang="en-US" dirty="0"/>
                        <a:t>AI Chatbots for Mental Health Support</a:t>
                      </a:r>
                      <a:endParaRPr lang="en-IN" dirty="0"/>
                    </a:p>
                  </a:txBody>
                  <a:tcPr/>
                </a:tc>
                <a:tc>
                  <a:txBody>
                    <a:bodyPr/>
                    <a:lstStyle/>
                    <a:p>
                      <a:r>
                        <a:rPr lang="en-IN" dirty="0"/>
                        <a:t>L. Johnson</a:t>
                      </a:r>
                    </a:p>
                  </a:txBody>
                  <a:tcPr/>
                </a:tc>
                <a:tc>
                  <a:txBody>
                    <a:bodyPr/>
                    <a:lstStyle/>
                    <a:p>
                      <a:r>
                        <a:rPr lang="en-IN" dirty="0"/>
                        <a:t>2019</a:t>
                      </a:r>
                    </a:p>
                  </a:txBody>
                  <a:tcPr/>
                </a:tc>
                <a:tc>
                  <a:txBody>
                    <a:bodyPr/>
                    <a:lstStyle/>
                    <a:p>
                      <a:pPr>
                        <a:buNone/>
                      </a:pPr>
                      <a:r>
                        <a:rPr lang="en-IN" dirty="0"/>
                        <a:t>Rule-based + AI chatbot system</a:t>
                      </a:r>
                    </a:p>
                  </a:txBody>
                  <a:tcPr anchor="ctr"/>
                </a:tc>
                <a:tc>
                  <a:txBody>
                    <a:bodyPr/>
                    <a:lstStyle/>
                    <a:p>
                      <a:r>
                        <a:rPr lang="en-IN" dirty="0"/>
                        <a:t>Custom conversational dataset</a:t>
                      </a:r>
                    </a:p>
                  </a:txBody>
                  <a:tcPr/>
                </a:tc>
                <a:tc>
                  <a:txBody>
                    <a:bodyPr/>
                    <a:lstStyle/>
                    <a:p>
                      <a:r>
                        <a:rPr lang="en-US" dirty="0"/>
                        <a:t>Chatbots provide accessible and immediate support</a:t>
                      </a:r>
                      <a:endParaRPr lang="en-IN" dirty="0"/>
                    </a:p>
                  </a:txBody>
                  <a:tcPr/>
                </a:tc>
                <a:extLst>
                  <a:ext uri="{0D108BD9-81ED-4DB2-BD59-A6C34878D82A}">
                    <a16:rowId xmlns:a16="http://schemas.microsoft.com/office/drawing/2014/main" val="3772193659"/>
                  </a:ext>
                </a:extLst>
              </a:tr>
              <a:tr h="929640">
                <a:tc>
                  <a:txBody>
                    <a:bodyPr/>
                    <a:lstStyle/>
                    <a:p>
                      <a:r>
                        <a:rPr lang="en-IN" dirty="0"/>
                        <a:t>Detecting Depression from Text</a:t>
                      </a:r>
                    </a:p>
                  </a:txBody>
                  <a:tcPr/>
                </a:tc>
                <a:tc>
                  <a:txBody>
                    <a:bodyPr/>
                    <a:lstStyle/>
                    <a:p>
                      <a:r>
                        <a:rPr lang="en-IN" dirty="0"/>
                        <a:t>M. Sharma et al.</a:t>
                      </a:r>
                    </a:p>
                  </a:txBody>
                  <a:tcPr/>
                </a:tc>
                <a:tc>
                  <a:txBody>
                    <a:bodyPr/>
                    <a:lstStyle/>
                    <a:p>
                      <a:r>
                        <a:rPr lang="en-IN" dirty="0"/>
                        <a:t>2022</a:t>
                      </a:r>
                    </a:p>
                  </a:txBody>
                  <a:tcPr/>
                </a:tc>
                <a:tc>
                  <a:txBody>
                    <a:bodyPr/>
                    <a:lstStyle/>
                    <a:p>
                      <a:r>
                        <a:rPr lang="en-IN" dirty="0"/>
                        <a:t>LSTM and NLP techniques</a:t>
                      </a:r>
                    </a:p>
                  </a:txBody>
                  <a:tcPr/>
                </a:tc>
                <a:tc>
                  <a:txBody>
                    <a:bodyPr/>
                    <a:lstStyle/>
                    <a:p>
                      <a:r>
                        <a:rPr lang="en-IN" dirty="0"/>
                        <a:t>Reddit Mental Health Dataset</a:t>
                      </a:r>
                    </a:p>
                  </a:txBody>
                  <a:tcPr/>
                </a:tc>
                <a:tc>
                  <a:txBody>
                    <a:bodyPr/>
                    <a:lstStyle/>
                    <a:p>
                      <a:r>
                        <a:rPr lang="en-US" dirty="0"/>
                        <a:t>Language patterns can indicate early depression signs</a:t>
                      </a:r>
                      <a:endParaRPr lang="en-IN" dirty="0"/>
                    </a:p>
                  </a:txBody>
                  <a:tcPr/>
                </a:tc>
                <a:extLst>
                  <a:ext uri="{0D108BD9-81ED-4DB2-BD59-A6C34878D82A}">
                    <a16:rowId xmlns:a16="http://schemas.microsoft.com/office/drawing/2014/main" val="4279774404"/>
                  </a:ext>
                </a:extLst>
              </a:tr>
              <a:tr h="910449">
                <a:tc>
                  <a:txBody>
                    <a:bodyPr/>
                    <a:lstStyle/>
                    <a:p>
                      <a:r>
                        <a:rPr lang="en-IN" dirty="0"/>
                        <a:t>Multi-Emotion Classification using Transformers</a:t>
                      </a:r>
                    </a:p>
                  </a:txBody>
                  <a:tcPr/>
                </a:tc>
                <a:tc>
                  <a:txBody>
                    <a:bodyPr/>
                    <a:lstStyle/>
                    <a:p>
                      <a:r>
                        <a:rPr lang="en-IN" dirty="0"/>
                        <a:t>P. Verma</a:t>
                      </a:r>
                    </a:p>
                  </a:txBody>
                  <a:tcPr/>
                </a:tc>
                <a:tc>
                  <a:txBody>
                    <a:bodyPr/>
                    <a:lstStyle/>
                    <a:p>
                      <a:r>
                        <a:rPr lang="en-IN" dirty="0"/>
                        <a:t>2023</a:t>
                      </a:r>
                    </a:p>
                  </a:txBody>
                  <a:tcPr/>
                </a:tc>
                <a:tc>
                  <a:txBody>
                    <a:bodyPr/>
                    <a:lstStyle/>
                    <a:p>
                      <a:r>
                        <a:rPr lang="en-IN" dirty="0"/>
                        <a:t>Transformer models (BERT, </a:t>
                      </a:r>
                      <a:r>
                        <a:rPr lang="en-IN" dirty="0" err="1"/>
                        <a:t>RoBERTa</a:t>
                      </a:r>
                      <a:r>
                        <a:rPr lang="en-IN" dirty="0"/>
                        <a:t>)</a:t>
                      </a:r>
                    </a:p>
                  </a:txBody>
                  <a:tcPr/>
                </a:tc>
                <a:tc>
                  <a:txBody>
                    <a:bodyPr/>
                    <a:lstStyle/>
                    <a:p>
                      <a:r>
                        <a:rPr lang="en-IN" dirty="0" err="1"/>
                        <a:t>GoEmotions</a:t>
                      </a:r>
                      <a:endParaRPr lang="en-IN" dirty="0"/>
                    </a:p>
                  </a:txBody>
                  <a:tcPr/>
                </a:tc>
                <a:tc>
                  <a:txBody>
                    <a:bodyPr/>
                    <a:lstStyle/>
                    <a:p>
                      <a:r>
                        <a:rPr lang="en-IN" dirty="0"/>
                        <a:t>Transformers outperform traditional ML models</a:t>
                      </a:r>
                    </a:p>
                  </a:txBody>
                  <a:tcPr/>
                </a:tc>
                <a:extLst>
                  <a:ext uri="{0D108BD9-81ED-4DB2-BD59-A6C34878D82A}">
                    <a16:rowId xmlns:a16="http://schemas.microsoft.com/office/drawing/2014/main" val="4289985746"/>
                  </a:ext>
                </a:extLst>
              </a:tr>
            </a:tbl>
          </a:graphicData>
        </a:graphic>
      </p:graphicFrame>
      <p:sp>
        <p:nvSpPr>
          <p:cNvPr id="8" name="TextBox 7">
            <a:extLst>
              <a:ext uri="{FF2B5EF4-FFF2-40B4-BE49-F238E27FC236}">
                <a16:creationId xmlns:a16="http://schemas.microsoft.com/office/drawing/2014/main" id="{0FF9C211-2988-D5E9-D16C-2562673908EC}"/>
              </a:ext>
            </a:extLst>
          </p:cNvPr>
          <p:cNvSpPr txBox="1"/>
          <p:nvPr/>
        </p:nvSpPr>
        <p:spPr>
          <a:xfrm>
            <a:off x="243841" y="135358"/>
            <a:ext cx="3533340"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34394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A74CF-1DF0-483A-6F3E-8F32A5C48904}"/>
              </a:ext>
            </a:extLst>
          </p:cNvPr>
          <p:cNvSpPr>
            <a:spLocks noGrp="1"/>
          </p:cNvSpPr>
          <p:nvPr>
            <p:ph type="title"/>
          </p:nvPr>
        </p:nvSpPr>
        <p:spPr>
          <a:xfrm>
            <a:off x="238640" y="182160"/>
            <a:ext cx="10515240" cy="1325160"/>
          </a:xfrm>
        </p:spPr>
        <p:txBody>
          <a:bodyPr/>
          <a:lstStyle/>
          <a:p>
            <a:r>
              <a:rPr lang="en-IN" sz="4000" b="1" dirty="0">
                <a:latin typeface="Times New Roman" panose="02020603050405020304" pitchFamily="18" charset="0"/>
                <a:cs typeface="Times New Roman" panose="02020603050405020304" pitchFamily="18" charset="0"/>
              </a:rPr>
              <a:t>PHQ + MHQ HYBRID SCORING SYSTEM</a:t>
            </a:r>
            <a:endParaRPr lang="en-IN" sz="4000" dirty="0"/>
          </a:p>
        </p:txBody>
      </p:sp>
      <p:sp>
        <p:nvSpPr>
          <p:cNvPr id="3" name="Text Placeholder 2">
            <a:extLst>
              <a:ext uri="{FF2B5EF4-FFF2-40B4-BE49-F238E27FC236}">
                <a16:creationId xmlns:a16="http://schemas.microsoft.com/office/drawing/2014/main" id="{86D16942-2FA2-C5AF-00DD-9F162DF988A5}"/>
              </a:ext>
            </a:extLst>
          </p:cNvPr>
          <p:cNvSpPr>
            <a:spLocks noGrp="1"/>
          </p:cNvSpPr>
          <p:nvPr>
            <p:ph type="body"/>
          </p:nvPr>
        </p:nvSpPr>
        <p:spPr>
          <a:xfrm>
            <a:off x="980320" y="1507320"/>
            <a:ext cx="4767337" cy="4350960"/>
          </a:xfrm>
        </p:spPr>
        <p:txBody>
          <a:bodyPr/>
          <a:lstStyle/>
          <a:p>
            <a:pPr marL="0" indent="0">
              <a:buNone/>
            </a:pPr>
            <a:r>
              <a:rPr lang="en-IN" sz="2400" b="1" dirty="0">
                <a:latin typeface="Times New Roman" panose="02020603050405020304" pitchFamily="18" charset="0"/>
                <a:cs typeface="Times New Roman" panose="02020603050405020304" pitchFamily="18" charset="0"/>
              </a:rPr>
              <a:t>PHQ (Patient Health Questionnaire)</a:t>
            </a:r>
          </a:p>
          <a:p>
            <a:pPr marL="0" indent="0">
              <a:buNone/>
            </a:pPr>
            <a:endParaRPr lang="en-IN" sz="2400" b="1"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Standard clinical assessment tool </a:t>
            </a:r>
          </a:p>
          <a:p>
            <a:r>
              <a:rPr lang="en-IN" sz="1800" dirty="0">
                <a:latin typeface="Times New Roman" panose="02020603050405020304" pitchFamily="18" charset="0"/>
                <a:cs typeface="Times New Roman" panose="02020603050405020304" pitchFamily="18" charset="0"/>
              </a:rPr>
              <a:t>Score Range: </a:t>
            </a:r>
            <a:r>
              <a:rPr lang="en-IN" sz="1800" b="1" dirty="0">
                <a:latin typeface="Times New Roman" panose="02020603050405020304" pitchFamily="18" charset="0"/>
                <a:cs typeface="Times New Roman" panose="02020603050405020304" pitchFamily="18" charset="0"/>
              </a:rPr>
              <a:t>0 – 27</a:t>
            </a:r>
            <a:r>
              <a:rPr lang="en-IN" sz="1800" dirty="0">
                <a:latin typeface="Times New Roman" panose="02020603050405020304" pitchFamily="18" charset="0"/>
                <a:cs typeface="Times New Roman" panose="02020603050405020304" pitchFamily="18" charset="0"/>
              </a:rPr>
              <a:t> </a:t>
            </a:r>
          </a:p>
          <a:p>
            <a:endParaRPr lang="en-IN" sz="18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Severity Levels:</a:t>
            </a:r>
          </a:p>
          <a:p>
            <a:pPr marL="0" indent="0">
              <a:buNone/>
            </a:pPr>
            <a:endParaRPr lang="en-IN" sz="2400" b="1"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0 – 4</a:t>
            </a:r>
            <a:r>
              <a:rPr lang="en-IN" sz="1800" dirty="0">
                <a:latin typeface="Times New Roman" panose="02020603050405020304" pitchFamily="18" charset="0"/>
                <a:cs typeface="Times New Roman" panose="02020603050405020304" pitchFamily="18" charset="0"/>
              </a:rPr>
              <a:t> → Minimal (0–15%) </a:t>
            </a:r>
          </a:p>
          <a:p>
            <a:r>
              <a:rPr lang="en-IN" sz="1800" b="1" dirty="0">
                <a:latin typeface="Times New Roman" panose="02020603050405020304" pitchFamily="18" charset="0"/>
                <a:cs typeface="Times New Roman" panose="02020603050405020304" pitchFamily="18" charset="0"/>
              </a:rPr>
              <a:t>5 – 9</a:t>
            </a:r>
            <a:r>
              <a:rPr lang="en-IN" sz="1800" dirty="0">
                <a:latin typeface="Times New Roman" panose="02020603050405020304" pitchFamily="18" charset="0"/>
                <a:cs typeface="Times New Roman" panose="02020603050405020304" pitchFamily="18" charset="0"/>
              </a:rPr>
              <a:t> → Mild (16–33%) </a:t>
            </a:r>
          </a:p>
          <a:p>
            <a:r>
              <a:rPr lang="en-IN" sz="1800" b="1" dirty="0">
                <a:latin typeface="Times New Roman" panose="02020603050405020304" pitchFamily="18" charset="0"/>
                <a:cs typeface="Times New Roman" panose="02020603050405020304" pitchFamily="18" charset="0"/>
              </a:rPr>
              <a:t>10 – 14</a:t>
            </a:r>
            <a:r>
              <a:rPr lang="en-IN" sz="1800" dirty="0">
                <a:latin typeface="Times New Roman" panose="02020603050405020304" pitchFamily="18" charset="0"/>
                <a:cs typeface="Times New Roman" panose="02020603050405020304" pitchFamily="18" charset="0"/>
              </a:rPr>
              <a:t> → Moderate (34–52%) </a:t>
            </a:r>
          </a:p>
          <a:p>
            <a:r>
              <a:rPr lang="en-IN" sz="1800" b="1" dirty="0">
                <a:latin typeface="Times New Roman" panose="02020603050405020304" pitchFamily="18" charset="0"/>
                <a:cs typeface="Times New Roman" panose="02020603050405020304" pitchFamily="18" charset="0"/>
              </a:rPr>
              <a:t>15 – 19</a:t>
            </a:r>
            <a:r>
              <a:rPr lang="en-IN" sz="1800" dirty="0">
                <a:latin typeface="Times New Roman" panose="02020603050405020304" pitchFamily="18" charset="0"/>
                <a:cs typeface="Times New Roman" panose="02020603050405020304" pitchFamily="18" charset="0"/>
              </a:rPr>
              <a:t> → Moderately Severe (53–70%) </a:t>
            </a:r>
          </a:p>
          <a:p>
            <a:r>
              <a:rPr lang="en-IN" sz="1800" b="1" dirty="0">
                <a:latin typeface="Times New Roman" panose="02020603050405020304" pitchFamily="18" charset="0"/>
                <a:cs typeface="Times New Roman" panose="02020603050405020304" pitchFamily="18" charset="0"/>
              </a:rPr>
              <a:t>20 – 27</a:t>
            </a:r>
            <a:r>
              <a:rPr lang="en-IN" sz="1800" dirty="0">
                <a:latin typeface="Times New Roman" panose="02020603050405020304" pitchFamily="18" charset="0"/>
                <a:cs typeface="Times New Roman" panose="02020603050405020304" pitchFamily="18" charset="0"/>
              </a:rPr>
              <a:t> → Severe (71–100%)</a:t>
            </a:r>
          </a:p>
          <a:p>
            <a:endParaRPr lang="en-IN" dirty="0"/>
          </a:p>
        </p:txBody>
      </p:sp>
      <p:sp>
        <p:nvSpPr>
          <p:cNvPr id="4" name="TextBox 3">
            <a:extLst>
              <a:ext uri="{FF2B5EF4-FFF2-40B4-BE49-F238E27FC236}">
                <a16:creationId xmlns:a16="http://schemas.microsoft.com/office/drawing/2014/main" id="{900BAAC3-8DC7-5607-C694-0D782E2243A0}"/>
              </a:ext>
            </a:extLst>
          </p:cNvPr>
          <p:cNvSpPr txBox="1"/>
          <p:nvPr/>
        </p:nvSpPr>
        <p:spPr>
          <a:xfrm>
            <a:off x="6444345" y="1507320"/>
            <a:ext cx="4842118" cy="433965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MHQ (Mental Health Quotient – Keffi AI)</a:t>
            </a:r>
          </a:p>
          <a:p>
            <a:endParaRPr lang="en-IN" sz="2400"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AI-based dynamic scoring system </a:t>
            </a:r>
          </a:p>
          <a:p>
            <a:r>
              <a:rPr lang="en-IN" dirty="0">
                <a:latin typeface="Times New Roman" panose="02020603050405020304" pitchFamily="18" charset="0"/>
                <a:cs typeface="Times New Roman" panose="02020603050405020304" pitchFamily="18" charset="0"/>
              </a:rPr>
              <a:t>Score Range: </a:t>
            </a:r>
            <a:r>
              <a:rPr lang="en-IN" b="1" dirty="0">
                <a:latin typeface="Times New Roman" panose="02020603050405020304" pitchFamily="18" charset="0"/>
                <a:cs typeface="Times New Roman" panose="02020603050405020304" pitchFamily="18" charset="0"/>
              </a:rPr>
              <a:t>0 – 100</a:t>
            </a:r>
          </a:p>
          <a:p>
            <a:r>
              <a:rPr lang="en-IN" dirty="0">
                <a:latin typeface="Times New Roman" panose="02020603050405020304" pitchFamily="18" charset="0"/>
                <a:cs typeface="Times New Roman" panose="02020603050405020304" pitchFamily="18" charset="0"/>
              </a:rPr>
              <a:t> </a:t>
            </a:r>
          </a:p>
          <a:p>
            <a:r>
              <a:rPr lang="en-IN" sz="2400" b="1" dirty="0">
                <a:latin typeface="Times New Roman" panose="02020603050405020304" pitchFamily="18" charset="0"/>
                <a:cs typeface="Times New Roman" panose="02020603050405020304" pitchFamily="18" charset="0"/>
              </a:rPr>
              <a:t>State Levels:</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80 – 100</a:t>
            </a:r>
            <a:r>
              <a:rPr lang="en-IN" dirty="0">
                <a:latin typeface="Times New Roman" panose="02020603050405020304" pitchFamily="18" charset="0"/>
                <a:cs typeface="Times New Roman" panose="02020603050405020304" pitchFamily="18" charset="0"/>
              </a:rPr>
              <a:t> → Healthy / Thriving </a:t>
            </a:r>
          </a:p>
          <a:p>
            <a:r>
              <a:rPr lang="en-IN" b="1" dirty="0">
                <a:latin typeface="Times New Roman" panose="02020603050405020304" pitchFamily="18" charset="0"/>
                <a:cs typeface="Times New Roman" panose="02020603050405020304" pitchFamily="18" charset="0"/>
              </a:rPr>
              <a:t>60 – 79</a:t>
            </a:r>
            <a:r>
              <a:rPr lang="en-IN" dirty="0">
                <a:latin typeface="Times New Roman" panose="02020603050405020304" pitchFamily="18" charset="0"/>
                <a:cs typeface="Times New Roman" panose="02020603050405020304" pitchFamily="18" charset="0"/>
              </a:rPr>
              <a:t> → Stable </a:t>
            </a:r>
          </a:p>
          <a:p>
            <a:r>
              <a:rPr lang="en-IN" b="1" dirty="0">
                <a:latin typeface="Times New Roman" panose="02020603050405020304" pitchFamily="18" charset="0"/>
                <a:cs typeface="Times New Roman" panose="02020603050405020304" pitchFamily="18" charset="0"/>
              </a:rPr>
              <a:t>40 – 59</a:t>
            </a:r>
            <a:r>
              <a:rPr lang="en-IN" dirty="0">
                <a:latin typeface="Times New Roman" panose="02020603050405020304" pitchFamily="18" charset="0"/>
                <a:cs typeface="Times New Roman" panose="02020603050405020304" pitchFamily="18" charset="0"/>
              </a:rPr>
              <a:t> → Mild Risk </a:t>
            </a:r>
          </a:p>
          <a:p>
            <a:r>
              <a:rPr lang="en-IN" b="1" dirty="0">
                <a:latin typeface="Times New Roman" panose="02020603050405020304" pitchFamily="18" charset="0"/>
                <a:cs typeface="Times New Roman" panose="02020603050405020304" pitchFamily="18" charset="0"/>
              </a:rPr>
              <a:t>20 – 39</a:t>
            </a:r>
            <a:r>
              <a:rPr lang="en-IN" dirty="0">
                <a:latin typeface="Times New Roman" panose="02020603050405020304" pitchFamily="18" charset="0"/>
                <a:cs typeface="Times New Roman" panose="02020603050405020304" pitchFamily="18" charset="0"/>
              </a:rPr>
              <a:t> → Moderate Risk </a:t>
            </a:r>
          </a:p>
          <a:p>
            <a:r>
              <a:rPr lang="en-IN" b="1" dirty="0">
                <a:latin typeface="Times New Roman" panose="02020603050405020304" pitchFamily="18" charset="0"/>
                <a:cs typeface="Times New Roman" panose="02020603050405020304" pitchFamily="18" charset="0"/>
              </a:rPr>
              <a:t>0 – 19</a:t>
            </a:r>
            <a:r>
              <a:rPr lang="en-IN" dirty="0">
                <a:latin typeface="Times New Roman" panose="02020603050405020304" pitchFamily="18" charset="0"/>
                <a:cs typeface="Times New Roman" panose="02020603050405020304" pitchFamily="18" charset="0"/>
              </a:rPr>
              <a:t> → Critical</a:t>
            </a:r>
          </a:p>
          <a:p>
            <a:endParaRPr lang="en-IN" dirty="0"/>
          </a:p>
        </p:txBody>
      </p:sp>
    </p:spTree>
    <p:extLst>
      <p:ext uri="{BB962C8B-B14F-4D97-AF65-F5344CB8AC3E}">
        <p14:creationId xmlns:p14="http://schemas.microsoft.com/office/powerpoint/2010/main" val="4264635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C45D69-414F-3F14-5E3A-6860607C5F09}"/>
              </a:ext>
            </a:extLst>
          </p:cNvPr>
          <p:cNvSpPr>
            <a:spLocks noGrp="1"/>
          </p:cNvSpPr>
          <p:nvPr>
            <p:ph type="title"/>
          </p:nvPr>
        </p:nvSpPr>
        <p:spPr>
          <a:xfrm>
            <a:off x="523240" y="102042"/>
            <a:ext cx="10515600" cy="833755"/>
          </a:xfrm>
        </p:spPr>
        <p:txBody>
          <a:bodyPr>
            <a:normAutofit/>
          </a:bodyPr>
          <a:lstStyle/>
          <a:p>
            <a:r>
              <a:rPr lang="en-US" sz="4000" b="1" dirty="0">
                <a:latin typeface="Times New Roman" panose="02020603050405020304" pitchFamily="18" charset="0"/>
                <a:cs typeface="Times New Roman" panose="02020603050405020304" pitchFamily="18" charset="0"/>
              </a:rPr>
              <a:t>The Clinical Brain — BERT + Fast API </a:t>
            </a:r>
            <a:r>
              <a:rPr lang="en-IN" sz="4000" b="1" dirty="0">
                <a:latin typeface="Times New Roman" panose="02020603050405020304" pitchFamily="18" charset="0"/>
                <a:cs typeface="Times New Roman" panose="02020603050405020304" pitchFamily="18" charset="0"/>
              </a:rPr>
              <a:t> </a:t>
            </a:r>
          </a:p>
        </p:txBody>
      </p:sp>
      <p:sp>
        <p:nvSpPr>
          <p:cNvPr id="5" name="Content Placeholder 2">
            <a:extLst>
              <a:ext uri="{FF2B5EF4-FFF2-40B4-BE49-F238E27FC236}">
                <a16:creationId xmlns:a16="http://schemas.microsoft.com/office/drawing/2014/main" id="{44F04519-42AB-DAFC-6F23-F2F7E8555E97}"/>
              </a:ext>
            </a:extLst>
          </p:cNvPr>
          <p:cNvSpPr>
            <a:spLocks noGrp="1"/>
          </p:cNvSpPr>
          <p:nvPr>
            <p:ph type="body"/>
          </p:nvPr>
        </p:nvSpPr>
        <p:spPr>
          <a:xfrm>
            <a:off x="1" y="2465358"/>
            <a:ext cx="7002730" cy="2810807"/>
          </a:xfrm>
        </p:spPr>
        <p:txBody>
          <a:bodyPr>
            <a:normAutofit fontScale="85000" lnSpcReduction="20000"/>
          </a:bodyPr>
          <a:lstStyle/>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1900" dirty="0">
                <a:latin typeface="Times New Roman" panose="02020603050405020304" pitchFamily="18" charset="0"/>
                <a:cs typeface="Times New Roman" panose="02020603050405020304" pitchFamily="18" charset="0"/>
              </a:rPr>
              <a:t>        Patient Message</a:t>
            </a:r>
          </a:p>
          <a:p>
            <a:pPr marL="0" indent="0">
              <a:buNone/>
            </a:pPr>
            <a:r>
              <a:rPr lang="en-US" sz="1900" dirty="0">
                <a:latin typeface="Times New Roman" panose="02020603050405020304" pitchFamily="18" charset="0"/>
                <a:cs typeface="Times New Roman" panose="02020603050405020304" pitchFamily="18" charset="0"/>
              </a:rPr>
              <a:t>                     ↓</a:t>
            </a:r>
          </a:p>
          <a:p>
            <a:pPr marL="0" indent="0">
              <a:buNone/>
            </a:pPr>
            <a:r>
              <a:rPr lang="en-US" sz="1900" dirty="0">
                <a:latin typeface="Times New Roman" panose="02020603050405020304" pitchFamily="18" charset="0"/>
                <a:cs typeface="Times New Roman" panose="02020603050405020304" pitchFamily="18" charset="0"/>
              </a:rPr>
              <a:t>   ① REACT UI        →  Voice/Text captured via Web Speech API</a:t>
            </a:r>
          </a:p>
          <a:p>
            <a:pPr marL="0" indent="0">
              <a:buNone/>
            </a:pPr>
            <a:r>
              <a:rPr lang="en-US" sz="1900" dirty="0">
                <a:latin typeface="Times New Roman" panose="02020603050405020304" pitchFamily="18" charset="0"/>
                <a:cs typeface="Times New Roman" panose="02020603050405020304" pitchFamily="18" charset="0"/>
              </a:rPr>
              <a:t>                     ↓</a:t>
            </a:r>
          </a:p>
          <a:p>
            <a:pPr marL="0" indent="0">
              <a:buNone/>
            </a:pPr>
            <a:r>
              <a:rPr lang="en-US" sz="1900" dirty="0">
                <a:latin typeface="Times New Roman" panose="02020603050405020304" pitchFamily="18" charset="0"/>
                <a:cs typeface="Times New Roman" panose="02020603050405020304" pitchFamily="18" charset="0"/>
              </a:rPr>
              <a:t>   ② FASTAPI GATE    →  PII Stripped (Name/Phone/Location removed)</a:t>
            </a:r>
          </a:p>
          <a:p>
            <a:pPr marL="0" indent="0">
              <a:buNone/>
            </a:pPr>
            <a:r>
              <a:rPr lang="en-US" sz="1900" dirty="0">
                <a:latin typeface="Times New Roman" panose="02020603050405020304" pitchFamily="18" charset="0"/>
                <a:cs typeface="Times New Roman" panose="02020603050405020304" pitchFamily="18" charset="0"/>
              </a:rPr>
              <a:t>                     ↓</a:t>
            </a:r>
          </a:p>
          <a:p>
            <a:pPr marL="0" indent="0">
              <a:buNone/>
            </a:pPr>
            <a:r>
              <a:rPr lang="en-US" sz="1900" dirty="0">
                <a:latin typeface="Times New Roman" panose="02020603050405020304" pitchFamily="18" charset="0"/>
                <a:cs typeface="Times New Roman" panose="02020603050405020304" pitchFamily="18" charset="0"/>
              </a:rPr>
              <a:t>   ③ BERT ENGINE     →  96-State Emotion Analysis + Confidence %</a:t>
            </a:r>
          </a:p>
          <a:p>
            <a:pPr marL="0" indent="0">
              <a:buNone/>
            </a:pPr>
            <a:r>
              <a:rPr lang="en-US" sz="1900" dirty="0">
                <a:latin typeface="Times New Roman" panose="02020603050405020304" pitchFamily="18" charset="0"/>
                <a:cs typeface="Times New Roman" panose="02020603050405020304" pitchFamily="18" charset="0"/>
              </a:rPr>
              <a:t>                     ↓</a:t>
            </a:r>
          </a:p>
          <a:p>
            <a:pPr marL="0" indent="0">
              <a:buNone/>
            </a:pPr>
            <a:r>
              <a:rPr lang="en-US" sz="1900" dirty="0">
                <a:latin typeface="Times New Roman" panose="02020603050405020304" pitchFamily="18" charset="0"/>
                <a:cs typeface="Times New Roman" panose="02020603050405020304" pitchFamily="18" charset="0"/>
              </a:rPr>
              <a:t>   ④ PINECONE MEMORY →  Past memories matched by similarity score</a:t>
            </a:r>
          </a:p>
          <a:p>
            <a:pPr marL="0" indent="0">
              <a:buNone/>
            </a:pPr>
            <a:r>
              <a:rPr lang="en-US" sz="1900" dirty="0">
                <a:latin typeface="Times New Roman" panose="02020603050405020304" pitchFamily="18" charset="0"/>
                <a:cs typeface="Times New Roman" panose="02020603050405020304" pitchFamily="18" charset="0"/>
              </a:rPr>
              <a:t>                     ↓</a:t>
            </a:r>
          </a:p>
          <a:p>
            <a:pPr marL="0" indent="0">
              <a:buNone/>
            </a:pPr>
            <a:r>
              <a:rPr lang="en-US" sz="1900" dirty="0">
                <a:latin typeface="Times New Roman" panose="02020603050405020304" pitchFamily="18" charset="0"/>
                <a:cs typeface="Times New Roman" panose="02020603050405020304" pitchFamily="18" charset="0"/>
              </a:rPr>
              <a:t>   ⑤ MHQ CALCULATOR  →  Live score updated (0–100 dynamic)</a:t>
            </a:r>
          </a:p>
          <a:p>
            <a:pPr marL="0" indent="0">
              <a:buNone/>
            </a:pPr>
            <a:r>
              <a:rPr lang="en-US" sz="1900" dirty="0">
                <a:latin typeface="Times New Roman" panose="02020603050405020304" pitchFamily="18" charset="0"/>
                <a:cs typeface="Times New Roman" panose="02020603050405020304" pitchFamily="18" charset="0"/>
              </a:rPr>
              <a:t>                     ↓</a:t>
            </a:r>
          </a:p>
          <a:p>
            <a:pPr marL="0" indent="0">
              <a:buNone/>
            </a:pPr>
            <a:r>
              <a:rPr lang="en-US" sz="1900" dirty="0">
                <a:latin typeface="Times New Roman" panose="02020603050405020304" pitchFamily="18" charset="0"/>
                <a:cs typeface="Times New Roman" panose="02020603050405020304" pitchFamily="18" charset="0"/>
              </a:rPr>
              <a:t>   ⑥ DUAL RESPONSE   →  Backend: Doctor Report | Frontend: Empathy Chat</a:t>
            </a:r>
          </a:p>
          <a:p>
            <a:pPr marL="0" indent="0">
              <a:buNone/>
            </a:pPr>
            <a:endParaRPr lang="en-US" sz="2000" dirty="0"/>
          </a:p>
          <a:p>
            <a:pPr marL="0" indent="0">
              <a:buNone/>
            </a:pPr>
            <a:endParaRPr lang="en-IN" dirty="0"/>
          </a:p>
        </p:txBody>
      </p:sp>
      <p:sp>
        <p:nvSpPr>
          <p:cNvPr id="2" name="TextBox 1">
            <a:extLst>
              <a:ext uri="{FF2B5EF4-FFF2-40B4-BE49-F238E27FC236}">
                <a16:creationId xmlns:a16="http://schemas.microsoft.com/office/drawing/2014/main" id="{AE7DB0FC-210C-6BBB-DB60-3D83F578CB29}"/>
              </a:ext>
            </a:extLst>
          </p:cNvPr>
          <p:cNvSpPr txBox="1"/>
          <p:nvPr/>
        </p:nvSpPr>
        <p:spPr>
          <a:xfrm>
            <a:off x="644525" y="1049271"/>
            <a:ext cx="6165342" cy="1107996"/>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BERT = </a:t>
            </a:r>
            <a:r>
              <a:rPr lang="en-US" sz="1600" b="1" dirty="0">
                <a:latin typeface="Times New Roman" panose="02020603050405020304" pitchFamily="18" charset="0"/>
                <a:cs typeface="Times New Roman" panose="02020603050405020304" pitchFamily="18" charset="0"/>
              </a:rPr>
              <a:t>Bidirectional Encoder Representations from Transformers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It reads patient text </a:t>
            </a:r>
            <a:r>
              <a:rPr lang="en-US" sz="1600" b="1" dirty="0">
                <a:latin typeface="Times New Roman" panose="02020603050405020304" pitchFamily="18" charset="0"/>
                <a:cs typeface="Times New Roman" panose="02020603050405020304" pitchFamily="18" charset="0"/>
              </a:rPr>
              <a:t>both left-to-right AND right-to-left</a:t>
            </a:r>
            <a:r>
              <a:rPr lang="en-US" sz="1600" dirty="0">
                <a:latin typeface="Times New Roman" panose="02020603050405020304" pitchFamily="18" charset="0"/>
                <a:cs typeface="Times New Roman" panose="02020603050405020304" pitchFamily="18" charset="0"/>
              </a:rPr>
              <a:t> simultaneously</a:t>
            </a:r>
          </a:p>
          <a:p>
            <a:r>
              <a:rPr lang="en-US" sz="1600" dirty="0">
                <a:latin typeface="Times New Roman" panose="02020603050405020304" pitchFamily="18" charset="0"/>
                <a:cs typeface="Times New Roman" panose="02020603050405020304" pitchFamily="18" charset="0"/>
              </a:rPr>
              <a:t>This means it understands </a:t>
            </a:r>
            <a:r>
              <a:rPr lang="en-US" sz="1600" b="1" dirty="0">
                <a:latin typeface="Times New Roman" panose="02020603050405020304" pitchFamily="18" charset="0"/>
                <a:cs typeface="Times New Roman" panose="02020603050405020304" pitchFamily="18" charset="0"/>
              </a:rPr>
              <a:t>context</a:t>
            </a:r>
            <a:r>
              <a:rPr lang="en-US" sz="1600" dirty="0">
                <a:latin typeface="Times New Roman" panose="02020603050405020304" pitchFamily="18" charset="0"/>
                <a:cs typeface="Times New Roman" panose="02020603050405020304" pitchFamily="18" charset="0"/>
              </a:rPr>
              <a:t>, not just keywords</a:t>
            </a:r>
          </a:p>
          <a:p>
            <a:endParaRPr lang="en-IN" dirty="0"/>
          </a:p>
        </p:txBody>
      </p:sp>
      <p:sp>
        <p:nvSpPr>
          <p:cNvPr id="3" name="TextBox 2">
            <a:extLst>
              <a:ext uri="{FF2B5EF4-FFF2-40B4-BE49-F238E27FC236}">
                <a16:creationId xmlns:a16="http://schemas.microsoft.com/office/drawing/2014/main" id="{CA5A0FB1-5111-D0DB-B578-423B2CDBC0CD}"/>
              </a:ext>
            </a:extLst>
          </p:cNvPr>
          <p:cNvSpPr txBox="1"/>
          <p:nvPr/>
        </p:nvSpPr>
        <p:spPr>
          <a:xfrm>
            <a:off x="7002731" y="2465358"/>
            <a:ext cx="5189268" cy="3570208"/>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BERT Output Example:</a:t>
            </a:r>
          </a:p>
          <a:p>
            <a:r>
              <a:rPr lang="en-IN" sz="1600" dirty="0">
                <a:latin typeface="Times New Roman" panose="02020603050405020304" pitchFamily="18" charset="0"/>
                <a:cs typeface="Times New Roman" panose="02020603050405020304" pitchFamily="18" charset="0"/>
              </a:rPr>
              <a:t>Patient says:</a:t>
            </a:r>
          </a:p>
          <a:p>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"I've been feeling tired, nothing excites me anymore...“</a:t>
            </a:r>
          </a:p>
          <a:p>
            <a:r>
              <a:rPr lang="en-IN" sz="1600" dirty="0">
                <a:latin typeface="Times New Roman" panose="02020603050405020304" pitchFamily="18" charset="0"/>
                <a:cs typeface="Times New Roman" panose="02020603050405020304" pitchFamily="18" charset="0"/>
              </a:rPr>
              <a:t>BERT detects:</a:t>
            </a:r>
          </a:p>
          <a:p>
            <a:r>
              <a:rPr lang="en-IN" sz="1600" dirty="0">
                <a:latin typeface="Times New Roman" panose="02020603050405020304" pitchFamily="18" charset="0"/>
                <a:cs typeface="Times New Roman" panose="02020603050405020304" pitchFamily="18" charset="0"/>
              </a:rPr>
              <a:t>          Sadness               → 84.3%</a:t>
            </a:r>
          </a:p>
          <a:p>
            <a:r>
              <a:rPr lang="en-IN" sz="1600" dirty="0">
                <a:latin typeface="Times New Roman" panose="02020603050405020304" pitchFamily="18" charset="0"/>
                <a:cs typeface="Times New Roman" panose="02020603050405020304" pitchFamily="18" charset="0"/>
              </a:rPr>
              <a:t>          Hopelessness      → 71.2%</a:t>
            </a:r>
          </a:p>
          <a:p>
            <a:r>
              <a:rPr lang="en-IN" sz="1600" dirty="0">
                <a:latin typeface="Times New Roman" panose="02020603050405020304" pitchFamily="18" charset="0"/>
                <a:cs typeface="Times New Roman" panose="02020603050405020304" pitchFamily="18" charset="0"/>
              </a:rPr>
              <a:t>          Anhedonia          → 68.9%</a:t>
            </a:r>
          </a:p>
          <a:p>
            <a:r>
              <a:rPr lang="en-IN" sz="1600" dirty="0">
                <a:latin typeface="Times New Roman" panose="02020603050405020304" pitchFamily="18" charset="0"/>
                <a:cs typeface="Times New Roman" panose="02020603050405020304" pitchFamily="18" charset="0"/>
              </a:rPr>
              <a:t>          Exhaustion         → 61.4%</a:t>
            </a:r>
          </a:p>
          <a:p>
            <a:r>
              <a:rPr lang="en-IN" sz="1600" dirty="0">
                <a:latin typeface="Times New Roman" panose="02020603050405020304" pitchFamily="18" charset="0"/>
                <a:cs typeface="Times New Roman" panose="02020603050405020304" pitchFamily="18" charset="0"/>
              </a:rPr>
              <a:t>          Joy                      → 2.1%</a:t>
            </a:r>
          </a:p>
          <a:p>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BERT measures. </a:t>
            </a:r>
            <a:r>
              <a:rPr lang="en-US" sz="1600" dirty="0" err="1">
                <a:latin typeface="Times New Roman" panose="02020603050405020304" pitchFamily="18" charset="0"/>
                <a:cs typeface="Times New Roman" panose="02020603050405020304" pitchFamily="18" charset="0"/>
              </a:rPr>
              <a:t>FastAPI</a:t>
            </a:r>
            <a:r>
              <a:rPr lang="en-US" sz="1600" dirty="0">
                <a:latin typeface="Times New Roman" panose="02020603050405020304" pitchFamily="18" charset="0"/>
                <a:cs typeface="Times New Roman" panose="02020603050405020304" pitchFamily="18" charset="0"/>
              </a:rPr>
              <a:t> protects. Pinecone remembers. Claude speaks. — All in under 2 seconds.</a:t>
            </a:r>
            <a:endParaRPr lang="en-IN" sz="1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6645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A7AB1-5E69-0860-7BDC-710720A0672E}"/>
              </a:ext>
            </a:extLst>
          </p:cNvPr>
          <p:cNvSpPr>
            <a:spLocks noGrp="1"/>
          </p:cNvSpPr>
          <p:nvPr>
            <p:ph type="title"/>
          </p:nvPr>
        </p:nvSpPr>
        <p:spPr>
          <a:xfrm>
            <a:off x="336635" y="188059"/>
            <a:ext cx="10515240" cy="1325160"/>
          </a:xfrm>
        </p:spPr>
        <p:txBody>
          <a:bodyPr/>
          <a:lstStyle/>
          <a:p>
            <a:r>
              <a:rPr lang="en-US" sz="3600" b="1" dirty="0">
                <a:latin typeface="Times New Roman" panose="02020603050405020304" pitchFamily="18" charset="0"/>
                <a:cs typeface="Times New Roman" panose="02020603050405020304" pitchFamily="18" charset="0"/>
              </a:rPr>
              <a:t>RAG (Retrieval-Augmented Generation) – Intelligent Memory &amp; Clinical Knowledge Engine</a:t>
            </a:r>
            <a:endParaRPr lang="en-IN" sz="36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16312DD7-879B-7638-A3B2-FE2CAFA76A50}"/>
              </a:ext>
            </a:extLst>
          </p:cNvPr>
          <p:cNvSpPr>
            <a:spLocks noGrp="1"/>
          </p:cNvSpPr>
          <p:nvPr>
            <p:ph type="body"/>
          </p:nvPr>
        </p:nvSpPr>
        <p:spPr>
          <a:xfrm>
            <a:off x="420209" y="1513219"/>
            <a:ext cx="11351582" cy="1325160"/>
          </a:xfrm>
        </p:spPr>
        <p:txBody>
          <a:bodyPr/>
          <a:lstStyle/>
          <a:p>
            <a:pPr marL="0" indent="0">
              <a:buNone/>
            </a:pPr>
            <a:r>
              <a:rPr lang="en-US" sz="1800" dirty="0">
                <a:latin typeface="Times New Roman" panose="02020603050405020304" pitchFamily="18" charset="0"/>
                <a:cs typeface="Times New Roman" panose="02020603050405020304" pitchFamily="18" charset="0"/>
              </a:rPr>
              <a:t>Keffi AI uses </a:t>
            </a:r>
            <a:r>
              <a:rPr lang="en-US" sz="1800" b="1" dirty="0">
                <a:latin typeface="Times New Roman" panose="02020603050405020304" pitchFamily="18" charset="0"/>
                <a:cs typeface="Times New Roman" panose="02020603050405020304" pitchFamily="18" charset="0"/>
              </a:rPr>
              <a:t>RAG (Retrieval-Augmented Generation)</a:t>
            </a:r>
            <a:r>
              <a:rPr lang="en-US" sz="1800" dirty="0">
                <a:latin typeface="Times New Roman" panose="02020603050405020304" pitchFamily="18" charset="0"/>
                <a:cs typeface="Times New Roman" panose="02020603050405020304" pitchFamily="18" charset="0"/>
              </a:rPr>
              <a:t> to provide emotionally accurate, context-aware, and personalized mental health support instead of giving generic chatbot replies.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RAG system combines the power of Large Language Models with a secure emotional memory database to retrieve relevant patient history, emotional patterns, therapeutic responses, and clinically validated mental health knowledge in real time.</a:t>
            </a:r>
            <a:endParaRPr lang="en-IN"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4A820B8-EF42-B139-6B21-3423720A368A}"/>
              </a:ext>
            </a:extLst>
          </p:cNvPr>
          <p:cNvSpPr txBox="1"/>
          <p:nvPr/>
        </p:nvSpPr>
        <p:spPr>
          <a:xfrm>
            <a:off x="420209" y="2949677"/>
            <a:ext cx="5112773" cy="424731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How RAG Works in Keffi AI</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User Interaction Input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user shares emotions, stress, anxiety, panic, or depressive thoughts through chat. </a:t>
            </a:r>
          </a:p>
          <a:p>
            <a:r>
              <a:rPr lang="en-US" b="1" dirty="0">
                <a:latin typeface="Times New Roman" panose="02020603050405020304" pitchFamily="18" charset="0"/>
                <a:cs typeface="Times New Roman" panose="02020603050405020304" pitchFamily="18" charset="0"/>
              </a:rPr>
              <a:t>Emotion &amp; Intent Analysis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AI analyzes the user’s emotional state, severity level, behavioral intent, and conversation context using NLP and sentiment analysis.</a:t>
            </a:r>
            <a:r>
              <a:rPr lang="en-US" b="1"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Retrieval from Memory &amp; Knowledge Base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RAG retrieves: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Previous emotional conversations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Patient mood history </a:t>
            </a:r>
          </a:p>
          <a:p>
            <a:endParaRPr lang="en-US" dirty="0"/>
          </a:p>
          <a:p>
            <a:endParaRPr lang="en-IN" dirty="0"/>
          </a:p>
        </p:txBody>
      </p:sp>
      <p:sp>
        <p:nvSpPr>
          <p:cNvPr id="5" name="TextBox 4">
            <a:extLst>
              <a:ext uri="{FF2B5EF4-FFF2-40B4-BE49-F238E27FC236}">
                <a16:creationId xmlns:a16="http://schemas.microsoft.com/office/drawing/2014/main" id="{05A27CAA-355D-E4E0-30BF-F91F226C6014}"/>
              </a:ext>
            </a:extLst>
          </p:cNvPr>
          <p:cNvSpPr txBox="1"/>
          <p:nvPr/>
        </p:nvSpPr>
        <p:spPr>
          <a:xfrm>
            <a:off x="6075889" y="3365175"/>
            <a:ext cx="5695902" cy="341632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Therapy-based response patterns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CBT/ACT psychological frameworks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Crisis intervention protocols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Personalized coping strategies </a:t>
            </a:r>
          </a:p>
          <a:p>
            <a:r>
              <a:rPr lang="en-US" b="1" dirty="0">
                <a:latin typeface="Times New Roman" panose="02020603050405020304" pitchFamily="18" charset="0"/>
                <a:cs typeface="Times New Roman" panose="02020603050405020304" pitchFamily="18" charset="0"/>
              </a:rPr>
              <a:t>Context-Aware AI Generation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LLM generates highly empathetic and clinically aligned responses based on the retrieved emotional context rather than random internet-generated answers. </a:t>
            </a:r>
            <a:r>
              <a:rPr lang="en-US" b="1" dirty="0">
                <a:latin typeface="Times New Roman" panose="02020603050405020304" pitchFamily="18" charset="0"/>
                <a:cs typeface="Times New Roman" panose="02020603050405020304" pitchFamily="18" charset="0"/>
              </a:rPr>
              <a:t>Continuous Emotional Learning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Keffi continuously updates the user’s emotional memory profile to improve future conversations, emotional prediction, and therapeutic accuracy.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9216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F8F73-68D7-D2C3-E1CD-3C9807ABA751}"/>
              </a:ext>
            </a:extLst>
          </p:cNvPr>
          <p:cNvSpPr>
            <a:spLocks noGrp="1"/>
          </p:cNvSpPr>
          <p:nvPr>
            <p:ph type="title"/>
          </p:nvPr>
        </p:nvSpPr>
        <p:spPr>
          <a:xfrm>
            <a:off x="287473" y="207724"/>
            <a:ext cx="6890075" cy="736173"/>
          </a:xfrm>
        </p:spPr>
        <p:txBody>
          <a:bodyPr/>
          <a:lstStyle/>
          <a:p>
            <a:r>
              <a:rPr lang="en-IN" sz="3600" b="1" dirty="0">
                <a:latin typeface="Times New Roman" panose="02020603050405020304" pitchFamily="18" charset="0"/>
                <a:cs typeface="Times New Roman" panose="02020603050405020304" pitchFamily="18" charset="0"/>
              </a:rPr>
              <a:t>DATASET &amp; TRAINING DATA</a:t>
            </a:r>
          </a:p>
        </p:txBody>
      </p:sp>
      <p:sp>
        <p:nvSpPr>
          <p:cNvPr id="3" name="Text Placeholder 2">
            <a:extLst>
              <a:ext uri="{FF2B5EF4-FFF2-40B4-BE49-F238E27FC236}">
                <a16:creationId xmlns:a16="http://schemas.microsoft.com/office/drawing/2014/main" id="{EADAC069-6B04-BD3E-05DC-ACEB40E68593}"/>
              </a:ext>
            </a:extLst>
          </p:cNvPr>
          <p:cNvSpPr>
            <a:spLocks noGrp="1"/>
          </p:cNvSpPr>
          <p:nvPr>
            <p:ph type="body"/>
          </p:nvPr>
        </p:nvSpPr>
        <p:spPr>
          <a:xfrm>
            <a:off x="405461" y="1666474"/>
            <a:ext cx="5110435" cy="3937913"/>
          </a:xfrm>
        </p:spPr>
        <p:txBody>
          <a:bodyPr/>
          <a:lstStyle/>
          <a:p>
            <a:pPr marL="0" indent="0">
              <a:buNone/>
            </a:pPr>
            <a:r>
              <a:rPr lang="en-US" sz="2000" b="1" dirty="0" err="1">
                <a:latin typeface="Times New Roman" panose="02020603050405020304" pitchFamily="18" charset="0"/>
                <a:cs typeface="Times New Roman" panose="02020603050405020304" pitchFamily="18" charset="0"/>
              </a:rPr>
              <a:t>GoEmotions</a:t>
            </a:r>
            <a:r>
              <a:rPr lang="en-US" sz="2000" b="1" dirty="0">
                <a:latin typeface="Times New Roman" panose="02020603050405020304" pitchFamily="18" charset="0"/>
                <a:cs typeface="Times New Roman" panose="02020603050405020304" pitchFamily="18" charset="0"/>
              </a:rPr>
              <a:t> Dataset</a:t>
            </a:r>
          </a:p>
          <a:p>
            <a:r>
              <a:rPr lang="en-US" sz="2000" dirty="0">
                <a:latin typeface="Times New Roman" panose="02020603050405020304" pitchFamily="18" charset="0"/>
                <a:cs typeface="Times New Roman" panose="02020603050405020304" pitchFamily="18" charset="0"/>
              </a:rPr>
              <a:t>Developed by Google Research for emotion classification. </a:t>
            </a:r>
          </a:p>
          <a:p>
            <a:r>
              <a:rPr lang="en-US" sz="2000" dirty="0">
                <a:latin typeface="Times New Roman" panose="02020603050405020304" pitchFamily="18" charset="0"/>
                <a:cs typeface="Times New Roman" panose="02020603050405020304" pitchFamily="18" charset="0"/>
              </a:rPr>
              <a:t>Contains 58k+ Reddit comments labeled with 27 emotions. </a:t>
            </a:r>
          </a:p>
          <a:p>
            <a:r>
              <a:rPr lang="en-US" sz="2000" dirty="0">
                <a:latin typeface="Times New Roman" panose="02020603050405020304" pitchFamily="18" charset="0"/>
                <a:cs typeface="Times New Roman" panose="02020603050405020304" pitchFamily="18" charset="0"/>
              </a:rPr>
              <a:t>Used for: </a:t>
            </a:r>
          </a:p>
          <a:p>
            <a:pPr lvl="1"/>
            <a:r>
              <a:rPr lang="en-US" sz="2000" dirty="0">
                <a:latin typeface="Times New Roman" panose="02020603050405020304" pitchFamily="18" charset="0"/>
                <a:cs typeface="Times New Roman" panose="02020603050405020304" pitchFamily="18" charset="0"/>
              </a:rPr>
              <a:t>Emotion detection </a:t>
            </a:r>
          </a:p>
          <a:p>
            <a:pPr lvl="1"/>
            <a:r>
              <a:rPr lang="en-US" sz="2000" dirty="0">
                <a:latin typeface="Times New Roman" panose="02020603050405020304" pitchFamily="18" charset="0"/>
                <a:cs typeface="Times New Roman" panose="02020603050405020304" pitchFamily="18" charset="0"/>
              </a:rPr>
              <a:t>Sentiment classification </a:t>
            </a:r>
          </a:p>
          <a:p>
            <a:pPr lvl="1"/>
            <a:r>
              <a:rPr lang="en-US" sz="2000" dirty="0">
                <a:latin typeface="Times New Roman" panose="02020603050405020304" pitchFamily="18" charset="0"/>
                <a:cs typeface="Times New Roman" panose="02020603050405020304" pitchFamily="18" charset="0"/>
              </a:rPr>
              <a:t>Mood intensity prediction </a:t>
            </a:r>
          </a:p>
          <a:p>
            <a:pPr lvl="1"/>
            <a:r>
              <a:rPr lang="en-US" sz="2000" dirty="0">
                <a:latin typeface="Times New Roman" panose="02020603050405020304" pitchFamily="18" charset="0"/>
                <a:cs typeface="Times New Roman" panose="02020603050405020304" pitchFamily="18" charset="0"/>
              </a:rPr>
              <a:t>Real-time emotional understanding</a:t>
            </a:r>
          </a:p>
          <a:p>
            <a:pPr marL="0" indent="0">
              <a:buNone/>
            </a:pPr>
            <a:endParaRPr lang="en-IN" dirty="0"/>
          </a:p>
        </p:txBody>
      </p:sp>
      <p:sp>
        <p:nvSpPr>
          <p:cNvPr id="4" name="TextBox 3">
            <a:extLst>
              <a:ext uri="{FF2B5EF4-FFF2-40B4-BE49-F238E27FC236}">
                <a16:creationId xmlns:a16="http://schemas.microsoft.com/office/drawing/2014/main" id="{CFABD922-0CC0-F6F5-6EAE-E3ABF72AC8CC}"/>
              </a:ext>
            </a:extLst>
          </p:cNvPr>
          <p:cNvSpPr txBox="1"/>
          <p:nvPr/>
        </p:nvSpPr>
        <p:spPr>
          <a:xfrm>
            <a:off x="6361471" y="1666474"/>
            <a:ext cx="5297251" cy="3447098"/>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Clinical Dialogue Dataset</a:t>
            </a:r>
          </a:p>
          <a:p>
            <a:r>
              <a:rPr lang="en-IN" sz="2000" dirty="0">
                <a:latin typeface="Times New Roman" panose="02020603050405020304" pitchFamily="18" charset="0"/>
                <a:cs typeface="Times New Roman" panose="02020603050405020304" pitchFamily="18" charset="0"/>
              </a:rPr>
              <a:t>Collection of therapist–patient style mental health conversations. </a:t>
            </a:r>
          </a:p>
          <a:p>
            <a:r>
              <a:rPr lang="en-IN" sz="2000" dirty="0">
                <a:latin typeface="Times New Roman" panose="02020603050405020304" pitchFamily="18" charset="0"/>
                <a:cs typeface="Times New Roman" panose="02020603050405020304" pitchFamily="18" charset="0"/>
              </a:rPr>
              <a:t>Used to train empathetic and context-aware responses. </a:t>
            </a:r>
          </a:p>
          <a:p>
            <a:r>
              <a:rPr lang="en-IN" sz="2000" dirty="0">
                <a:latin typeface="Times New Roman" panose="02020603050405020304" pitchFamily="18" charset="0"/>
                <a:cs typeface="Times New Roman" panose="02020603050405020304" pitchFamily="18" charset="0"/>
              </a:rPr>
              <a:t>Helps Keffi generate: </a:t>
            </a:r>
          </a:p>
          <a:p>
            <a:pPr lvl="1"/>
            <a:r>
              <a:rPr lang="en-IN" sz="2000" dirty="0">
                <a:latin typeface="Times New Roman" panose="02020603050405020304" pitchFamily="18" charset="0"/>
                <a:cs typeface="Times New Roman" panose="02020603050405020304" pitchFamily="18" charset="0"/>
              </a:rPr>
              <a:t>Therapeutic communication </a:t>
            </a:r>
          </a:p>
          <a:p>
            <a:pPr lvl="1"/>
            <a:r>
              <a:rPr lang="en-IN" sz="2000" dirty="0">
                <a:latin typeface="Times New Roman" panose="02020603050405020304" pitchFamily="18" charset="0"/>
                <a:cs typeface="Times New Roman" panose="02020603050405020304" pitchFamily="18" charset="0"/>
              </a:rPr>
              <a:t>Reflective questioning </a:t>
            </a:r>
          </a:p>
          <a:p>
            <a:pPr lvl="1"/>
            <a:r>
              <a:rPr lang="en-IN" sz="2000" dirty="0">
                <a:latin typeface="Times New Roman" panose="02020603050405020304" pitchFamily="18" charset="0"/>
                <a:cs typeface="Times New Roman" panose="02020603050405020304" pitchFamily="18" charset="0"/>
              </a:rPr>
              <a:t>CBT-style responses </a:t>
            </a:r>
          </a:p>
          <a:p>
            <a:pPr lvl="1"/>
            <a:r>
              <a:rPr lang="en-IN" sz="2000" dirty="0">
                <a:latin typeface="Times New Roman" panose="02020603050405020304" pitchFamily="18" charset="0"/>
                <a:cs typeface="Times New Roman" panose="02020603050405020304" pitchFamily="18" charset="0"/>
              </a:rPr>
              <a:t>Crisis-aware conversations</a:t>
            </a:r>
          </a:p>
          <a:p>
            <a:endParaRPr lang="en-IN" dirty="0"/>
          </a:p>
        </p:txBody>
      </p:sp>
    </p:spTree>
    <p:extLst>
      <p:ext uri="{BB962C8B-B14F-4D97-AF65-F5344CB8AC3E}">
        <p14:creationId xmlns:p14="http://schemas.microsoft.com/office/powerpoint/2010/main" val="1712990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F8D4D-4FEB-C58F-C4CB-94703B4764C8}"/>
              </a:ext>
            </a:extLst>
          </p:cNvPr>
          <p:cNvSpPr>
            <a:spLocks noGrp="1"/>
          </p:cNvSpPr>
          <p:nvPr>
            <p:ph type="title"/>
          </p:nvPr>
        </p:nvSpPr>
        <p:spPr>
          <a:xfrm>
            <a:off x="651735" y="559082"/>
            <a:ext cx="10155040" cy="1023911"/>
          </a:xfrm>
        </p:spPr>
        <p:txBody>
          <a:bodyPr/>
          <a:lstStyle/>
          <a:p>
            <a:r>
              <a:rPr lang="en-US" sz="3600" b="1" dirty="0">
                <a:latin typeface="Times New Roman" panose="02020603050405020304" pitchFamily="18" charset="0"/>
                <a:cs typeface="Times New Roman" panose="02020603050405020304" pitchFamily="18" charset="0"/>
              </a:rPr>
              <a:t>SYSTEM ARCHITECTURE — LAYERED AI INFRASTRUCTURE</a:t>
            </a:r>
            <a:endParaRPr lang="en-IN" sz="36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608EC36-AF9C-628C-04A8-1250C284ED43}"/>
              </a:ext>
            </a:extLst>
          </p:cNvPr>
          <p:cNvSpPr>
            <a:spLocks noGrp="1"/>
          </p:cNvSpPr>
          <p:nvPr>
            <p:ph type="body"/>
          </p:nvPr>
        </p:nvSpPr>
        <p:spPr>
          <a:xfrm>
            <a:off x="521225" y="1458680"/>
            <a:ext cx="5075707" cy="5282364"/>
          </a:xfrm>
        </p:spPr>
        <p:txBody>
          <a:bodyPr/>
          <a:lstStyle/>
          <a:p>
            <a:pPr marL="0" indent="0">
              <a:buNone/>
            </a:pPr>
            <a:r>
              <a:rPr lang="en-IN" sz="2800" b="1" dirty="0">
                <a:latin typeface="Times New Roman" panose="02020603050405020304" pitchFamily="18" charset="0"/>
                <a:cs typeface="Times New Roman" panose="02020603050405020304" pitchFamily="18" charset="0"/>
              </a:rPr>
              <a:t>User Interface Layer (Frontend)</a:t>
            </a:r>
          </a:p>
          <a:p>
            <a:pPr marL="0" indent="0">
              <a:buNone/>
            </a:pPr>
            <a:r>
              <a:rPr lang="en-IN" sz="1800" dirty="0">
                <a:latin typeface="Times New Roman" panose="02020603050405020304" pitchFamily="18" charset="0"/>
                <a:cs typeface="Times New Roman" panose="02020603050405020304" pitchFamily="18" charset="0"/>
              </a:rPr>
              <a:t>Built using </a:t>
            </a:r>
            <a:r>
              <a:rPr lang="en-IN" sz="1800" b="1" dirty="0">
                <a:latin typeface="Times New Roman" panose="02020603050405020304" pitchFamily="18" charset="0"/>
                <a:cs typeface="Times New Roman" panose="02020603050405020304" pitchFamily="18" charset="0"/>
              </a:rPr>
              <a:t>React + Tailwind CSS</a:t>
            </a:r>
            <a:r>
              <a:rPr lang="en-IN" sz="1800" dirty="0">
                <a:latin typeface="Times New Roman" panose="02020603050405020304" pitchFamily="18" charset="0"/>
                <a:cs typeface="Times New Roman" panose="02020603050405020304" pitchFamily="18" charset="0"/>
              </a:rPr>
              <a:t> </a:t>
            </a:r>
          </a:p>
          <a:p>
            <a:pPr marL="0" indent="0">
              <a:buNone/>
            </a:pPr>
            <a:r>
              <a:rPr lang="en-IN" sz="1800" dirty="0">
                <a:latin typeface="Times New Roman" panose="02020603050405020304" pitchFamily="18" charset="0"/>
                <a:cs typeface="Times New Roman" panose="02020603050405020304" pitchFamily="18" charset="0"/>
              </a:rPr>
              <a:t>Provides: </a:t>
            </a:r>
          </a:p>
          <a:p>
            <a:pPr lvl="1"/>
            <a:r>
              <a:rPr lang="en-IN" sz="1800" dirty="0">
                <a:latin typeface="Times New Roman" panose="02020603050405020304" pitchFamily="18" charset="0"/>
                <a:cs typeface="Times New Roman" panose="02020603050405020304" pitchFamily="18" charset="0"/>
              </a:rPr>
              <a:t>Patient Sanctuary (chat, mood tracking, tools) </a:t>
            </a:r>
          </a:p>
          <a:p>
            <a:pPr lvl="1"/>
            <a:r>
              <a:rPr lang="en-IN" sz="1800" dirty="0">
                <a:latin typeface="Times New Roman" panose="02020603050405020304" pitchFamily="18" charset="0"/>
                <a:cs typeface="Times New Roman" panose="02020603050405020304" pitchFamily="18" charset="0"/>
              </a:rPr>
              <a:t>Admin Dashboard (doctor monitoring) </a:t>
            </a:r>
          </a:p>
          <a:p>
            <a:pPr marL="0" indent="0">
              <a:buNone/>
            </a:pPr>
            <a:r>
              <a:rPr lang="en-IN" sz="1800" dirty="0">
                <a:latin typeface="Times New Roman" panose="02020603050405020304" pitchFamily="18" charset="0"/>
                <a:cs typeface="Times New Roman" panose="02020603050405020304" pitchFamily="18" charset="0"/>
              </a:rPr>
              <a:t>Handles: </a:t>
            </a:r>
          </a:p>
          <a:p>
            <a:pPr lvl="1"/>
            <a:r>
              <a:rPr lang="en-IN" sz="1800" dirty="0">
                <a:latin typeface="Times New Roman" panose="02020603050405020304" pitchFamily="18" charset="0"/>
                <a:cs typeface="Times New Roman" panose="02020603050405020304" pitchFamily="18" charset="0"/>
              </a:rPr>
              <a:t>User input (text / voice) </a:t>
            </a:r>
          </a:p>
          <a:p>
            <a:pPr lvl="1"/>
            <a:r>
              <a:rPr lang="en-IN" sz="1800" dirty="0">
                <a:latin typeface="Times New Roman" panose="02020603050405020304" pitchFamily="18" charset="0"/>
                <a:cs typeface="Times New Roman" panose="02020603050405020304" pitchFamily="18" charset="0"/>
              </a:rPr>
              <a:t>Mood check-ins &amp; interaction</a:t>
            </a:r>
          </a:p>
          <a:p>
            <a:pPr marL="0" indent="0">
              <a:buNone/>
            </a:pPr>
            <a:endParaRPr lang="en-IN" dirty="0"/>
          </a:p>
        </p:txBody>
      </p:sp>
      <p:sp>
        <p:nvSpPr>
          <p:cNvPr id="4" name="TextBox 3">
            <a:extLst>
              <a:ext uri="{FF2B5EF4-FFF2-40B4-BE49-F238E27FC236}">
                <a16:creationId xmlns:a16="http://schemas.microsoft.com/office/drawing/2014/main" id="{4C1C4994-FEC1-C0AB-2B03-400EE8E397B9}"/>
              </a:ext>
            </a:extLst>
          </p:cNvPr>
          <p:cNvSpPr txBox="1"/>
          <p:nvPr/>
        </p:nvSpPr>
        <p:spPr>
          <a:xfrm>
            <a:off x="6491237" y="2240783"/>
            <a:ext cx="4504744" cy="3447098"/>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The Brain (Backend – </a:t>
            </a:r>
            <a:r>
              <a:rPr lang="en-IN" sz="2800" b="1" dirty="0" err="1">
                <a:latin typeface="Times New Roman" panose="02020603050405020304" pitchFamily="18" charset="0"/>
                <a:cs typeface="Times New Roman" panose="02020603050405020304" pitchFamily="18" charset="0"/>
              </a:rPr>
              <a:t>FastAPI</a:t>
            </a:r>
            <a:r>
              <a:rPr lang="en-IN" sz="2800" b="1" dirty="0">
                <a:latin typeface="Times New Roman" panose="02020603050405020304" pitchFamily="18" charset="0"/>
                <a:cs typeface="Times New Roman" panose="02020603050405020304" pitchFamily="18" charset="0"/>
              </a:rPr>
              <a:t> + Python)</a:t>
            </a:r>
          </a:p>
          <a:p>
            <a:r>
              <a:rPr lang="en-IN" dirty="0">
                <a:latin typeface="Times New Roman" panose="02020603050405020304" pitchFamily="18" charset="0"/>
                <a:cs typeface="Times New Roman" panose="02020603050405020304" pitchFamily="18" charset="0"/>
              </a:rPr>
              <a:t>Core processing engine of the system </a:t>
            </a:r>
          </a:p>
          <a:p>
            <a:r>
              <a:rPr lang="en-IN" dirty="0">
                <a:latin typeface="Times New Roman" panose="02020603050405020304" pitchFamily="18" charset="0"/>
                <a:cs typeface="Times New Roman" panose="02020603050405020304" pitchFamily="18" charset="0"/>
              </a:rPr>
              <a:t>Handles: </a:t>
            </a:r>
          </a:p>
          <a:p>
            <a:pPr lvl="1"/>
            <a:r>
              <a:rPr lang="en-IN" dirty="0">
                <a:latin typeface="Times New Roman" panose="02020603050405020304" pitchFamily="18" charset="0"/>
                <a:cs typeface="Times New Roman" panose="02020603050405020304" pitchFamily="18" charset="0"/>
              </a:rPr>
              <a:t>User &amp; session management </a:t>
            </a:r>
          </a:p>
          <a:p>
            <a:pPr lvl="1"/>
            <a:r>
              <a:rPr lang="en-IN" dirty="0">
                <a:latin typeface="Times New Roman" panose="02020603050405020304" pitchFamily="18" charset="0"/>
                <a:cs typeface="Times New Roman" panose="02020603050405020304" pitchFamily="18" charset="0"/>
              </a:rPr>
              <a:t>AI logic routing </a:t>
            </a:r>
          </a:p>
          <a:p>
            <a:pPr lvl="1"/>
            <a:r>
              <a:rPr lang="en-IN" dirty="0">
                <a:latin typeface="Times New Roman" panose="02020603050405020304" pitchFamily="18" charset="0"/>
                <a:cs typeface="Times New Roman" panose="02020603050405020304" pitchFamily="18" charset="0"/>
              </a:rPr>
              <a:t>Risk assessment &amp; alerts </a:t>
            </a:r>
          </a:p>
          <a:p>
            <a:pPr lvl="1"/>
            <a:r>
              <a:rPr lang="en-IN" dirty="0">
                <a:latin typeface="Times New Roman" panose="02020603050405020304" pitchFamily="18" charset="0"/>
                <a:cs typeface="Times New Roman" panose="02020603050405020304" pitchFamily="18" charset="0"/>
              </a:rPr>
              <a:t>Clinical safety checks </a:t>
            </a:r>
          </a:p>
          <a:p>
            <a:r>
              <a:rPr lang="en-IN" dirty="0">
                <a:latin typeface="Times New Roman" panose="02020603050405020304" pitchFamily="18" charset="0"/>
                <a:cs typeface="Times New Roman" panose="02020603050405020304" pitchFamily="18" charset="0"/>
              </a:rPr>
              <a:t>Uses: </a:t>
            </a:r>
          </a:p>
          <a:p>
            <a:pPr lvl="1"/>
            <a:r>
              <a:rPr lang="en-IN" dirty="0">
                <a:latin typeface="Times New Roman" panose="02020603050405020304" pitchFamily="18" charset="0"/>
                <a:cs typeface="Times New Roman" panose="02020603050405020304" pitchFamily="18" charset="0"/>
              </a:rPr>
              <a:t>REST APIs, </a:t>
            </a:r>
            <a:r>
              <a:rPr lang="en-IN" dirty="0" err="1">
                <a:latin typeface="Times New Roman" panose="02020603050405020304" pitchFamily="18" charset="0"/>
                <a:cs typeface="Times New Roman" panose="02020603050405020304" pitchFamily="18" charset="0"/>
              </a:rPr>
              <a:t>WebSockets</a:t>
            </a:r>
            <a:r>
              <a:rPr lang="en-IN" dirty="0">
                <a:latin typeface="Times New Roman" panose="02020603050405020304" pitchFamily="18" charset="0"/>
                <a:cs typeface="Times New Roman" panose="02020603050405020304" pitchFamily="18" charset="0"/>
              </a:rPr>
              <a:t>, Webhooks</a:t>
            </a:r>
          </a:p>
          <a:p>
            <a:endParaRPr lang="en-IN" dirty="0"/>
          </a:p>
        </p:txBody>
      </p:sp>
    </p:spTree>
    <p:extLst>
      <p:ext uri="{BB962C8B-B14F-4D97-AF65-F5344CB8AC3E}">
        <p14:creationId xmlns:p14="http://schemas.microsoft.com/office/powerpoint/2010/main" val="2697931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91EC096-6637-1225-8452-BA008B032BFB}"/>
              </a:ext>
            </a:extLst>
          </p:cNvPr>
          <p:cNvSpPr>
            <a:spLocks noGrp="1"/>
          </p:cNvSpPr>
          <p:nvPr>
            <p:ph type="body"/>
          </p:nvPr>
        </p:nvSpPr>
        <p:spPr>
          <a:xfrm>
            <a:off x="838080" y="345440"/>
            <a:ext cx="10515240" cy="6116320"/>
          </a:xfrm>
        </p:spPr>
        <p:txBody>
          <a:bodyPr/>
          <a:lstStyle/>
          <a:p>
            <a:pPr marL="0" indent="0">
              <a:buNone/>
            </a:pPr>
            <a:endParaRPr lang="en-IN" b="1" dirty="0"/>
          </a:p>
          <a:p>
            <a:pPr marL="0" indent="0">
              <a:buNone/>
            </a:pPr>
            <a:endParaRPr lang="en-IN" b="1" dirty="0"/>
          </a:p>
          <a:p>
            <a:pPr marL="0" indent="0">
              <a:buNone/>
            </a:pPr>
            <a:endParaRPr lang="en-IN" dirty="0"/>
          </a:p>
        </p:txBody>
      </p:sp>
      <p:pic>
        <p:nvPicPr>
          <p:cNvPr id="7" name="Picture 6">
            <a:extLst>
              <a:ext uri="{FF2B5EF4-FFF2-40B4-BE49-F238E27FC236}">
                <a16:creationId xmlns:a16="http://schemas.microsoft.com/office/drawing/2014/main" id="{6C4737A6-DAB6-582E-13C1-E784D8309F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537" y="108020"/>
            <a:ext cx="10203181" cy="6641960"/>
          </a:xfrm>
          <a:prstGeom prst="rect">
            <a:avLst/>
          </a:prstGeom>
        </p:spPr>
      </p:pic>
    </p:spTree>
    <p:extLst>
      <p:ext uri="{BB962C8B-B14F-4D97-AF65-F5344CB8AC3E}">
        <p14:creationId xmlns:p14="http://schemas.microsoft.com/office/powerpoint/2010/main" val="3964967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22D2ACC-8BBE-FFEF-D2A8-9E8835D2C825}"/>
              </a:ext>
            </a:extLst>
          </p:cNvPr>
          <p:cNvSpPr>
            <a:spLocks noGrp="1"/>
          </p:cNvSpPr>
          <p:nvPr>
            <p:ph type="body"/>
          </p:nvPr>
        </p:nvSpPr>
        <p:spPr>
          <a:xfrm>
            <a:off x="838080" y="190919"/>
            <a:ext cx="3874597" cy="3074795"/>
          </a:xfrm>
        </p:spPr>
        <p:txBody>
          <a:bodyPr/>
          <a:lstStyle/>
          <a:p>
            <a:pPr marL="0" indent="0">
              <a:buNone/>
            </a:pPr>
            <a:r>
              <a:rPr lang="en-IN" sz="2800" b="1" dirty="0">
                <a:latin typeface="Times New Roman" panose="02020603050405020304" pitchFamily="18" charset="0"/>
                <a:cs typeface="Times New Roman" panose="02020603050405020304" pitchFamily="18" charset="0"/>
              </a:rPr>
              <a:t>Memory &amp; NLP Core</a:t>
            </a:r>
          </a:p>
          <a:p>
            <a:pPr marL="0" indent="0">
              <a:buNone/>
            </a:pPr>
            <a:r>
              <a:rPr lang="en-IN" sz="1800" b="1" dirty="0">
                <a:latin typeface="Times New Roman" panose="02020603050405020304" pitchFamily="18" charset="0"/>
                <a:cs typeface="Times New Roman" panose="02020603050405020304" pitchFamily="18" charset="0"/>
              </a:rPr>
              <a:t>BERT Model</a:t>
            </a:r>
            <a:r>
              <a:rPr lang="en-IN" sz="1800" dirty="0">
                <a:latin typeface="Times New Roman" panose="02020603050405020304" pitchFamily="18" charset="0"/>
                <a:cs typeface="Times New Roman" panose="02020603050405020304" pitchFamily="18" charset="0"/>
              </a:rPr>
              <a:t> </a:t>
            </a:r>
          </a:p>
          <a:p>
            <a:pPr lvl="1"/>
            <a:r>
              <a:rPr lang="en-IN" sz="1800" dirty="0">
                <a:latin typeface="Times New Roman" panose="02020603050405020304" pitchFamily="18" charset="0"/>
                <a:cs typeface="Times New Roman" panose="02020603050405020304" pitchFamily="18" charset="0"/>
              </a:rPr>
              <a:t>Performs </a:t>
            </a:r>
            <a:r>
              <a:rPr lang="en-IN" sz="1800" b="1" dirty="0">
                <a:latin typeface="Times New Roman" panose="02020603050405020304" pitchFamily="18" charset="0"/>
                <a:cs typeface="Times New Roman" panose="02020603050405020304" pitchFamily="18" charset="0"/>
              </a:rPr>
              <a:t>96-state emotion classification</a:t>
            </a:r>
            <a:r>
              <a:rPr lang="en-IN" sz="1800" dirty="0">
                <a:latin typeface="Times New Roman" panose="02020603050405020304" pitchFamily="18" charset="0"/>
                <a:cs typeface="Times New Roman" panose="02020603050405020304" pitchFamily="18" charset="0"/>
              </a:rPr>
              <a:t> </a:t>
            </a:r>
          </a:p>
          <a:p>
            <a:pPr lvl="1"/>
            <a:r>
              <a:rPr lang="en-IN" sz="1800" dirty="0">
                <a:latin typeface="Times New Roman" panose="02020603050405020304" pitchFamily="18" charset="0"/>
                <a:cs typeface="Times New Roman" panose="02020603050405020304" pitchFamily="18" charset="0"/>
              </a:rPr>
              <a:t>Extracts sentiment + confidence score </a:t>
            </a:r>
          </a:p>
          <a:p>
            <a:pPr marL="0" indent="0">
              <a:buNone/>
            </a:pPr>
            <a:r>
              <a:rPr lang="en-IN" sz="1800" b="1" dirty="0">
                <a:latin typeface="Times New Roman" panose="02020603050405020304" pitchFamily="18" charset="0"/>
                <a:cs typeface="Times New Roman" panose="02020603050405020304" pitchFamily="18" charset="0"/>
              </a:rPr>
              <a:t>Vector Database (Pinecone)</a:t>
            </a:r>
            <a:r>
              <a:rPr lang="en-IN" sz="1800" dirty="0">
                <a:latin typeface="Times New Roman" panose="02020603050405020304" pitchFamily="18" charset="0"/>
                <a:cs typeface="Times New Roman" panose="02020603050405020304" pitchFamily="18" charset="0"/>
              </a:rPr>
              <a:t> </a:t>
            </a:r>
          </a:p>
          <a:p>
            <a:pPr lvl="1"/>
            <a:r>
              <a:rPr lang="en-IN" sz="1800" dirty="0">
                <a:latin typeface="Times New Roman" panose="02020603050405020304" pitchFamily="18" charset="0"/>
                <a:cs typeface="Times New Roman" panose="02020603050405020304" pitchFamily="18" charset="0"/>
              </a:rPr>
              <a:t>Stores conversation embeddings </a:t>
            </a:r>
          </a:p>
          <a:p>
            <a:pPr lvl="1"/>
            <a:r>
              <a:rPr lang="en-IN" sz="1800" dirty="0">
                <a:latin typeface="Times New Roman" panose="02020603050405020304" pitchFamily="18" charset="0"/>
                <a:cs typeface="Times New Roman" panose="02020603050405020304" pitchFamily="18" charset="0"/>
              </a:rPr>
              <a:t>Enables long-term memory recall</a:t>
            </a:r>
          </a:p>
          <a:p>
            <a:pPr marL="0" indent="0">
              <a:buNone/>
            </a:pPr>
            <a:endParaRPr lang="en-IN" dirty="0"/>
          </a:p>
        </p:txBody>
      </p:sp>
      <p:sp>
        <p:nvSpPr>
          <p:cNvPr id="2" name="TextBox 1">
            <a:extLst>
              <a:ext uri="{FF2B5EF4-FFF2-40B4-BE49-F238E27FC236}">
                <a16:creationId xmlns:a16="http://schemas.microsoft.com/office/drawing/2014/main" id="{D247AE1A-08B1-931A-D789-5CF622CDC291}"/>
              </a:ext>
            </a:extLst>
          </p:cNvPr>
          <p:cNvSpPr txBox="1"/>
          <p:nvPr/>
        </p:nvSpPr>
        <p:spPr>
          <a:xfrm>
            <a:off x="6672105" y="190919"/>
            <a:ext cx="4441371" cy="3570208"/>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Automation Router (n8n)</a:t>
            </a:r>
          </a:p>
          <a:p>
            <a:r>
              <a:rPr lang="en-IN" dirty="0">
                <a:latin typeface="Times New Roman" panose="02020603050405020304" pitchFamily="18" charset="0"/>
                <a:cs typeface="Times New Roman" panose="02020603050405020304" pitchFamily="18" charset="0"/>
              </a:rPr>
              <a:t>Webhook-driven automation engine </a:t>
            </a:r>
          </a:p>
          <a:p>
            <a:r>
              <a:rPr lang="en-IN" dirty="0">
                <a:latin typeface="Times New Roman" panose="02020603050405020304" pitchFamily="18" charset="0"/>
                <a:cs typeface="Times New Roman" panose="02020603050405020304" pitchFamily="18" charset="0"/>
              </a:rPr>
              <a:t>Components: </a:t>
            </a:r>
          </a:p>
          <a:p>
            <a:pPr lvl="1"/>
            <a:r>
              <a:rPr lang="en-IN" dirty="0">
                <a:latin typeface="Times New Roman" panose="02020603050405020304" pitchFamily="18" charset="0"/>
                <a:cs typeface="Times New Roman" panose="02020603050405020304" pitchFamily="18" charset="0"/>
              </a:rPr>
              <a:t>Trigger (incoming event) </a:t>
            </a:r>
          </a:p>
          <a:p>
            <a:pPr lvl="1"/>
            <a:r>
              <a:rPr lang="en-IN" dirty="0">
                <a:latin typeface="Times New Roman" panose="02020603050405020304" pitchFamily="18" charset="0"/>
                <a:cs typeface="Times New Roman" panose="02020603050405020304" pitchFamily="18" charset="0"/>
              </a:rPr>
              <a:t>Condition check (risk level) </a:t>
            </a:r>
          </a:p>
          <a:p>
            <a:pPr lvl="1"/>
            <a:r>
              <a:rPr lang="en-IN" dirty="0">
                <a:latin typeface="Times New Roman" panose="02020603050405020304" pitchFamily="18" charset="0"/>
                <a:cs typeface="Times New Roman" panose="02020603050405020304" pitchFamily="18" charset="0"/>
              </a:rPr>
              <a:t>Action router (decision flow) </a:t>
            </a:r>
          </a:p>
          <a:p>
            <a:pPr lvl="1"/>
            <a:r>
              <a:rPr lang="en-IN" dirty="0">
                <a:latin typeface="Times New Roman" panose="02020603050405020304" pitchFamily="18" charset="0"/>
                <a:cs typeface="Times New Roman" panose="02020603050405020304" pitchFamily="18" charset="0"/>
              </a:rPr>
              <a:t>Logging &amp; monitoring </a:t>
            </a:r>
          </a:p>
          <a:p>
            <a:r>
              <a:rPr lang="en-IN" dirty="0">
                <a:latin typeface="Times New Roman" panose="02020603050405020304" pitchFamily="18" charset="0"/>
                <a:cs typeface="Times New Roman" panose="02020603050405020304" pitchFamily="18" charset="0"/>
              </a:rPr>
              <a:t>Handles: </a:t>
            </a:r>
          </a:p>
          <a:p>
            <a:pPr lvl="1"/>
            <a:r>
              <a:rPr lang="en-IN" dirty="0">
                <a:latin typeface="Times New Roman" panose="02020603050405020304" pitchFamily="18" charset="0"/>
                <a:cs typeface="Times New Roman" panose="02020603050405020304" pitchFamily="18" charset="0"/>
              </a:rPr>
              <a:t>WhatsApp nudges </a:t>
            </a:r>
          </a:p>
          <a:p>
            <a:pPr lvl="1"/>
            <a:r>
              <a:rPr lang="en-IN" dirty="0">
                <a:latin typeface="Times New Roman" panose="02020603050405020304" pitchFamily="18" charset="0"/>
                <a:cs typeface="Times New Roman" panose="02020603050405020304" pitchFamily="18" charset="0"/>
              </a:rPr>
              <a:t>Crisis alerts </a:t>
            </a:r>
          </a:p>
          <a:p>
            <a:pPr lvl="1"/>
            <a:r>
              <a:rPr lang="en-IN" dirty="0">
                <a:latin typeface="Times New Roman" panose="02020603050405020304" pitchFamily="18" charset="0"/>
                <a:cs typeface="Times New Roman" panose="02020603050405020304" pitchFamily="18" charset="0"/>
              </a:rPr>
              <a:t>Doctor notifications</a:t>
            </a:r>
          </a:p>
          <a:p>
            <a:endParaRPr lang="en-IN" dirty="0"/>
          </a:p>
        </p:txBody>
      </p:sp>
      <p:sp>
        <p:nvSpPr>
          <p:cNvPr id="4" name="TextBox 3">
            <a:extLst>
              <a:ext uri="{FF2B5EF4-FFF2-40B4-BE49-F238E27FC236}">
                <a16:creationId xmlns:a16="http://schemas.microsoft.com/office/drawing/2014/main" id="{2B8AC853-7C8C-227E-1D95-00A333DA8C2E}"/>
              </a:ext>
            </a:extLst>
          </p:cNvPr>
          <p:cNvSpPr txBox="1"/>
          <p:nvPr/>
        </p:nvSpPr>
        <p:spPr>
          <a:xfrm>
            <a:off x="838081" y="4099728"/>
            <a:ext cx="4125806" cy="2062103"/>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External Services &amp; Integrations</a:t>
            </a:r>
          </a:p>
          <a:p>
            <a:r>
              <a:rPr lang="en-IN" dirty="0">
                <a:latin typeface="Times New Roman" panose="02020603050405020304" pitchFamily="18" charset="0"/>
                <a:cs typeface="Times New Roman" panose="02020603050405020304" pitchFamily="18" charset="0"/>
              </a:rPr>
              <a:t>WhatsApp → User engagement &amp; nudges </a:t>
            </a:r>
          </a:p>
          <a:p>
            <a:r>
              <a:rPr lang="en-IN" dirty="0">
                <a:latin typeface="Times New Roman" panose="02020603050405020304" pitchFamily="18" charset="0"/>
                <a:cs typeface="Times New Roman" panose="02020603050405020304" pitchFamily="18" charset="0"/>
              </a:rPr>
              <a:t>Email → Doctor alerts </a:t>
            </a:r>
          </a:p>
          <a:p>
            <a:r>
              <a:rPr lang="en-IN" dirty="0">
                <a:latin typeface="Times New Roman" panose="02020603050405020304" pitchFamily="18" charset="0"/>
                <a:cs typeface="Times New Roman" panose="02020603050405020304" pitchFamily="18" charset="0"/>
              </a:rPr>
              <a:t>Calendar → Reminders &amp; scheduling</a:t>
            </a:r>
          </a:p>
          <a:p>
            <a:endParaRPr lang="en-IN" dirty="0"/>
          </a:p>
        </p:txBody>
      </p:sp>
      <p:sp>
        <p:nvSpPr>
          <p:cNvPr id="5" name="TextBox 4">
            <a:extLst>
              <a:ext uri="{FF2B5EF4-FFF2-40B4-BE49-F238E27FC236}">
                <a16:creationId xmlns:a16="http://schemas.microsoft.com/office/drawing/2014/main" id="{54FCE709-BA2F-7299-3909-B922FAAE170D}"/>
              </a:ext>
            </a:extLst>
          </p:cNvPr>
          <p:cNvSpPr txBox="1"/>
          <p:nvPr/>
        </p:nvSpPr>
        <p:spPr>
          <a:xfrm>
            <a:off x="6672105" y="4009292"/>
            <a:ext cx="3642985" cy="1908215"/>
          </a:xfrm>
          <a:prstGeom prst="rect">
            <a:avLst/>
          </a:prstGeom>
          <a:noFill/>
        </p:spPr>
        <p:txBody>
          <a:bodyPr wrap="none" rtlCol="0">
            <a:spAutoFit/>
          </a:bodyPr>
          <a:lstStyle/>
          <a:p>
            <a:r>
              <a:rPr lang="en-IN" sz="2800" b="1" dirty="0">
                <a:latin typeface="Times New Roman" panose="02020603050405020304" pitchFamily="18" charset="0"/>
                <a:cs typeface="Times New Roman" panose="02020603050405020304" pitchFamily="18" charset="0"/>
              </a:rPr>
              <a:t>Database Layer</a:t>
            </a:r>
          </a:p>
          <a:p>
            <a:r>
              <a:rPr lang="en-IN" b="1" dirty="0">
                <a:latin typeface="Times New Roman" panose="02020603050405020304" pitchFamily="18" charset="0"/>
                <a:cs typeface="Times New Roman" panose="02020603050405020304" pitchFamily="18" charset="0"/>
              </a:rPr>
              <a:t>PostgreSQL</a:t>
            </a:r>
            <a:r>
              <a:rPr lang="en-IN" dirty="0">
                <a:latin typeface="Times New Roman" panose="02020603050405020304" pitchFamily="18" charset="0"/>
                <a:cs typeface="Times New Roman" panose="02020603050405020304" pitchFamily="18" charset="0"/>
              </a:rPr>
              <a:t> → User &amp; clinical data </a:t>
            </a:r>
          </a:p>
          <a:p>
            <a:r>
              <a:rPr lang="en-IN" b="1" dirty="0">
                <a:latin typeface="Times New Roman" panose="02020603050405020304" pitchFamily="18" charset="0"/>
                <a:cs typeface="Times New Roman" panose="02020603050405020304" pitchFamily="18" charset="0"/>
              </a:rPr>
              <a:t>Redis</a:t>
            </a:r>
            <a:r>
              <a:rPr lang="en-IN" dirty="0">
                <a:latin typeface="Times New Roman" panose="02020603050405020304" pitchFamily="18" charset="0"/>
                <a:cs typeface="Times New Roman" panose="02020603050405020304" pitchFamily="18" charset="0"/>
              </a:rPr>
              <a:t> → Real-time caching </a:t>
            </a:r>
          </a:p>
          <a:p>
            <a:r>
              <a:rPr lang="en-IN" b="1" dirty="0">
                <a:latin typeface="Times New Roman" panose="02020603050405020304" pitchFamily="18" charset="0"/>
                <a:cs typeface="Times New Roman" panose="02020603050405020304" pitchFamily="18" charset="0"/>
              </a:rPr>
              <a:t>Pinecone</a:t>
            </a:r>
            <a:r>
              <a:rPr lang="en-IN" dirty="0">
                <a:latin typeface="Times New Roman" panose="02020603050405020304" pitchFamily="18" charset="0"/>
                <a:cs typeface="Times New Roman" panose="02020603050405020304" pitchFamily="18" charset="0"/>
              </a:rPr>
              <a:t> → Vector memory </a:t>
            </a:r>
          </a:p>
          <a:p>
            <a:r>
              <a:rPr lang="en-IN" b="1" dirty="0">
                <a:latin typeface="Times New Roman" panose="02020603050405020304" pitchFamily="18" charset="0"/>
                <a:cs typeface="Times New Roman" panose="02020603050405020304" pitchFamily="18" charset="0"/>
              </a:rPr>
              <a:t>Secure Storage</a:t>
            </a:r>
            <a:r>
              <a:rPr lang="en-IN" dirty="0">
                <a:latin typeface="Times New Roman" panose="02020603050405020304" pitchFamily="18" charset="0"/>
                <a:cs typeface="Times New Roman" panose="02020603050405020304" pitchFamily="18" charset="0"/>
              </a:rPr>
              <a:t> → Logs &amp; reports</a:t>
            </a:r>
          </a:p>
          <a:p>
            <a:endParaRPr lang="en-IN" dirty="0"/>
          </a:p>
        </p:txBody>
      </p:sp>
    </p:spTree>
    <p:extLst>
      <p:ext uri="{BB962C8B-B14F-4D97-AF65-F5344CB8AC3E}">
        <p14:creationId xmlns:p14="http://schemas.microsoft.com/office/powerpoint/2010/main" val="3882889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BE4B7-677E-32F6-A196-DB4D71A441EC}"/>
              </a:ext>
            </a:extLst>
          </p:cNvPr>
          <p:cNvSpPr>
            <a:spLocks noGrp="1"/>
          </p:cNvSpPr>
          <p:nvPr>
            <p:ph type="title"/>
          </p:nvPr>
        </p:nvSpPr>
        <p:spPr>
          <a:xfrm>
            <a:off x="129420" y="177424"/>
            <a:ext cx="5898000" cy="701760"/>
          </a:xfrm>
        </p:spPr>
        <p:txBody>
          <a:bodyPr/>
          <a:lstStyle/>
          <a:p>
            <a:r>
              <a:rPr lang="en-IN" sz="3600" b="1" dirty="0">
                <a:latin typeface="Times New Roman" panose="02020603050405020304" pitchFamily="18" charset="0"/>
                <a:cs typeface="Times New Roman" panose="02020603050405020304" pitchFamily="18" charset="0"/>
              </a:rPr>
              <a:t>MODULE DESCRIPTION</a:t>
            </a:r>
          </a:p>
        </p:txBody>
      </p:sp>
      <p:sp>
        <p:nvSpPr>
          <p:cNvPr id="3" name="Text Placeholder 2">
            <a:extLst>
              <a:ext uri="{FF2B5EF4-FFF2-40B4-BE49-F238E27FC236}">
                <a16:creationId xmlns:a16="http://schemas.microsoft.com/office/drawing/2014/main" id="{09E8DCF3-7CA4-01FC-7EEF-D5ADBD59CFF9}"/>
              </a:ext>
            </a:extLst>
          </p:cNvPr>
          <p:cNvSpPr>
            <a:spLocks noGrp="1"/>
          </p:cNvSpPr>
          <p:nvPr>
            <p:ph type="body"/>
          </p:nvPr>
        </p:nvSpPr>
        <p:spPr>
          <a:xfrm>
            <a:off x="129420" y="1452022"/>
            <a:ext cx="2311460" cy="4524315"/>
          </a:xfrm>
        </p:spPr>
        <p:txBody>
          <a:bodyPr/>
          <a:lstStyle/>
          <a:p>
            <a:pPr marL="0" indent="0">
              <a:buNone/>
            </a:pPr>
            <a:r>
              <a:rPr lang="en-US" sz="1600" b="1" dirty="0">
                <a:latin typeface="Times New Roman" panose="02020603050405020304" pitchFamily="18" charset="0"/>
                <a:cs typeface="Times New Roman" panose="02020603050405020304" pitchFamily="18" charset="0"/>
              </a:rPr>
              <a:t>1. User Experience Layer</a:t>
            </a:r>
          </a:p>
          <a:p>
            <a:r>
              <a:rPr lang="en-US" sz="1600" dirty="0">
                <a:latin typeface="Times New Roman" panose="02020603050405020304" pitchFamily="18" charset="0"/>
                <a:cs typeface="Times New Roman" panose="02020603050405020304" pitchFamily="18" charset="0"/>
              </a:rPr>
              <a:t>Provides interaction through </a:t>
            </a:r>
            <a:r>
              <a:rPr lang="en-US" sz="1600" b="1" dirty="0">
                <a:latin typeface="Times New Roman" panose="02020603050405020304" pitchFamily="18" charset="0"/>
                <a:cs typeface="Times New Roman" panose="02020603050405020304" pitchFamily="18" charset="0"/>
              </a:rPr>
              <a:t>Web / Mobile / Voice interface</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Includes: </a:t>
            </a:r>
          </a:p>
          <a:p>
            <a:pPr lvl="1"/>
            <a:r>
              <a:rPr lang="en-US" sz="1600" dirty="0">
                <a:latin typeface="Times New Roman" panose="02020603050405020304" pitchFamily="18" charset="0"/>
                <a:cs typeface="Times New Roman" panose="02020603050405020304" pitchFamily="18" charset="0"/>
              </a:rPr>
              <a:t>Chat interface for user communication </a:t>
            </a:r>
          </a:p>
          <a:p>
            <a:pPr lvl="1"/>
            <a:r>
              <a:rPr lang="en-US" sz="1600" dirty="0">
                <a:latin typeface="Times New Roman" panose="02020603050405020304" pitchFamily="18" charset="0"/>
                <a:cs typeface="Times New Roman" panose="02020603050405020304" pitchFamily="18" charset="0"/>
              </a:rPr>
              <a:t>Mood check-in system </a:t>
            </a:r>
          </a:p>
          <a:p>
            <a:pPr lvl="1"/>
            <a:r>
              <a:rPr lang="en-US" sz="1600" dirty="0">
                <a:latin typeface="Times New Roman" panose="02020603050405020304" pitchFamily="18" charset="0"/>
                <a:cs typeface="Times New Roman" panose="02020603050405020304" pitchFamily="18" charset="0"/>
              </a:rPr>
              <a:t>Dashboard to track mental health progress </a:t>
            </a:r>
          </a:p>
          <a:p>
            <a:r>
              <a:rPr lang="en-US" sz="1600" dirty="0">
                <a:latin typeface="Times New Roman" panose="02020603050405020304" pitchFamily="18" charset="0"/>
                <a:cs typeface="Times New Roman" panose="02020603050405020304" pitchFamily="18" charset="0"/>
              </a:rPr>
              <a:t>Ensures </a:t>
            </a:r>
            <a:r>
              <a:rPr lang="en-US" sz="1600" b="1" dirty="0">
                <a:latin typeface="Times New Roman" panose="02020603050405020304" pitchFamily="18" charset="0"/>
                <a:cs typeface="Times New Roman" panose="02020603050405020304" pitchFamily="18" charset="0"/>
              </a:rPr>
              <a:t>easy, user-friendly and accessible design</a:t>
            </a:r>
            <a:endParaRPr lang="en-US" sz="16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TextBox 4">
            <a:extLst>
              <a:ext uri="{FF2B5EF4-FFF2-40B4-BE49-F238E27FC236}">
                <a16:creationId xmlns:a16="http://schemas.microsoft.com/office/drawing/2014/main" id="{2D14A1A0-E94E-A308-F0B3-1EC19237BA30}"/>
              </a:ext>
            </a:extLst>
          </p:cNvPr>
          <p:cNvSpPr txBox="1"/>
          <p:nvPr/>
        </p:nvSpPr>
        <p:spPr>
          <a:xfrm>
            <a:off x="2626300" y="1452021"/>
            <a:ext cx="2311460" cy="4524315"/>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2. Emotion Understanding Module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a:t>
            </a:r>
            <a:r>
              <a:rPr lang="en-IN" sz="1600" b="1" dirty="0">
                <a:latin typeface="Times New Roman" panose="02020603050405020304" pitchFamily="18" charset="0"/>
                <a:cs typeface="Times New Roman" panose="02020603050405020304" pitchFamily="18" charset="0"/>
              </a:rPr>
              <a:t>BERT-based NLP model</a:t>
            </a:r>
            <a:r>
              <a:rPr lang="en-IN" sz="1600" dirty="0">
                <a:latin typeface="Times New Roman" panose="02020603050405020304" pitchFamily="18" charset="0"/>
                <a:cs typeface="Times New Roman" panose="02020603050405020304" pitchFamily="18" charset="0"/>
              </a:rPr>
              <a:t> for emotion detection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Processes: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User text / voice input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Converts into embeddings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Classifies into </a:t>
            </a:r>
            <a:r>
              <a:rPr lang="en-IN" sz="1600" b="1" dirty="0">
                <a:latin typeface="Times New Roman" panose="02020603050405020304" pitchFamily="18" charset="0"/>
                <a:cs typeface="Times New Roman" panose="02020603050405020304" pitchFamily="18" charset="0"/>
              </a:rPr>
              <a:t>multi-emotion states (fine-grained emotions)</a:t>
            </a:r>
            <a:r>
              <a:rPr lang="en-IN" sz="1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Helps in identifying user’s </a:t>
            </a:r>
            <a:r>
              <a:rPr lang="en-IN" sz="1600" b="1" dirty="0">
                <a:latin typeface="Times New Roman" panose="02020603050405020304" pitchFamily="18" charset="0"/>
                <a:cs typeface="Times New Roman" panose="02020603050405020304" pitchFamily="18" charset="0"/>
              </a:rPr>
              <a:t>emotional condition accurately</a:t>
            </a:r>
            <a:endParaRPr lang="en-IN" sz="1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8D2C5F0-E2A6-AB77-23C4-B30F86269D64}"/>
              </a:ext>
            </a:extLst>
          </p:cNvPr>
          <p:cNvSpPr txBox="1"/>
          <p:nvPr/>
        </p:nvSpPr>
        <p:spPr>
          <a:xfrm>
            <a:off x="5039360" y="1452021"/>
            <a:ext cx="2113280" cy="4524315"/>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3. Therapy &amp; Response Engine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Generates </a:t>
            </a:r>
            <a:r>
              <a:rPr lang="en-IN" sz="1600" b="1" dirty="0">
                <a:latin typeface="Times New Roman" panose="02020603050405020304" pitchFamily="18" charset="0"/>
                <a:cs typeface="Times New Roman" panose="02020603050405020304" pitchFamily="18" charset="0"/>
              </a:rPr>
              <a:t>context-aware responses</a:t>
            </a:r>
            <a:r>
              <a:rPr lang="en-IN" sz="1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Supports multiple techniques: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Empathy-based replies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Cognitive </a:t>
            </a:r>
            <a:r>
              <a:rPr lang="en-IN" sz="1600" dirty="0" err="1">
                <a:latin typeface="Times New Roman" panose="02020603050405020304" pitchFamily="18" charset="0"/>
                <a:cs typeface="Times New Roman" panose="02020603050405020304" pitchFamily="18" charset="0"/>
              </a:rPr>
              <a:t>Behavioral</a:t>
            </a:r>
            <a:r>
              <a:rPr lang="en-IN" sz="1600" dirty="0">
                <a:latin typeface="Times New Roman" panose="02020603050405020304" pitchFamily="18" charset="0"/>
                <a:cs typeface="Times New Roman" panose="02020603050405020304" pitchFamily="18" charset="0"/>
              </a:rPr>
              <a:t> Therapy (CBT)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Grounding techniques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Storytelling-based support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Ensures </a:t>
            </a:r>
            <a:r>
              <a:rPr lang="en-IN" sz="1600" b="1" dirty="0">
                <a:latin typeface="Times New Roman" panose="02020603050405020304" pitchFamily="18" charset="0"/>
                <a:cs typeface="Times New Roman" panose="02020603050405020304" pitchFamily="18" charset="0"/>
              </a:rPr>
              <a:t>human-like emotional interaction</a:t>
            </a:r>
            <a:endParaRPr lang="en-IN"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66D2457-7496-F05B-09BD-7C60C0F31672}"/>
              </a:ext>
            </a:extLst>
          </p:cNvPr>
          <p:cNvSpPr txBox="1"/>
          <p:nvPr/>
        </p:nvSpPr>
        <p:spPr>
          <a:xfrm>
            <a:off x="7437120" y="1452021"/>
            <a:ext cx="2128580" cy="4031873"/>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4. Mental Health &amp; Risk Analysis Module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Calculates </a:t>
            </a:r>
            <a:r>
              <a:rPr lang="en-IN" sz="1600" b="1" dirty="0">
                <a:latin typeface="Times New Roman" panose="02020603050405020304" pitchFamily="18" charset="0"/>
                <a:cs typeface="Times New Roman" panose="02020603050405020304" pitchFamily="18" charset="0"/>
              </a:rPr>
              <a:t>Mental Health Quotient (MHQ)</a:t>
            </a:r>
            <a:r>
              <a:rPr lang="en-IN" sz="1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Performs: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Real-time emotional scoring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Risk detection (stress, anxiety, crisis signals)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a:t>
            </a:r>
            <a:r>
              <a:rPr lang="en-IN" sz="1600" b="1" dirty="0">
                <a:latin typeface="Times New Roman" panose="02020603050405020304" pitchFamily="18" charset="0"/>
                <a:cs typeface="Times New Roman" panose="02020603050405020304" pitchFamily="18" charset="0"/>
              </a:rPr>
              <a:t>AI models + predefined clinical rules</a:t>
            </a:r>
            <a:endParaRPr lang="en-IN" sz="16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E7BB776-4218-4306-1682-74A847BF0241}"/>
              </a:ext>
            </a:extLst>
          </p:cNvPr>
          <p:cNvSpPr txBox="1"/>
          <p:nvPr/>
        </p:nvSpPr>
        <p:spPr>
          <a:xfrm>
            <a:off x="9646980" y="1452020"/>
            <a:ext cx="2230060" cy="4031873"/>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5. Memory System</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Short-Term Memory (Redis):</a:t>
            </a:r>
            <a:r>
              <a:rPr lang="en-US" sz="16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Stores recent conversations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Maintains session context </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Long-Term Memory (Pinecone):</a:t>
            </a:r>
            <a:r>
              <a:rPr lang="en-US" sz="16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Stores past interactions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Enables semantic search &amp; recall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Helps chatbot provide </a:t>
            </a:r>
            <a:r>
              <a:rPr lang="en-US" sz="1600" b="1" dirty="0">
                <a:latin typeface="Times New Roman" panose="02020603050405020304" pitchFamily="18" charset="0"/>
                <a:cs typeface="Times New Roman" panose="02020603050405020304" pitchFamily="18" charset="0"/>
              </a:rPr>
              <a:t>personalized responses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1466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5C4A8C7-B637-CEDF-4DF8-FC2C6DC857E1}"/>
              </a:ext>
            </a:extLst>
          </p:cNvPr>
          <p:cNvSpPr>
            <a:spLocks noGrp="1"/>
          </p:cNvSpPr>
          <p:nvPr>
            <p:ph type="body"/>
          </p:nvPr>
        </p:nvSpPr>
        <p:spPr>
          <a:xfrm>
            <a:off x="254000" y="987565"/>
            <a:ext cx="2194560" cy="3785652"/>
          </a:xfrm>
        </p:spPr>
        <p:txBody>
          <a:bodyPr/>
          <a:lstStyle/>
          <a:p>
            <a:pPr marL="0" indent="0">
              <a:buNone/>
            </a:pPr>
            <a:r>
              <a:rPr lang="en-IN" sz="1600" b="1" dirty="0">
                <a:latin typeface="Times New Roman" panose="02020603050405020304" pitchFamily="18" charset="0"/>
                <a:cs typeface="Times New Roman" panose="02020603050405020304" pitchFamily="18" charset="0"/>
              </a:rPr>
              <a:t>6. Data Storage Layer</a:t>
            </a:r>
          </a:p>
          <a:p>
            <a:r>
              <a:rPr lang="en-IN" sz="1600" dirty="0">
                <a:latin typeface="Times New Roman" panose="02020603050405020304" pitchFamily="18" charset="0"/>
                <a:cs typeface="Times New Roman" panose="02020603050405020304" pitchFamily="18" charset="0"/>
              </a:rPr>
              <a:t>Stores structured and unstructured data: </a:t>
            </a:r>
          </a:p>
          <a:p>
            <a:pPr lvl="1"/>
            <a:r>
              <a:rPr lang="en-IN" sz="1600" dirty="0">
                <a:latin typeface="Times New Roman" panose="02020603050405020304" pitchFamily="18" charset="0"/>
                <a:cs typeface="Times New Roman" panose="02020603050405020304" pitchFamily="18" charset="0"/>
              </a:rPr>
              <a:t>PostgreSQL → User &amp; clinical data </a:t>
            </a:r>
          </a:p>
          <a:p>
            <a:pPr lvl="1"/>
            <a:r>
              <a:rPr lang="en-IN" sz="1600" dirty="0">
                <a:latin typeface="Times New Roman" panose="02020603050405020304" pitchFamily="18" charset="0"/>
                <a:cs typeface="Times New Roman" panose="02020603050405020304" pitchFamily="18" charset="0"/>
              </a:rPr>
              <a:t>Redis → Real-time cache </a:t>
            </a:r>
          </a:p>
          <a:p>
            <a:pPr lvl="1"/>
            <a:r>
              <a:rPr lang="en-IN" sz="1600" dirty="0">
                <a:latin typeface="Times New Roman" panose="02020603050405020304" pitchFamily="18" charset="0"/>
                <a:cs typeface="Times New Roman" panose="02020603050405020304" pitchFamily="18" charset="0"/>
              </a:rPr>
              <a:t>Pinecone → Vector memory </a:t>
            </a:r>
          </a:p>
          <a:p>
            <a:pPr lvl="1"/>
            <a:r>
              <a:rPr lang="en-IN" sz="1600" dirty="0">
                <a:latin typeface="Times New Roman" panose="02020603050405020304" pitchFamily="18" charset="0"/>
                <a:cs typeface="Times New Roman" panose="02020603050405020304" pitchFamily="18" charset="0"/>
              </a:rPr>
              <a:t>Secure Storage → Logs &amp; reports </a:t>
            </a:r>
          </a:p>
          <a:p>
            <a:r>
              <a:rPr lang="en-IN" sz="1600" dirty="0">
                <a:latin typeface="Times New Roman" panose="02020603050405020304" pitchFamily="18" charset="0"/>
                <a:cs typeface="Times New Roman" panose="02020603050405020304" pitchFamily="18" charset="0"/>
              </a:rPr>
              <a:t>Ensures </a:t>
            </a:r>
            <a:r>
              <a:rPr lang="en-IN" sz="1600" b="1" dirty="0">
                <a:latin typeface="Times New Roman" panose="02020603050405020304" pitchFamily="18" charset="0"/>
                <a:cs typeface="Times New Roman" panose="02020603050405020304" pitchFamily="18" charset="0"/>
              </a:rPr>
              <a:t>efficient and secure data handling</a:t>
            </a:r>
            <a:endParaRPr lang="en-IN" sz="16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TextBox 4">
            <a:extLst>
              <a:ext uri="{FF2B5EF4-FFF2-40B4-BE49-F238E27FC236}">
                <a16:creationId xmlns:a16="http://schemas.microsoft.com/office/drawing/2014/main" id="{1B088DE1-A19A-B267-E8BE-170FE1297547}"/>
              </a:ext>
            </a:extLst>
          </p:cNvPr>
          <p:cNvSpPr txBox="1"/>
          <p:nvPr/>
        </p:nvSpPr>
        <p:spPr>
          <a:xfrm>
            <a:off x="2733040" y="940138"/>
            <a:ext cx="2052320" cy="3539430"/>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7. Real-Time Communication Module</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Enables: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Live chat streaming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Instant responses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Typing indicators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Uses technologies like </a:t>
            </a:r>
            <a:r>
              <a:rPr lang="en-US" sz="1600" b="1" dirty="0" err="1">
                <a:latin typeface="Times New Roman" panose="02020603050405020304" pitchFamily="18" charset="0"/>
                <a:cs typeface="Times New Roman" panose="02020603050405020304" pitchFamily="18" charset="0"/>
              </a:rPr>
              <a:t>WebSockets</a:t>
            </a:r>
            <a:r>
              <a:rPr lang="en-US" sz="1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Ensures </a:t>
            </a:r>
            <a:r>
              <a:rPr lang="en-US" sz="1600" b="1" dirty="0">
                <a:latin typeface="Times New Roman" panose="02020603050405020304" pitchFamily="18" charset="0"/>
                <a:cs typeface="Times New Roman" panose="02020603050405020304" pitchFamily="18" charset="0"/>
              </a:rPr>
              <a:t>smooth real-time interaction</a:t>
            </a:r>
            <a:endParaRPr lang="en-US" sz="1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C0DBF1E-C808-AAE5-A111-A9343B1AD459}"/>
              </a:ext>
            </a:extLst>
          </p:cNvPr>
          <p:cNvSpPr txBox="1"/>
          <p:nvPr/>
        </p:nvSpPr>
        <p:spPr>
          <a:xfrm>
            <a:off x="4810760" y="940138"/>
            <a:ext cx="2336800" cy="3293209"/>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8. Automation &amp; Event Engine</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Handles workflows using </a:t>
            </a:r>
            <a:r>
              <a:rPr lang="en-US" sz="1600" b="1" dirty="0">
                <a:latin typeface="Times New Roman" panose="02020603050405020304" pitchFamily="18" charset="0"/>
                <a:cs typeface="Times New Roman" panose="02020603050405020304" pitchFamily="18" charset="0"/>
              </a:rPr>
              <a:t>event-based triggers</a:t>
            </a:r>
            <a:r>
              <a:rPr lang="en-US" sz="1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Functions: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Detects conditions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Triggers actions (alerts, responses)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Supports </a:t>
            </a:r>
            <a:r>
              <a:rPr lang="en-US" sz="1600" b="1" dirty="0">
                <a:latin typeface="Times New Roman" panose="02020603050405020304" pitchFamily="18" charset="0"/>
                <a:cs typeface="Times New Roman" panose="02020603050405020304" pitchFamily="18" charset="0"/>
              </a:rPr>
              <a:t>real-time intervention and automation</a:t>
            </a:r>
            <a:endParaRPr lang="en-US"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CD14DA1-E252-D4C2-CBE4-3BE2E39A73AF}"/>
              </a:ext>
            </a:extLst>
          </p:cNvPr>
          <p:cNvSpPr txBox="1"/>
          <p:nvPr/>
        </p:nvSpPr>
        <p:spPr>
          <a:xfrm>
            <a:off x="7264400" y="987565"/>
            <a:ext cx="2123440" cy="3293209"/>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9. External Integration Module</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Integrates with: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WhatsApp (chat support)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Email (alerts &amp; reports)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SMS (critical notifications)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Calendar (reminders)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Expands chatbot </a:t>
            </a:r>
            <a:r>
              <a:rPr lang="en-US" sz="1600" b="1" dirty="0">
                <a:latin typeface="Times New Roman" panose="02020603050405020304" pitchFamily="18" charset="0"/>
                <a:cs typeface="Times New Roman" panose="02020603050405020304" pitchFamily="18" charset="0"/>
              </a:rPr>
              <a:t>reach and usability</a:t>
            </a:r>
            <a:endParaRPr lang="en-US" sz="16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EE2E3AF-4628-2506-E8E5-BA2C54DAC8AB}"/>
              </a:ext>
            </a:extLst>
          </p:cNvPr>
          <p:cNvSpPr txBox="1"/>
          <p:nvPr/>
        </p:nvSpPr>
        <p:spPr>
          <a:xfrm>
            <a:off x="9580880" y="940138"/>
            <a:ext cx="1981200" cy="3785652"/>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10. Security &amp; Compliance Layer</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Ensures: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End-to-End Encryption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Role-Based Access Control (RBAC) </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privacy &amp; anonymization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Supports </a:t>
            </a:r>
            <a:r>
              <a:rPr lang="en-US" sz="1600" b="1" dirty="0">
                <a:latin typeface="Times New Roman" panose="02020603050405020304" pitchFamily="18" charset="0"/>
                <a:cs typeface="Times New Roman" panose="02020603050405020304" pitchFamily="18" charset="0"/>
              </a:rPr>
              <a:t>secure and ethical AI usage</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5908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41D94-7AB4-DE75-C919-25B89290CDB4}"/>
              </a:ext>
            </a:extLst>
          </p:cNvPr>
          <p:cNvSpPr>
            <a:spLocks noGrp="1"/>
          </p:cNvSpPr>
          <p:nvPr>
            <p:ph type="title"/>
          </p:nvPr>
        </p:nvSpPr>
        <p:spPr>
          <a:xfrm>
            <a:off x="435404" y="295592"/>
            <a:ext cx="10515240" cy="844000"/>
          </a:xfrm>
        </p:spPr>
        <p:txBody>
          <a:bodyPr/>
          <a:lstStyle/>
          <a:p>
            <a:r>
              <a:rPr lang="en-IN" sz="3600" b="1" dirty="0">
                <a:latin typeface="Times New Roman" panose="02020603050405020304" pitchFamily="18" charset="0"/>
                <a:cs typeface="Times New Roman" panose="02020603050405020304" pitchFamily="18" charset="0"/>
              </a:rPr>
              <a:t>CORE ARCHITECTURE – N8N AUTOMATION ENGINE</a:t>
            </a:r>
          </a:p>
        </p:txBody>
      </p:sp>
      <p:sp>
        <p:nvSpPr>
          <p:cNvPr id="12" name="TextBox 11">
            <a:extLst>
              <a:ext uri="{FF2B5EF4-FFF2-40B4-BE49-F238E27FC236}">
                <a16:creationId xmlns:a16="http://schemas.microsoft.com/office/drawing/2014/main" id="{94619D09-DD8A-794B-2E59-0ACB21957D99}"/>
              </a:ext>
            </a:extLst>
          </p:cNvPr>
          <p:cNvSpPr txBox="1"/>
          <p:nvPr/>
        </p:nvSpPr>
        <p:spPr>
          <a:xfrm>
            <a:off x="653142" y="1562821"/>
            <a:ext cx="11394832" cy="203132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Entry Point — </a:t>
            </a:r>
            <a:r>
              <a:rPr lang="en-US" b="1" dirty="0" err="1">
                <a:latin typeface="Times New Roman" panose="02020603050405020304" pitchFamily="18" charset="0"/>
                <a:cs typeface="Times New Roman" panose="02020603050405020304" pitchFamily="18" charset="0"/>
              </a:rPr>
              <a:t>FastAPI</a:t>
            </a:r>
            <a:r>
              <a:rPr lang="en-US" b="1" dirty="0">
                <a:latin typeface="Times New Roman" panose="02020603050405020304" pitchFamily="18" charset="0"/>
                <a:cs typeface="Times New Roman" panose="02020603050405020304" pitchFamily="18" charset="0"/>
              </a:rPr>
              <a:t> Webhook</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is where everything begins. A patient sends a message (likely through a chat interface or WhatsApp), and that message hits your </a:t>
            </a:r>
            <a:r>
              <a:rPr lang="en-US" b="1" dirty="0" err="1">
                <a:latin typeface="Times New Roman" panose="02020603050405020304" pitchFamily="18" charset="0"/>
                <a:cs typeface="Times New Roman" panose="02020603050405020304" pitchFamily="18" charset="0"/>
              </a:rPr>
              <a:t>FastAPI</a:t>
            </a:r>
            <a:r>
              <a:rPr lang="en-US" b="1" dirty="0">
                <a:latin typeface="Times New Roman" panose="02020603050405020304" pitchFamily="18" charset="0"/>
                <a:cs typeface="Times New Roman" panose="02020603050405020304" pitchFamily="18" charset="0"/>
              </a:rPr>
              <a:t> webhook</a:t>
            </a:r>
            <a:r>
              <a:rPr lang="en-US" dirty="0">
                <a:latin typeface="Times New Roman" panose="02020603050405020304" pitchFamily="18" charset="0"/>
                <a:cs typeface="Times New Roman" panose="02020603050405020304" pitchFamily="18" charset="0"/>
              </a:rPr>
              <a:t> as an HTTP POST request.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acts as the front door — it receives the raw message payload and immediately passes it into the n8n workflow. This is your system's trigger node, meaning nothing runs until this webhook fires.</a:t>
            </a:r>
          </a:p>
          <a:p>
            <a:endParaRPr lang="en-IN" dirty="0"/>
          </a:p>
        </p:txBody>
      </p:sp>
      <p:sp>
        <p:nvSpPr>
          <p:cNvPr id="14" name="TextBox 13">
            <a:extLst>
              <a:ext uri="{FF2B5EF4-FFF2-40B4-BE49-F238E27FC236}">
                <a16:creationId xmlns:a16="http://schemas.microsoft.com/office/drawing/2014/main" id="{4BDE2AC9-6366-6774-BFDE-D1FC51A391AE}"/>
              </a:ext>
            </a:extLst>
          </p:cNvPr>
          <p:cNvSpPr txBox="1"/>
          <p:nvPr/>
        </p:nvSpPr>
        <p:spPr>
          <a:xfrm>
            <a:off x="653142" y="3596604"/>
            <a:ext cx="11304396" cy="313932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Branch 1 — Premium Pipeline (The Core AI Chain)</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When the Triage node classifies a message as premium, it enters a </a:t>
            </a:r>
            <a:r>
              <a:rPr lang="en-US" b="1" dirty="0">
                <a:latin typeface="Times New Roman" panose="02020603050405020304" pitchFamily="18" charset="0"/>
                <a:cs typeface="Times New Roman" panose="02020603050405020304" pitchFamily="18" charset="0"/>
              </a:rPr>
              <a:t>sequential 3-AI chain</a:t>
            </a:r>
            <a:r>
              <a:rPr lang="en-US" dirty="0">
                <a:latin typeface="Times New Roman" panose="02020603050405020304" pitchFamily="18" charset="0"/>
                <a:cs typeface="Times New Roman" panose="02020603050405020304" pitchFamily="18" charset="0"/>
              </a:rPr>
              <a:t> — each model building on the previous one's output:</a:t>
            </a:r>
          </a:p>
          <a:p>
            <a:r>
              <a:rPr lang="en-US" b="1" dirty="0">
                <a:latin typeface="Times New Roman" panose="02020603050405020304" pitchFamily="18" charset="0"/>
                <a:cs typeface="Times New Roman" panose="02020603050405020304" pitchFamily="18" charset="0"/>
              </a:rPr>
              <a:t>Step 1 — Gemini (Diagnosis Engine)</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patient's message is sent to </a:t>
            </a:r>
            <a:r>
              <a:rPr lang="en-US" b="1" dirty="0">
                <a:latin typeface="Times New Roman" panose="02020603050405020304" pitchFamily="18" charset="0"/>
                <a:cs typeface="Times New Roman" panose="02020603050405020304" pitchFamily="18" charset="0"/>
              </a:rPr>
              <a:t>Google's Gemini</a:t>
            </a:r>
            <a:r>
              <a:rPr lang="en-US" dirty="0">
                <a:latin typeface="Times New Roman" panose="02020603050405020304" pitchFamily="18" charset="0"/>
                <a:cs typeface="Times New Roman" panose="02020603050405020304" pitchFamily="18" charset="0"/>
              </a:rPr>
              <a:t> via the Generative Language API. Gemini's job is purely clinical — it analyses the symptoms, duration, and severity described by the patient and generates a </a:t>
            </a:r>
            <a:r>
              <a:rPr lang="en-US" b="1" dirty="0">
                <a:latin typeface="Times New Roman" panose="02020603050405020304" pitchFamily="18" charset="0"/>
                <a:cs typeface="Times New Roman" panose="02020603050405020304" pitchFamily="18" charset="0"/>
              </a:rPr>
              <a:t>structured clinical diagnosis</a:t>
            </a:r>
            <a:r>
              <a:rPr lang="en-US" dirty="0">
                <a:latin typeface="Times New Roman" panose="02020603050405020304" pitchFamily="18" charset="0"/>
                <a:cs typeface="Times New Roman" panose="02020603050405020304" pitchFamily="18" charset="0"/>
              </a:rPr>
              <a:t>. It might return a differential diagnosis list or a primary suspected condition. This output is not patient-facing yet — it's raw clinical data.</a:t>
            </a:r>
          </a:p>
          <a:p>
            <a:endParaRPr lang="en-IN" dirty="0"/>
          </a:p>
        </p:txBody>
      </p:sp>
    </p:spTree>
    <p:extLst>
      <p:ext uri="{BB962C8B-B14F-4D97-AF65-F5344CB8AC3E}">
        <p14:creationId xmlns:p14="http://schemas.microsoft.com/office/powerpoint/2010/main" val="3141410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8A8436-4DB9-7497-8B95-6C4232CF4999}"/>
              </a:ext>
            </a:extLst>
          </p:cNvPr>
          <p:cNvSpPr>
            <a:spLocks noGrp="1"/>
          </p:cNvSpPr>
          <p:nvPr>
            <p:ph type="body"/>
          </p:nvPr>
        </p:nvSpPr>
        <p:spPr>
          <a:xfrm>
            <a:off x="838380" y="781259"/>
            <a:ext cx="10515240" cy="5295481"/>
          </a:xfrm>
        </p:spPr>
        <p:txBody>
          <a:bodyPr/>
          <a:lstStyle/>
          <a:p>
            <a:pPr marL="0" indent="0">
              <a:buNone/>
            </a:pPr>
            <a:r>
              <a:rPr lang="en-US" sz="1800" b="1" dirty="0">
                <a:latin typeface="Times New Roman" panose="02020603050405020304" pitchFamily="18" charset="0"/>
                <a:cs typeface="Times New Roman" panose="02020603050405020304" pitchFamily="18" charset="0"/>
              </a:rPr>
              <a:t>Step 2 — Claude (Empathy Story Engine)</a:t>
            </a:r>
          </a:p>
          <a:p>
            <a:pPr marL="0" indent="0">
              <a:buNone/>
            </a:pPr>
            <a:r>
              <a:rPr lang="en-US" sz="1800" dirty="0">
                <a:latin typeface="Times New Roman" panose="02020603050405020304" pitchFamily="18" charset="0"/>
                <a:cs typeface="Times New Roman" panose="02020603050405020304" pitchFamily="18" charset="0"/>
              </a:rPr>
              <a:t>Gemini's clinical output is then passed to </a:t>
            </a:r>
            <a:r>
              <a:rPr lang="en-US" sz="1800" b="1" dirty="0">
                <a:latin typeface="Times New Roman" panose="02020603050405020304" pitchFamily="18" charset="0"/>
                <a:cs typeface="Times New Roman" panose="02020603050405020304" pitchFamily="18" charset="0"/>
              </a:rPr>
              <a:t>Anthropic's Claude</a:t>
            </a:r>
            <a:r>
              <a:rPr lang="en-US" sz="1800" dirty="0">
                <a:latin typeface="Times New Roman" panose="02020603050405020304" pitchFamily="18" charset="0"/>
                <a:cs typeface="Times New Roman" panose="02020603050405020304" pitchFamily="18" charset="0"/>
              </a:rPr>
              <a:t>. Claude's job is to take that cold, clinical diagnosis and </a:t>
            </a:r>
            <a:r>
              <a:rPr lang="en-US" sz="1800" b="1" dirty="0">
                <a:latin typeface="Times New Roman" panose="02020603050405020304" pitchFamily="18" charset="0"/>
                <a:cs typeface="Times New Roman" panose="02020603050405020304" pitchFamily="18" charset="0"/>
              </a:rPr>
              <a:t>wrap it in compassionate, human language</a:t>
            </a:r>
            <a:r>
              <a:rPr lang="en-US" sz="1800" dirty="0">
                <a:latin typeface="Times New Roman" panose="02020603050405020304" pitchFamily="18" charset="0"/>
                <a:cs typeface="Times New Roman" panose="02020603050405020304" pitchFamily="18" charset="0"/>
              </a:rPr>
              <a:t>. It rewrites the information so the patient doesn't feel like they're reading a medical report. Claude handles the emotional layer — reducing anxiety, using culturally sensitive language, and making the patient feel heard. This is why Claude specifically was chosen for this step — it excels at nuanced, empathetic communication.</a:t>
            </a:r>
          </a:p>
          <a:p>
            <a:pPr marL="0" indent="0">
              <a:buNone/>
            </a:pPr>
            <a:r>
              <a:rPr lang="en-US" sz="1800" b="1" dirty="0">
                <a:latin typeface="Times New Roman" panose="02020603050405020304" pitchFamily="18" charset="0"/>
                <a:cs typeface="Times New Roman" panose="02020603050405020304" pitchFamily="18" charset="0"/>
              </a:rPr>
              <a:t>Step 3 — ChatGPT (Options Engine)</a:t>
            </a:r>
          </a:p>
          <a:p>
            <a:pPr marL="0" indent="0">
              <a:buNone/>
            </a:pPr>
            <a:r>
              <a:rPr lang="en-US" sz="1800" dirty="0">
                <a:latin typeface="Times New Roman" panose="02020603050405020304" pitchFamily="18" charset="0"/>
                <a:cs typeface="Times New Roman" panose="02020603050405020304" pitchFamily="18" charset="0"/>
              </a:rPr>
              <a:t>Claude's empathetic response is then passed to </a:t>
            </a:r>
            <a:r>
              <a:rPr lang="en-US" sz="1800" b="1" dirty="0">
                <a:latin typeface="Times New Roman" panose="02020603050405020304" pitchFamily="18" charset="0"/>
                <a:cs typeface="Times New Roman" panose="02020603050405020304" pitchFamily="18" charset="0"/>
              </a:rPr>
              <a:t>OpenAI's ChatGPT</a:t>
            </a:r>
            <a:r>
              <a:rPr lang="en-US" sz="1800" dirty="0">
                <a:latin typeface="Times New Roman" panose="02020603050405020304" pitchFamily="18" charset="0"/>
                <a:cs typeface="Times New Roman" panose="02020603050405020304" pitchFamily="18" charset="0"/>
              </a:rPr>
              <a:t>. ChatGPT's role is to generate </a:t>
            </a:r>
            <a:r>
              <a:rPr lang="en-US" sz="1800" b="1" dirty="0">
                <a:latin typeface="Times New Roman" panose="02020603050405020304" pitchFamily="18" charset="0"/>
                <a:cs typeface="Times New Roman" panose="02020603050405020304" pitchFamily="18" charset="0"/>
              </a:rPr>
              <a:t>clear, actionable next steps</a:t>
            </a:r>
            <a:r>
              <a:rPr lang="en-US" sz="1800" dirty="0">
                <a:latin typeface="Times New Roman" panose="02020603050405020304" pitchFamily="18" charset="0"/>
                <a:cs typeface="Times New Roman" panose="02020603050405020304" pitchFamily="18" charset="0"/>
              </a:rPr>
              <a:t> for the patient — things like "visit a clinic," "take these OTC medications," "call emergency services," or "monitor at home." It formats the response as a numbered menu of options so the patient knows exactly what to do next. This is the final response that gets sent back to the patient.</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Branch 2 — Normal Chat</a:t>
            </a:r>
          </a:p>
          <a:p>
            <a:pPr marL="0" indent="0">
              <a:buNone/>
            </a:pPr>
            <a:r>
              <a:rPr lang="en-US" sz="1800" dirty="0">
                <a:latin typeface="Times New Roman" panose="02020603050405020304" pitchFamily="18" charset="0"/>
                <a:cs typeface="Times New Roman" panose="02020603050405020304" pitchFamily="18" charset="0"/>
              </a:rPr>
              <a:t>If the Triage node decides the message is a simple, non-clinical query, it skips all three AI models entirely and </a:t>
            </a:r>
            <a:r>
              <a:rPr lang="en-US" sz="1800" b="1" dirty="0">
                <a:latin typeface="Times New Roman" panose="02020603050405020304" pitchFamily="18" charset="0"/>
                <a:cs typeface="Times New Roman" panose="02020603050405020304" pitchFamily="18" charset="0"/>
              </a:rPr>
              <a:t>returns a standard conversational reply</a:t>
            </a:r>
            <a:r>
              <a:rPr lang="en-US" sz="1800" dirty="0">
                <a:latin typeface="Times New Roman" panose="02020603050405020304" pitchFamily="18" charset="0"/>
                <a:cs typeface="Times New Roman" panose="02020603050405020304" pitchFamily="18" charset="0"/>
              </a:rPr>
              <a:t> directly. This keeps costs low and response time fast for messages that don't need clinical processing — things like greetings, appointment questions, or general information requests.</a:t>
            </a:r>
          </a:p>
          <a:p>
            <a:pPr marL="0" indent="0">
              <a:buNone/>
            </a:pPr>
            <a:endParaRPr lang="en-IN" dirty="0"/>
          </a:p>
        </p:txBody>
      </p:sp>
    </p:spTree>
    <p:extLst>
      <p:ext uri="{BB962C8B-B14F-4D97-AF65-F5344CB8AC3E}">
        <p14:creationId xmlns:p14="http://schemas.microsoft.com/office/powerpoint/2010/main" val="1226442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85CF3-1EC4-C98F-C913-5780F822D6A3}"/>
              </a:ext>
            </a:extLst>
          </p:cNvPr>
          <p:cNvSpPr>
            <a:spLocks noGrp="1"/>
          </p:cNvSpPr>
          <p:nvPr>
            <p:ph type="body"/>
          </p:nvPr>
        </p:nvSpPr>
        <p:spPr>
          <a:xfrm>
            <a:off x="717500" y="1168121"/>
            <a:ext cx="10515240" cy="4521758"/>
          </a:xfrm>
        </p:spPr>
        <p:txBody>
          <a:bodyPr/>
          <a:lstStyle/>
          <a:p>
            <a:pPr marL="0" indent="0">
              <a:buNone/>
            </a:pPr>
            <a:r>
              <a:rPr lang="en-US" sz="1800" b="1" dirty="0">
                <a:latin typeface="Times New Roman" panose="02020603050405020304" pitchFamily="18" charset="0"/>
                <a:cs typeface="Times New Roman" panose="02020603050405020304" pitchFamily="18" charset="0"/>
              </a:rPr>
              <a:t>Branch 3 — Crisis Protocol (Safety-Critical Path)</a:t>
            </a:r>
          </a:p>
          <a:p>
            <a:pPr marL="0" indent="0">
              <a:buNone/>
            </a:pPr>
            <a:r>
              <a:rPr lang="en-US" sz="1800" dirty="0">
                <a:latin typeface="Times New Roman" panose="02020603050405020304" pitchFamily="18" charset="0"/>
                <a:cs typeface="Times New Roman" panose="02020603050405020304" pitchFamily="18" charset="0"/>
              </a:rPr>
              <a:t>This is arguably the most important branch from a </a:t>
            </a:r>
            <a:r>
              <a:rPr lang="en-US" sz="1800" b="1" dirty="0">
                <a:latin typeface="Times New Roman" panose="02020603050405020304" pitchFamily="18" charset="0"/>
                <a:cs typeface="Times New Roman" panose="02020603050405020304" pitchFamily="18" charset="0"/>
              </a:rPr>
              <a:t>patient safety</a:t>
            </a:r>
            <a:r>
              <a:rPr lang="en-US" sz="1800" dirty="0">
                <a:latin typeface="Times New Roman" panose="02020603050405020304" pitchFamily="18" charset="0"/>
                <a:cs typeface="Times New Roman" panose="02020603050405020304" pitchFamily="18" charset="0"/>
              </a:rPr>
              <a:t> perspective. When the Triage node detects crisis indicators — suicidal ideation, self-harm language, medical emergencies — two things happen simultaneously or in sequence:</a:t>
            </a:r>
          </a:p>
          <a:p>
            <a:pPr marL="0" indent="0">
              <a:buNone/>
            </a:pPr>
            <a:r>
              <a:rPr lang="en-US" sz="1800" b="1" dirty="0">
                <a:latin typeface="Times New Roman" panose="02020603050405020304" pitchFamily="18" charset="0"/>
                <a:cs typeface="Times New Roman" panose="02020603050405020304" pitchFamily="18" charset="0"/>
              </a:rPr>
              <a:t>         WhatsApp SOS Alert (Twilio)</a:t>
            </a:r>
          </a:p>
          <a:p>
            <a:pPr marL="0" indent="0">
              <a:buNone/>
            </a:pPr>
            <a:r>
              <a:rPr lang="en-US" sz="1800" dirty="0">
                <a:latin typeface="Times New Roman" panose="02020603050405020304" pitchFamily="18" charset="0"/>
                <a:cs typeface="Times New Roman" panose="02020603050405020304" pitchFamily="18" charset="0"/>
              </a:rPr>
              <a:t>                   An automated WhatsApp message is instantly fired to a </a:t>
            </a:r>
            <a:r>
              <a:rPr lang="en-US" sz="1800" b="1" dirty="0">
                <a:latin typeface="Times New Roman" panose="02020603050405020304" pitchFamily="18" charset="0"/>
                <a:cs typeface="Times New Roman" panose="02020603050405020304" pitchFamily="18" charset="0"/>
              </a:rPr>
              <a:t>designated emergency contact</a:t>
            </a:r>
            <a:r>
              <a:rPr lang="en-US" sz="1800" dirty="0">
                <a:latin typeface="Times New Roman" panose="02020603050405020304" pitchFamily="18" charset="0"/>
                <a:cs typeface="Times New Roman" panose="02020603050405020304" pitchFamily="18" charset="0"/>
              </a:rPr>
              <a:t> — likely a clinical supervisor, on-call doctor, or crisis team — via the Twilio API. This happens without any human initiating it. The clinician is alerted in real time.</a:t>
            </a:r>
          </a:p>
          <a:p>
            <a:pPr marL="0" indent="0">
              <a:buNone/>
            </a:pPr>
            <a:r>
              <a:rPr lang="en-US" sz="1800" b="1" dirty="0">
                <a:latin typeface="Times New Roman" panose="02020603050405020304" pitchFamily="18" charset="0"/>
                <a:cs typeface="Times New Roman" panose="02020603050405020304" pitchFamily="18" charset="0"/>
              </a:rPr>
              <a:t>         Return Crisis Protocol</a:t>
            </a:r>
          </a:p>
          <a:p>
            <a:pPr marL="0" indent="0">
              <a:buNone/>
            </a:pPr>
            <a:r>
              <a:rPr lang="en-US" sz="1800" dirty="0">
                <a:latin typeface="Times New Roman" panose="02020603050405020304" pitchFamily="18" charset="0"/>
                <a:cs typeface="Times New Roman" panose="02020603050405020304" pitchFamily="18" charset="0"/>
              </a:rPr>
              <a:t>                   A </a:t>
            </a:r>
            <a:r>
              <a:rPr lang="en-US" sz="1800" b="1" dirty="0">
                <a:latin typeface="Times New Roman" panose="02020603050405020304" pitchFamily="18" charset="0"/>
                <a:cs typeface="Times New Roman" panose="02020603050405020304" pitchFamily="18" charset="0"/>
              </a:rPr>
              <a:t>pre-written, clinically-approved crisis response</a:t>
            </a:r>
            <a:r>
              <a:rPr lang="en-US" sz="1800" dirty="0">
                <a:latin typeface="Times New Roman" panose="02020603050405020304" pitchFamily="18" charset="0"/>
                <a:cs typeface="Times New Roman" panose="02020603050405020304" pitchFamily="18" charset="0"/>
              </a:rPr>
              <a:t> is sent back to the patient. This is hardcoded content — it does NOT go through Gemini, Claude, or ChatGPT. This is a deliberate safety design decision: LLMs can hallucinate, and a hallucinated response to someone in crisis could be catastrophic. The response contains things like helpline numbers, grounding instructions, and immediate next steps.</a:t>
            </a:r>
          </a:p>
          <a:p>
            <a:pPr marL="0" indent="0">
              <a:buNone/>
            </a:pPr>
            <a:endParaRPr lang="en-IN" dirty="0"/>
          </a:p>
        </p:txBody>
      </p:sp>
    </p:spTree>
    <p:extLst>
      <p:ext uri="{BB962C8B-B14F-4D97-AF65-F5344CB8AC3E}">
        <p14:creationId xmlns:p14="http://schemas.microsoft.com/office/powerpoint/2010/main" val="4292203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FD023-EEEB-54A5-837C-CBFC8EFF475D}"/>
              </a:ext>
            </a:extLst>
          </p:cNvPr>
          <p:cNvSpPr>
            <a:spLocks noGrp="1"/>
          </p:cNvSpPr>
          <p:nvPr>
            <p:ph type="title"/>
          </p:nvPr>
        </p:nvSpPr>
        <p:spPr>
          <a:xfrm>
            <a:off x="466291" y="-77087"/>
            <a:ext cx="10515240" cy="1325160"/>
          </a:xfrm>
        </p:spPr>
        <p:txBody>
          <a:bodyPr/>
          <a:lstStyle/>
          <a:p>
            <a:r>
              <a:rPr lang="en-IN" sz="4000" b="1" dirty="0">
                <a:latin typeface="Times New Roman" panose="02020603050405020304" pitchFamily="18" charset="0"/>
                <a:cs typeface="Times New Roman" panose="02020603050405020304" pitchFamily="18" charset="0"/>
              </a:rPr>
              <a:t>ADVANTAGE</a:t>
            </a:r>
          </a:p>
        </p:txBody>
      </p:sp>
      <p:sp>
        <p:nvSpPr>
          <p:cNvPr id="3" name="Text Placeholder 2">
            <a:extLst>
              <a:ext uri="{FF2B5EF4-FFF2-40B4-BE49-F238E27FC236}">
                <a16:creationId xmlns:a16="http://schemas.microsoft.com/office/drawing/2014/main" id="{DA8D51DC-3EC4-12E9-2274-0396D6FB41D0}"/>
              </a:ext>
            </a:extLst>
          </p:cNvPr>
          <p:cNvSpPr>
            <a:spLocks noGrp="1"/>
          </p:cNvSpPr>
          <p:nvPr>
            <p:ph type="body"/>
          </p:nvPr>
        </p:nvSpPr>
        <p:spPr>
          <a:xfrm>
            <a:off x="838380" y="1497205"/>
            <a:ext cx="10515240" cy="5194998"/>
          </a:xfrm>
        </p:spPr>
        <p:txBody>
          <a:bodyPr/>
          <a:lstStyle/>
          <a:p>
            <a:r>
              <a:rPr lang="en-IN" sz="2000" b="1" dirty="0">
                <a:latin typeface="Times New Roman" panose="02020603050405020304" pitchFamily="18" charset="0"/>
                <a:cs typeface="Times New Roman" panose="02020603050405020304" pitchFamily="18" charset="0"/>
              </a:rPr>
              <a:t>1.96-State Emotion Understanding</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Other bots: 3–5 basic emotions</a:t>
            </a:r>
          </a:p>
          <a:p>
            <a:r>
              <a:rPr lang="en-IN" sz="2000" dirty="0">
                <a:latin typeface="Times New Roman" panose="02020603050405020304" pitchFamily="18" charset="0"/>
                <a:cs typeface="Times New Roman" panose="02020603050405020304" pitchFamily="18" charset="0"/>
              </a:rPr>
              <a:t>Keffi: 96 clinically classified states (41 depression types, 20 attrition types, 17 loss-of-follow-up types)</a:t>
            </a:r>
          </a:p>
          <a:p>
            <a:r>
              <a:rPr lang="en-IN" sz="2000" dirty="0">
                <a:latin typeface="Times New Roman" panose="02020603050405020304" pitchFamily="18" charset="0"/>
                <a:cs typeface="Times New Roman" panose="02020603050405020304" pitchFamily="18" charset="0"/>
              </a:rPr>
              <a:t>Powered by </a:t>
            </a:r>
            <a:r>
              <a:rPr lang="en-IN" sz="2000" b="1" dirty="0">
                <a:latin typeface="Times New Roman" panose="02020603050405020304" pitchFamily="18" charset="0"/>
                <a:cs typeface="Times New Roman" panose="02020603050405020304" pitchFamily="18" charset="0"/>
              </a:rPr>
              <a:t>BERT</a:t>
            </a:r>
            <a:r>
              <a:rPr lang="en-IN" sz="2000" dirty="0">
                <a:latin typeface="Times New Roman" panose="02020603050405020304" pitchFamily="18" charset="0"/>
                <a:cs typeface="Times New Roman" panose="02020603050405020304" pitchFamily="18" charset="0"/>
              </a:rPr>
              <a:t> — reads context bidirectionally, not just keywords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2.Vector Memory (Pinecone)</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Other bots: Stateless — no memory between sessions</a:t>
            </a:r>
          </a:p>
          <a:p>
            <a:r>
              <a:rPr lang="en-IN" sz="2000" dirty="0">
                <a:latin typeface="Times New Roman" panose="02020603050405020304" pitchFamily="18" charset="0"/>
                <a:cs typeface="Times New Roman" panose="02020603050405020304" pitchFamily="18" charset="0"/>
              </a:rPr>
              <a:t>Keffi: Stores conversation embeddings → builds a </a:t>
            </a:r>
            <a:r>
              <a:rPr lang="en-IN" sz="2000" b="1" dirty="0">
                <a:latin typeface="Times New Roman" panose="02020603050405020304" pitchFamily="18" charset="0"/>
                <a:cs typeface="Times New Roman" panose="02020603050405020304" pitchFamily="18" charset="0"/>
              </a:rPr>
              <a:t>continuous psychological profile</a:t>
            </a:r>
            <a:r>
              <a:rPr lang="en-IN" sz="2000" dirty="0">
                <a:latin typeface="Times New Roman" panose="02020603050405020304" pitchFamily="18" charset="0"/>
                <a:cs typeface="Times New Roman" panose="02020603050405020304" pitchFamily="18" charset="0"/>
              </a:rPr>
              <a:t> over time</a:t>
            </a:r>
          </a:p>
          <a:p>
            <a:r>
              <a:rPr lang="en-IN" sz="2000" dirty="0">
                <a:latin typeface="Times New Roman" panose="02020603050405020304" pitchFamily="18" charset="0"/>
                <a:cs typeface="Times New Roman" panose="02020603050405020304" pitchFamily="18" charset="0"/>
              </a:rPr>
              <a:t>Remembers past pain points, triggers, and progress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3.Dynamic MHQ Scoring</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Other bots: No health scoring system</a:t>
            </a:r>
          </a:p>
          <a:p>
            <a:r>
              <a:rPr lang="en-IN" sz="2000" dirty="0">
                <a:latin typeface="Times New Roman" panose="02020603050405020304" pitchFamily="18" charset="0"/>
                <a:cs typeface="Times New Roman" panose="02020603050405020304" pitchFamily="18" charset="0"/>
              </a:rPr>
              <a:t>Keffi: Live </a:t>
            </a:r>
            <a:r>
              <a:rPr lang="en-IN" sz="2000" b="1" dirty="0">
                <a:latin typeface="Times New Roman" panose="02020603050405020304" pitchFamily="18" charset="0"/>
                <a:cs typeface="Times New Roman" panose="02020603050405020304" pitchFamily="18" charset="0"/>
              </a:rPr>
              <a:t>Mental Health Quotient (0–100)</a:t>
            </a:r>
            <a:r>
              <a:rPr lang="en-IN" sz="2000" dirty="0">
                <a:latin typeface="Times New Roman" panose="02020603050405020304" pitchFamily="18" charset="0"/>
                <a:cs typeface="Times New Roman" panose="02020603050405020304" pitchFamily="18" charset="0"/>
              </a:rPr>
              <a:t> updated every session, mapped to PHQ clinical standards</a:t>
            </a:r>
          </a:p>
          <a:p>
            <a:pPr marL="0" indent="0">
              <a:buNone/>
            </a:pPr>
            <a:endParaRPr lang="en-IN" dirty="0"/>
          </a:p>
        </p:txBody>
      </p:sp>
    </p:spTree>
    <p:extLst>
      <p:ext uri="{BB962C8B-B14F-4D97-AF65-F5344CB8AC3E}">
        <p14:creationId xmlns:p14="http://schemas.microsoft.com/office/powerpoint/2010/main" val="1141832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AAE1E12-7387-9BC1-5597-F8647C71308F}"/>
              </a:ext>
            </a:extLst>
          </p:cNvPr>
          <p:cNvSpPr>
            <a:spLocks noGrp="1" noChangeArrowheads="1"/>
          </p:cNvSpPr>
          <p:nvPr>
            <p:ph type="body"/>
          </p:nvPr>
        </p:nvSpPr>
        <p:spPr bwMode="auto">
          <a:xfrm>
            <a:off x="265786" y="562431"/>
            <a:ext cx="11498778"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4.Triple-AI Architecture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bots: Single LLM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Keffi uses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specialized AIs in parallel: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4181F"/>
                </a:solidFill>
                <a:effectLst/>
                <a:latin typeface="Times New Roman" panose="02020603050405020304" pitchFamily="18" charset="0"/>
                <a:cs typeface="Times New Roman" panose="02020603050405020304" pitchFamily="18" charset="0"/>
              </a:rPr>
              <a:t>Gemini → Deep diagnosis &amp; pattern analysis Claude → Human-like empathy &amp; storytelling ChatGPT → Structured A/B/C guided options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5.Predictive Attrition Engine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bots: React only when user messages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Keffi: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Predicts dropout before it happens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triggers WhatsApp nudges, reminders, alerts via n8n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6.Clinical Crisis Protocol</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bots: Show a helpline number at best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Keffi: Follows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C-SSRS + WHO protocols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auto-alerts doctor, sends WhatsApp SOS, activates crisis response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7.Two-Sided Platform</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Other bots: Only patient-facing</a:t>
            </a:r>
          </a:p>
          <a:p>
            <a:r>
              <a:rPr lang="en-IN" sz="2000" dirty="0">
                <a:latin typeface="Times New Roman" panose="02020603050405020304" pitchFamily="18" charset="0"/>
                <a:cs typeface="Times New Roman" panose="02020603050405020304" pitchFamily="18" charset="0"/>
              </a:rPr>
              <a:t>Keffi: Patient app + </a:t>
            </a:r>
            <a:r>
              <a:rPr lang="en-IN" sz="2000" b="1" dirty="0">
                <a:latin typeface="Times New Roman" panose="02020603050405020304" pitchFamily="18" charset="0"/>
                <a:cs typeface="Times New Roman" panose="02020603050405020304" pitchFamily="18" charset="0"/>
              </a:rPr>
              <a:t>Clinical Hub dashboard</a:t>
            </a:r>
            <a:r>
              <a:rPr lang="en-IN" sz="2000" dirty="0">
                <a:latin typeface="Times New Roman" panose="02020603050405020304" pitchFamily="18" charset="0"/>
                <a:cs typeface="Times New Roman" panose="02020603050405020304" pitchFamily="18" charset="0"/>
              </a:rPr>
              <a:t> for doctors with NLP analytics, patient roster, therapist allocation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72876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C4CBF-E79F-2D36-2019-E84F391B617E}"/>
              </a:ext>
            </a:extLst>
          </p:cNvPr>
          <p:cNvSpPr>
            <a:spLocks noGrp="1"/>
          </p:cNvSpPr>
          <p:nvPr>
            <p:ph type="title"/>
          </p:nvPr>
        </p:nvSpPr>
        <p:spPr>
          <a:xfrm>
            <a:off x="187840" y="182160"/>
            <a:ext cx="10515240" cy="610320"/>
          </a:xfrm>
        </p:spPr>
        <p:txBody>
          <a:bodyPr/>
          <a:lstStyle/>
          <a:p>
            <a:r>
              <a:rPr lang="en-IN" sz="3600" b="1" dirty="0">
                <a:latin typeface="Times New Roman" panose="02020603050405020304" pitchFamily="18" charset="0"/>
                <a:cs typeface="Times New Roman" panose="02020603050405020304" pitchFamily="18" charset="0"/>
              </a:rPr>
              <a:t>SYSTEM REQUIREMENTS</a:t>
            </a:r>
          </a:p>
        </p:txBody>
      </p:sp>
      <p:sp>
        <p:nvSpPr>
          <p:cNvPr id="3" name="Text Placeholder 2">
            <a:extLst>
              <a:ext uri="{FF2B5EF4-FFF2-40B4-BE49-F238E27FC236}">
                <a16:creationId xmlns:a16="http://schemas.microsoft.com/office/drawing/2014/main" id="{670C2F5A-3EDB-4941-F6F2-F1679E925871}"/>
              </a:ext>
            </a:extLst>
          </p:cNvPr>
          <p:cNvSpPr>
            <a:spLocks noGrp="1"/>
          </p:cNvSpPr>
          <p:nvPr>
            <p:ph type="body"/>
          </p:nvPr>
        </p:nvSpPr>
        <p:spPr>
          <a:xfrm>
            <a:off x="309760" y="941640"/>
            <a:ext cx="3215760" cy="2898840"/>
          </a:xfrm>
        </p:spPr>
        <p:txBody>
          <a:bodyPr/>
          <a:lstStyle/>
          <a:p>
            <a:pPr marL="0" indent="0">
              <a:buNone/>
            </a:pPr>
            <a:r>
              <a:rPr lang="en-IN" sz="1600" b="1" dirty="0">
                <a:latin typeface="Times New Roman" panose="02020603050405020304" pitchFamily="18" charset="0"/>
                <a:cs typeface="Times New Roman" panose="02020603050405020304" pitchFamily="18" charset="0"/>
              </a:rPr>
              <a:t>1. Hardware Requirements</a:t>
            </a:r>
          </a:p>
          <a:p>
            <a:r>
              <a:rPr lang="en-IN" sz="1600" dirty="0">
                <a:latin typeface="Times New Roman" panose="02020603050405020304" pitchFamily="18" charset="0"/>
                <a:cs typeface="Times New Roman" panose="02020603050405020304" pitchFamily="18" charset="0"/>
              </a:rPr>
              <a:t>Processor: Intel i3 / AMD equivalent or higher </a:t>
            </a:r>
          </a:p>
          <a:p>
            <a:r>
              <a:rPr lang="en-IN" sz="1600" dirty="0">
                <a:latin typeface="Times New Roman" panose="02020603050405020304" pitchFamily="18" charset="0"/>
                <a:cs typeface="Times New Roman" panose="02020603050405020304" pitchFamily="18" charset="0"/>
              </a:rPr>
              <a:t>RAM: Minimum 4 GB (8 GB recommended) </a:t>
            </a:r>
          </a:p>
          <a:p>
            <a:r>
              <a:rPr lang="en-IN" sz="1600" dirty="0">
                <a:latin typeface="Times New Roman" panose="02020603050405020304" pitchFamily="18" charset="0"/>
                <a:cs typeface="Times New Roman" panose="02020603050405020304" pitchFamily="18" charset="0"/>
              </a:rPr>
              <a:t>Storage: 10 GB free disk space </a:t>
            </a:r>
          </a:p>
          <a:p>
            <a:r>
              <a:rPr lang="en-IN" sz="1600" dirty="0">
                <a:latin typeface="Times New Roman" panose="02020603050405020304" pitchFamily="18" charset="0"/>
                <a:cs typeface="Times New Roman" panose="02020603050405020304" pitchFamily="18" charset="0"/>
              </a:rPr>
              <a:t>Device: Laptop / Desktop / Smartphone </a:t>
            </a:r>
          </a:p>
          <a:p>
            <a:r>
              <a:rPr lang="en-IN" sz="1600" dirty="0">
                <a:latin typeface="Times New Roman" panose="02020603050405020304" pitchFamily="18" charset="0"/>
                <a:cs typeface="Times New Roman" panose="02020603050405020304" pitchFamily="18" charset="0"/>
              </a:rPr>
              <a:t>Internet: Stable connection for real-time interaction</a:t>
            </a:r>
          </a:p>
          <a:p>
            <a:pPr marL="0" indent="0">
              <a:buNone/>
            </a:pPr>
            <a:endParaRPr lang="en-IN" dirty="0"/>
          </a:p>
        </p:txBody>
      </p:sp>
      <p:sp>
        <p:nvSpPr>
          <p:cNvPr id="5" name="TextBox 4">
            <a:extLst>
              <a:ext uri="{FF2B5EF4-FFF2-40B4-BE49-F238E27FC236}">
                <a16:creationId xmlns:a16="http://schemas.microsoft.com/office/drawing/2014/main" id="{B7DF91E9-8FE7-A242-AEB4-1DAB20587979}"/>
              </a:ext>
            </a:extLst>
          </p:cNvPr>
          <p:cNvSpPr txBox="1"/>
          <p:nvPr/>
        </p:nvSpPr>
        <p:spPr>
          <a:xfrm>
            <a:off x="4130040" y="988057"/>
            <a:ext cx="3098800" cy="2554545"/>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2. Software Requirements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Operating System: Windows / Linux / macOS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Programming Language: Python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Frameworks: </a:t>
            </a:r>
            <a:r>
              <a:rPr lang="en-IN" sz="1600" dirty="0" err="1">
                <a:latin typeface="Times New Roman" panose="02020603050405020304" pitchFamily="18" charset="0"/>
                <a:cs typeface="Times New Roman" panose="02020603050405020304" pitchFamily="18" charset="0"/>
              </a:rPr>
              <a:t>FastAPI</a:t>
            </a:r>
            <a:r>
              <a:rPr lang="en-IN" sz="1600" dirty="0">
                <a:latin typeface="Times New Roman" panose="02020603050405020304" pitchFamily="18" charset="0"/>
                <a:cs typeface="Times New Roman" panose="02020603050405020304" pitchFamily="18" charset="0"/>
              </a:rPr>
              <a:t> / Flask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Frontend: React.js / HTML / CSS / Tailwind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Database: PostgreSQL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Tools: Google </a:t>
            </a:r>
            <a:r>
              <a:rPr lang="en-IN" sz="1600" dirty="0" err="1">
                <a:latin typeface="Times New Roman" panose="02020603050405020304" pitchFamily="18" charset="0"/>
                <a:cs typeface="Times New Roman" panose="02020603050405020304" pitchFamily="18" charset="0"/>
              </a:rPr>
              <a:t>Colab</a:t>
            </a:r>
            <a:r>
              <a:rPr lang="en-IN" sz="1600" dirty="0">
                <a:latin typeface="Times New Roman" panose="02020603050405020304" pitchFamily="18" charset="0"/>
                <a:cs typeface="Times New Roman" panose="02020603050405020304" pitchFamily="18" charset="0"/>
              </a:rPr>
              <a:t> / VS Code / </a:t>
            </a:r>
            <a:r>
              <a:rPr lang="en-IN" sz="1600" dirty="0" err="1">
                <a:latin typeface="Times New Roman" panose="02020603050405020304" pitchFamily="18" charset="0"/>
                <a:cs typeface="Times New Roman" panose="02020603050405020304" pitchFamily="18" charset="0"/>
              </a:rPr>
              <a:t>Jupyter</a:t>
            </a:r>
            <a:r>
              <a:rPr lang="en-IN" sz="1600" dirty="0">
                <a:latin typeface="Times New Roman" panose="02020603050405020304" pitchFamily="18" charset="0"/>
                <a:cs typeface="Times New Roman" panose="02020603050405020304" pitchFamily="18" charset="0"/>
              </a:rPr>
              <a:t> Notebook</a:t>
            </a:r>
          </a:p>
        </p:txBody>
      </p:sp>
      <p:sp>
        <p:nvSpPr>
          <p:cNvPr id="7" name="TextBox 6">
            <a:extLst>
              <a:ext uri="{FF2B5EF4-FFF2-40B4-BE49-F238E27FC236}">
                <a16:creationId xmlns:a16="http://schemas.microsoft.com/office/drawing/2014/main" id="{3AB2F8E3-2166-946F-CA67-828117A9DC0A}"/>
              </a:ext>
            </a:extLst>
          </p:cNvPr>
          <p:cNvSpPr txBox="1"/>
          <p:nvPr/>
        </p:nvSpPr>
        <p:spPr>
          <a:xfrm>
            <a:off x="8188960" y="988057"/>
            <a:ext cx="3464560" cy="2554545"/>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3. AI &amp; NLP Requirements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NLP Model: BERT (Bidirectional Encoder Representations from Transformers)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Libraries: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Transformers (Hugging Face)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TensorFlow / </a:t>
            </a:r>
            <a:r>
              <a:rPr lang="en-IN" sz="1600" dirty="0" err="1">
                <a:latin typeface="Times New Roman" panose="02020603050405020304" pitchFamily="18" charset="0"/>
                <a:cs typeface="Times New Roman" panose="02020603050405020304" pitchFamily="18" charset="0"/>
              </a:rPr>
              <a:t>PyTorch</a:t>
            </a:r>
            <a:r>
              <a:rPr lang="en-IN" sz="16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NLTK / </a:t>
            </a:r>
            <a:r>
              <a:rPr lang="en-IN" sz="1600" dirty="0" err="1">
                <a:latin typeface="Times New Roman" panose="02020603050405020304" pitchFamily="18" charset="0"/>
                <a:cs typeface="Times New Roman" panose="02020603050405020304" pitchFamily="18" charset="0"/>
              </a:rPr>
              <a:t>SpaCy</a:t>
            </a:r>
            <a:r>
              <a:rPr lang="en-IN" sz="1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Emotion Dataset: </a:t>
            </a:r>
            <a:r>
              <a:rPr lang="en-IN" sz="1600" dirty="0" err="1">
                <a:latin typeface="Times New Roman" panose="02020603050405020304" pitchFamily="18" charset="0"/>
                <a:cs typeface="Times New Roman" panose="02020603050405020304" pitchFamily="18" charset="0"/>
              </a:rPr>
              <a:t>GoEmotions</a:t>
            </a:r>
            <a:r>
              <a:rPr lang="en-IN" sz="1600" dirty="0">
                <a:latin typeface="Times New Roman" panose="02020603050405020304" pitchFamily="18" charset="0"/>
                <a:cs typeface="Times New Roman" panose="02020603050405020304" pitchFamily="18" charset="0"/>
              </a:rPr>
              <a:t> / Custom dataset</a:t>
            </a:r>
          </a:p>
        </p:txBody>
      </p:sp>
      <p:sp>
        <p:nvSpPr>
          <p:cNvPr id="9" name="TextBox 8">
            <a:extLst>
              <a:ext uri="{FF2B5EF4-FFF2-40B4-BE49-F238E27FC236}">
                <a16:creationId xmlns:a16="http://schemas.microsoft.com/office/drawing/2014/main" id="{86BBA4C8-8624-AFDE-103C-9412A6078761}"/>
              </a:ext>
            </a:extLst>
          </p:cNvPr>
          <p:cNvSpPr txBox="1"/>
          <p:nvPr/>
        </p:nvSpPr>
        <p:spPr>
          <a:xfrm>
            <a:off x="345140" y="4521662"/>
            <a:ext cx="3215760" cy="1323439"/>
          </a:xfrm>
          <a:prstGeom prst="rect">
            <a:avLst/>
          </a:prstGeom>
          <a:noFill/>
        </p:spPr>
        <p:txBody>
          <a:bodyPr wrap="square">
            <a:spAutoFit/>
          </a:bodyPr>
          <a:lstStyle/>
          <a:p>
            <a:pPr>
              <a:buNone/>
            </a:pPr>
            <a:r>
              <a:rPr lang="en-US" sz="1600" b="1" dirty="0"/>
              <a:t>4. Storage &amp; Memory Requirements</a:t>
            </a:r>
          </a:p>
          <a:p>
            <a:pPr>
              <a:buFont typeface="Arial" panose="020B0604020202020204" pitchFamily="34" charset="0"/>
              <a:buChar char="•"/>
            </a:pPr>
            <a:r>
              <a:rPr lang="en-US" sz="1600" dirty="0"/>
              <a:t>Short-Term Memory: Redis </a:t>
            </a:r>
          </a:p>
          <a:p>
            <a:pPr>
              <a:buFont typeface="Arial" panose="020B0604020202020204" pitchFamily="34" charset="0"/>
              <a:buChar char="•"/>
            </a:pPr>
            <a:r>
              <a:rPr lang="en-US" sz="1600" dirty="0"/>
              <a:t>Long-Term Memory: Pinecone (Vector Database) </a:t>
            </a:r>
          </a:p>
          <a:p>
            <a:pPr>
              <a:buFont typeface="Arial" panose="020B0604020202020204" pitchFamily="34" charset="0"/>
              <a:buChar char="•"/>
            </a:pPr>
            <a:r>
              <a:rPr lang="en-US" sz="1600" dirty="0"/>
              <a:t>File Storage: Cloud / Local storage</a:t>
            </a:r>
          </a:p>
        </p:txBody>
      </p:sp>
      <p:sp>
        <p:nvSpPr>
          <p:cNvPr id="11" name="TextBox 10">
            <a:extLst>
              <a:ext uri="{FF2B5EF4-FFF2-40B4-BE49-F238E27FC236}">
                <a16:creationId xmlns:a16="http://schemas.microsoft.com/office/drawing/2014/main" id="{CE4B9EDE-85AA-FA3D-3A53-F87ED55F7C4C}"/>
              </a:ext>
            </a:extLst>
          </p:cNvPr>
          <p:cNvSpPr txBox="1"/>
          <p:nvPr/>
        </p:nvSpPr>
        <p:spPr>
          <a:xfrm>
            <a:off x="3963490" y="4548132"/>
            <a:ext cx="3657900" cy="1077218"/>
          </a:xfrm>
          <a:prstGeom prst="rect">
            <a:avLst/>
          </a:prstGeom>
          <a:noFill/>
        </p:spPr>
        <p:txBody>
          <a:bodyPr wrap="square">
            <a:spAutoFit/>
          </a:bodyPr>
          <a:lstStyle/>
          <a:p>
            <a:pPr>
              <a:buNone/>
            </a:pPr>
            <a:r>
              <a:rPr lang="en-US" sz="1600" b="1" dirty="0"/>
              <a:t>5. Communication Requirements</a:t>
            </a:r>
          </a:p>
          <a:p>
            <a:pPr>
              <a:buFont typeface="Arial" panose="020B0604020202020204" pitchFamily="34" charset="0"/>
              <a:buChar char="•"/>
            </a:pPr>
            <a:r>
              <a:rPr lang="en-US" sz="1600" dirty="0" err="1"/>
              <a:t>WebSockets</a:t>
            </a:r>
            <a:r>
              <a:rPr lang="en-US" sz="1600" dirty="0"/>
              <a:t> for real-time chat </a:t>
            </a:r>
          </a:p>
          <a:p>
            <a:pPr>
              <a:buFont typeface="Arial" panose="020B0604020202020204" pitchFamily="34" charset="0"/>
              <a:buChar char="•"/>
            </a:pPr>
            <a:r>
              <a:rPr lang="en-US" sz="1600" dirty="0"/>
              <a:t>REST APIs for backend communication </a:t>
            </a:r>
          </a:p>
          <a:p>
            <a:pPr>
              <a:buFont typeface="Arial" panose="020B0604020202020204" pitchFamily="34" charset="0"/>
              <a:buChar char="•"/>
            </a:pPr>
            <a:r>
              <a:rPr lang="en-US" sz="1600" dirty="0"/>
              <a:t>Internet connectivity for API calls</a:t>
            </a:r>
          </a:p>
        </p:txBody>
      </p:sp>
      <p:sp>
        <p:nvSpPr>
          <p:cNvPr id="13" name="TextBox 12">
            <a:extLst>
              <a:ext uri="{FF2B5EF4-FFF2-40B4-BE49-F238E27FC236}">
                <a16:creationId xmlns:a16="http://schemas.microsoft.com/office/drawing/2014/main" id="{032C019E-ED44-FF5A-6E52-8DD0503C21A8}"/>
              </a:ext>
            </a:extLst>
          </p:cNvPr>
          <p:cNvSpPr txBox="1"/>
          <p:nvPr/>
        </p:nvSpPr>
        <p:spPr>
          <a:xfrm>
            <a:off x="8188960" y="4521662"/>
            <a:ext cx="3657900" cy="1323439"/>
          </a:xfrm>
          <a:prstGeom prst="rect">
            <a:avLst/>
          </a:prstGeom>
          <a:noFill/>
        </p:spPr>
        <p:txBody>
          <a:bodyPr wrap="square">
            <a:spAutoFit/>
          </a:bodyPr>
          <a:lstStyle/>
          <a:p>
            <a:pPr>
              <a:buNone/>
            </a:pPr>
            <a:r>
              <a:rPr lang="en-US" sz="1600" b="1" dirty="0"/>
              <a:t>6. Security Requirements</a:t>
            </a:r>
          </a:p>
          <a:p>
            <a:pPr>
              <a:buFont typeface="Arial" panose="020B0604020202020204" pitchFamily="34" charset="0"/>
              <a:buChar char="•"/>
            </a:pPr>
            <a:r>
              <a:rPr lang="en-US" sz="1600" dirty="0"/>
              <a:t>User data encryption (HTTPS / TLS) </a:t>
            </a:r>
          </a:p>
          <a:p>
            <a:pPr>
              <a:buFont typeface="Arial" panose="020B0604020202020204" pitchFamily="34" charset="0"/>
              <a:buChar char="•"/>
            </a:pPr>
            <a:r>
              <a:rPr lang="en-US" sz="1600" dirty="0"/>
              <a:t>Authentication &amp; Authorization </a:t>
            </a:r>
          </a:p>
          <a:p>
            <a:pPr>
              <a:buFont typeface="Arial" panose="020B0604020202020204" pitchFamily="34" charset="0"/>
              <a:buChar char="•"/>
            </a:pPr>
            <a:r>
              <a:rPr lang="en-US" sz="1600" dirty="0"/>
              <a:t>Data privacy and anonymization </a:t>
            </a:r>
          </a:p>
          <a:p>
            <a:pPr>
              <a:buFont typeface="Arial" panose="020B0604020202020204" pitchFamily="34" charset="0"/>
              <a:buChar char="•"/>
            </a:pPr>
            <a:r>
              <a:rPr lang="en-US" sz="1600" dirty="0"/>
              <a:t>Secure database access</a:t>
            </a:r>
          </a:p>
        </p:txBody>
      </p:sp>
    </p:spTree>
    <p:extLst>
      <p:ext uri="{BB962C8B-B14F-4D97-AF65-F5344CB8AC3E}">
        <p14:creationId xmlns:p14="http://schemas.microsoft.com/office/powerpoint/2010/main" val="3769564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774B0-67FA-3038-866B-4BAC51663303}"/>
              </a:ext>
            </a:extLst>
          </p:cNvPr>
          <p:cNvSpPr>
            <a:spLocks noGrp="1"/>
          </p:cNvSpPr>
          <p:nvPr>
            <p:ph type="title"/>
          </p:nvPr>
        </p:nvSpPr>
        <p:spPr>
          <a:xfrm>
            <a:off x="416049" y="524032"/>
            <a:ext cx="10515240" cy="730230"/>
          </a:xfrm>
        </p:spPr>
        <p:txBody>
          <a:bodyPr/>
          <a:lstStyle/>
          <a:p>
            <a:r>
              <a:rPr lang="en-IN" sz="4000" b="1" dirty="0">
                <a:latin typeface="Times New Roman" panose="02020603050405020304" pitchFamily="18" charset="0"/>
                <a:cs typeface="Times New Roman" panose="02020603050405020304" pitchFamily="18" charset="0"/>
              </a:rPr>
              <a:t>ROADMAP</a:t>
            </a:r>
          </a:p>
        </p:txBody>
      </p:sp>
      <p:sp>
        <p:nvSpPr>
          <p:cNvPr id="3" name="Text Placeholder 2">
            <a:extLst>
              <a:ext uri="{FF2B5EF4-FFF2-40B4-BE49-F238E27FC236}">
                <a16:creationId xmlns:a16="http://schemas.microsoft.com/office/drawing/2014/main" id="{74BA4B37-280B-9B85-3B36-08476F924832}"/>
              </a:ext>
            </a:extLst>
          </p:cNvPr>
          <p:cNvSpPr>
            <a:spLocks noGrp="1"/>
          </p:cNvSpPr>
          <p:nvPr>
            <p:ph type="body"/>
          </p:nvPr>
        </p:nvSpPr>
        <p:spPr>
          <a:xfrm>
            <a:off x="653396" y="2056669"/>
            <a:ext cx="4762665" cy="3547069"/>
          </a:xfrm>
        </p:spPr>
        <p:txBody>
          <a:bodyPr/>
          <a:lstStyle/>
          <a:p>
            <a:r>
              <a:rPr lang="en-IN" sz="1800" b="1" dirty="0">
                <a:latin typeface="Times New Roman" panose="02020603050405020304" pitchFamily="18" charset="0"/>
                <a:cs typeface="Times New Roman" panose="02020603050405020304" pitchFamily="18" charset="0"/>
              </a:rPr>
              <a:t>Phase 1 — Now (Current Prototype)</a:t>
            </a:r>
          </a:p>
          <a:p>
            <a:r>
              <a:rPr lang="en-IN" sz="1800" b="1" dirty="0">
                <a:latin typeface="Times New Roman" panose="02020603050405020304" pitchFamily="18" charset="0"/>
                <a:cs typeface="Times New Roman" panose="02020603050405020304" pitchFamily="18" charset="0"/>
              </a:rPr>
              <a:t>What's built:</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Full React + Tailwind UI (Patient Sanctuary + Clinical Hub)</a:t>
            </a:r>
          </a:p>
          <a:p>
            <a:r>
              <a:rPr lang="en-IN" sz="1800" dirty="0">
                <a:latin typeface="Times New Roman" panose="02020603050405020304" pitchFamily="18" charset="0"/>
                <a:cs typeface="Times New Roman" panose="02020603050405020304" pitchFamily="18" charset="0"/>
              </a:rPr>
              <a:t>BERT-based 96-state emotion engine via </a:t>
            </a:r>
            <a:r>
              <a:rPr lang="en-IN" sz="1800" dirty="0" err="1">
                <a:latin typeface="Times New Roman" panose="02020603050405020304" pitchFamily="18" charset="0"/>
                <a:cs typeface="Times New Roman" panose="02020603050405020304" pitchFamily="18" charset="0"/>
              </a:rPr>
              <a:t>FastAPI</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Pinecone vector memory system</a:t>
            </a:r>
          </a:p>
          <a:p>
            <a:r>
              <a:rPr lang="en-IN" sz="1800" dirty="0">
                <a:latin typeface="Times New Roman" panose="02020603050405020304" pitchFamily="18" charset="0"/>
                <a:cs typeface="Times New Roman" panose="02020603050405020304" pitchFamily="18" charset="0"/>
              </a:rPr>
              <a:t>MHQ dynamic scoring (0–100)</a:t>
            </a:r>
          </a:p>
          <a:p>
            <a:r>
              <a:rPr lang="en-IN" sz="1800" dirty="0">
                <a:latin typeface="Times New Roman" panose="02020603050405020304" pitchFamily="18" charset="0"/>
                <a:cs typeface="Times New Roman" panose="02020603050405020304" pitchFamily="18" charset="0"/>
              </a:rPr>
              <a:t>Attrition prediction algorithm</a:t>
            </a:r>
          </a:p>
          <a:p>
            <a:r>
              <a:rPr lang="en-IN" sz="1800" dirty="0">
                <a:latin typeface="Times New Roman" panose="02020603050405020304" pitchFamily="18" charset="0"/>
                <a:cs typeface="Times New Roman" panose="02020603050405020304" pitchFamily="18" charset="0"/>
              </a:rPr>
              <a:t>n8n automation pipeline</a:t>
            </a:r>
          </a:p>
          <a:p>
            <a:r>
              <a:rPr lang="en-IN" sz="1800" dirty="0">
                <a:latin typeface="Times New Roman" panose="02020603050405020304" pitchFamily="18" charset="0"/>
                <a:cs typeface="Times New Roman" panose="02020603050405020304" pitchFamily="18" charset="0"/>
              </a:rPr>
              <a:t>7 therapeutic AI response types</a:t>
            </a:r>
          </a:p>
          <a:p>
            <a:pPr marL="0" indent="0">
              <a:buNone/>
            </a:pPr>
            <a:endParaRPr lang="en-US" sz="1800" dirty="0"/>
          </a:p>
          <a:p>
            <a:pPr marL="0" indent="0">
              <a:buNone/>
            </a:pPr>
            <a:endParaRPr lang="en-IN" dirty="0"/>
          </a:p>
        </p:txBody>
      </p:sp>
      <p:sp>
        <p:nvSpPr>
          <p:cNvPr id="4" name="TextBox 3">
            <a:extLst>
              <a:ext uri="{FF2B5EF4-FFF2-40B4-BE49-F238E27FC236}">
                <a16:creationId xmlns:a16="http://schemas.microsoft.com/office/drawing/2014/main" id="{5055C392-83A5-0774-9927-A62A53ADA7DD}"/>
              </a:ext>
            </a:extLst>
          </p:cNvPr>
          <p:cNvSpPr txBox="1"/>
          <p:nvPr/>
        </p:nvSpPr>
        <p:spPr>
          <a:xfrm>
            <a:off x="5945275" y="2056669"/>
            <a:ext cx="5334000" cy="286232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Phase 2 — 3 Months (Deployment &amp; Engagement)</a:t>
            </a:r>
          </a:p>
          <a:p>
            <a:r>
              <a:rPr lang="en-US" b="1" dirty="0">
                <a:latin typeface="Times New Roman" panose="02020603050405020304" pitchFamily="18" charset="0"/>
                <a:cs typeface="Times New Roman" panose="02020603050405020304" pitchFamily="18" charset="0"/>
              </a:rPr>
              <a:t>What's planned:</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Cloud deployment</a:t>
            </a:r>
            <a:r>
              <a:rPr lang="en-US" dirty="0">
                <a:latin typeface="Times New Roman" panose="02020603050405020304" pitchFamily="18" charset="0"/>
                <a:cs typeface="Times New Roman" panose="02020603050405020304" pitchFamily="18" charset="0"/>
              </a:rPr>
              <a:t> on AWS / </a:t>
            </a:r>
            <a:r>
              <a:rPr lang="en-US" dirty="0" err="1">
                <a:latin typeface="Times New Roman" panose="02020603050405020304" pitchFamily="18" charset="0"/>
                <a:cs typeface="Times New Roman" panose="02020603050405020304" pitchFamily="18" charset="0"/>
              </a:rPr>
              <a:t>Vercel</a:t>
            </a:r>
            <a:r>
              <a:rPr lang="en-US" dirty="0">
                <a:latin typeface="Times New Roman" panose="02020603050405020304" pitchFamily="18" charset="0"/>
                <a:cs typeface="Times New Roman" panose="02020603050405020304" pitchFamily="18" charset="0"/>
              </a:rPr>
              <a:t> for real users</a:t>
            </a:r>
          </a:p>
          <a:p>
            <a:r>
              <a:rPr lang="en-US" b="1" dirty="0">
                <a:latin typeface="Times New Roman" panose="02020603050405020304" pitchFamily="18" charset="0"/>
                <a:cs typeface="Times New Roman" panose="02020603050405020304" pitchFamily="18" charset="0"/>
              </a:rPr>
              <a:t>WhatsApp integration</a:t>
            </a:r>
            <a:r>
              <a:rPr lang="en-US" dirty="0">
                <a:latin typeface="Times New Roman" panose="02020603050405020304" pitchFamily="18" charset="0"/>
                <a:cs typeface="Times New Roman" panose="02020603050405020304" pitchFamily="18" charset="0"/>
              </a:rPr>
              <a:t> — reach users where they already are</a:t>
            </a:r>
          </a:p>
          <a:p>
            <a:r>
              <a:rPr lang="en-US" b="1" dirty="0">
                <a:latin typeface="Times New Roman" panose="02020603050405020304" pitchFamily="18" charset="0"/>
                <a:cs typeface="Times New Roman" panose="02020603050405020304" pitchFamily="18" charset="0"/>
              </a:rPr>
              <a:t>Automated engagement</a:t>
            </a:r>
            <a:r>
              <a:rPr lang="en-US" dirty="0">
                <a:latin typeface="Times New Roman" panose="02020603050405020304" pitchFamily="18" charset="0"/>
                <a:cs typeface="Times New Roman" panose="02020603050405020304" pitchFamily="18" charset="0"/>
              </a:rPr>
              <a:t> — scheduled check-ins, mood nudges, streak reminders</a:t>
            </a:r>
          </a:p>
          <a:p>
            <a:r>
              <a:rPr lang="en-US" b="1" dirty="0">
                <a:latin typeface="Times New Roman" panose="02020603050405020304" pitchFamily="18" charset="0"/>
                <a:cs typeface="Times New Roman" panose="02020603050405020304" pitchFamily="18" charset="0"/>
              </a:rPr>
              <a:t>Multi-language support</a:t>
            </a:r>
            <a:r>
              <a:rPr lang="en-US" dirty="0">
                <a:latin typeface="Times New Roman" panose="02020603050405020304" pitchFamily="18" charset="0"/>
                <a:cs typeface="Times New Roman" panose="02020603050405020304" pitchFamily="18" charset="0"/>
              </a:rPr>
              <a:t> — Tamil, Hindi, regional languages (building on existing Tamil capability)</a:t>
            </a:r>
          </a:p>
          <a:p>
            <a:endParaRPr lang="en-IN" dirty="0"/>
          </a:p>
        </p:txBody>
      </p:sp>
    </p:spTree>
    <p:extLst>
      <p:ext uri="{BB962C8B-B14F-4D97-AF65-F5344CB8AC3E}">
        <p14:creationId xmlns:p14="http://schemas.microsoft.com/office/powerpoint/2010/main" val="25322705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29AA28-090C-3E83-91ED-FB2E74F03C25}"/>
              </a:ext>
            </a:extLst>
          </p:cNvPr>
          <p:cNvSpPr txBox="1"/>
          <p:nvPr/>
        </p:nvSpPr>
        <p:spPr>
          <a:xfrm>
            <a:off x="1165609" y="1582340"/>
            <a:ext cx="4099727" cy="369331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Phase 3 — 6 Months (Biometric Intelligence)</a:t>
            </a:r>
          </a:p>
          <a:p>
            <a:r>
              <a:rPr lang="en-IN" b="1" dirty="0">
                <a:latin typeface="Times New Roman" panose="02020603050405020304" pitchFamily="18" charset="0"/>
                <a:cs typeface="Times New Roman" panose="02020603050405020304" pitchFamily="18" charset="0"/>
              </a:rPr>
              <a:t>What's planned:</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Smartwatch / Wearable integration</a:t>
            </a:r>
            <a:r>
              <a:rPr lang="en-IN" dirty="0">
                <a:latin typeface="Times New Roman" panose="02020603050405020304" pitchFamily="18" charset="0"/>
                <a:cs typeface="Times New Roman" panose="02020603050405020304" pitchFamily="18" charset="0"/>
              </a:rPr>
              <a:t> (Apple Watch, Fitbit, Garmin)</a:t>
            </a:r>
          </a:p>
          <a:p>
            <a:r>
              <a:rPr lang="en-IN" dirty="0">
                <a:latin typeface="Times New Roman" panose="02020603050405020304" pitchFamily="18" charset="0"/>
                <a:cs typeface="Times New Roman" panose="02020603050405020304" pitchFamily="18" charset="0"/>
              </a:rPr>
              <a:t>Monitor: Heart rate variability, sleep patterns, stress signals</a:t>
            </a:r>
          </a:p>
          <a:p>
            <a:r>
              <a:rPr lang="en-IN" b="1" dirty="0">
                <a:latin typeface="Times New Roman" panose="02020603050405020304" pitchFamily="18" charset="0"/>
                <a:cs typeface="Times New Roman" panose="02020603050405020304" pitchFamily="18" charset="0"/>
              </a:rPr>
              <a:t>Auto-trigger</a:t>
            </a:r>
            <a:r>
              <a:rPr lang="en-IN" dirty="0">
                <a:latin typeface="Times New Roman" panose="02020603050405020304" pitchFamily="18" charset="0"/>
                <a:cs typeface="Times New Roman" panose="02020603050405020304" pitchFamily="18" charset="0"/>
              </a:rPr>
              <a:t> calming tools when physiological distress detected</a:t>
            </a:r>
          </a:p>
          <a:p>
            <a:r>
              <a:rPr lang="en-IN" dirty="0">
                <a:latin typeface="Times New Roman" panose="02020603050405020304" pitchFamily="18" charset="0"/>
                <a:cs typeface="Times New Roman" panose="02020603050405020304" pitchFamily="18" charset="0"/>
              </a:rPr>
              <a:t>Example: Heart rate spikes → Keffi automatically sends 4-7-8 breathing exercise</a:t>
            </a:r>
          </a:p>
          <a:p>
            <a:endParaRPr lang="en-IN" dirty="0"/>
          </a:p>
        </p:txBody>
      </p:sp>
      <p:sp>
        <p:nvSpPr>
          <p:cNvPr id="6" name="TextBox 5">
            <a:extLst>
              <a:ext uri="{FF2B5EF4-FFF2-40B4-BE49-F238E27FC236}">
                <a16:creationId xmlns:a16="http://schemas.microsoft.com/office/drawing/2014/main" id="{14655433-7A7D-1C49-FA97-5BF7FCA32BB3}"/>
              </a:ext>
            </a:extLst>
          </p:cNvPr>
          <p:cNvSpPr txBox="1"/>
          <p:nvPr/>
        </p:nvSpPr>
        <p:spPr>
          <a:xfrm>
            <a:off x="6692203" y="1597137"/>
            <a:ext cx="4407801" cy="369331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Phase 4 — 1 Year+ (Clinical Validation &amp; Scale)</a:t>
            </a:r>
          </a:p>
          <a:p>
            <a:r>
              <a:rPr lang="en-IN" b="1" dirty="0">
                <a:latin typeface="Times New Roman" panose="02020603050405020304" pitchFamily="18" charset="0"/>
                <a:cs typeface="Times New Roman" panose="02020603050405020304" pitchFamily="18" charset="0"/>
              </a:rPr>
              <a:t>What's planned:</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IRB-approved clinical trial</a:t>
            </a:r>
            <a:r>
              <a:rPr lang="en-IN" dirty="0">
                <a:latin typeface="Times New Roman" panose="02020603050405020304" pitchFamily="18" charset="0"/>
                <a:cs typeface="Times New Roman" panose="02020603050405020304" pitchFamily="18" charset="0"/>
              </a:rPr>
              <a:t> — validate Keffi in real hospital/clinic setting</a:t>
            </a:r>
          </a:p>
          <a:p>
            <a:r>
              <a:rPr lang="en-IN" b="1" dirty="0">
                <a:latin typeface="Times New Roman" panose="02020603050405020304" pitchFamily="18" charset="0"/>
                <a:cs typeface="Times New Roman" panose="02020603050405020304" pitchFamily="18" charset="0"/>
              </a:rPr>
              <a:t>Doctor integration</a:t>
            </a:r>
            <a:r>
              <a:rPr lang="en-IN" dirty="0">
                <a:latin typeface="Times New Roman" panose="02020603050405020304" pitchFamily="18" charset="0"/>
                <a:cs typeface="Times New Roman" panose="02020603050405020304" pitchFamily="18" charset="0"/>
              </a:rPr>
              <a:t> — prescribing doctors can view MHQ scores alongside PHQ results</a:t>
            </a:r>
          </a:p>
          <a:p>
            <a:r>
              <a:rPr lang="en-IN" b="1" dirty="0">
                <a:latin typeface="Times New Roman" panose="02020603050405020304" pitchFamily="18" charset="0"/>
                <a:cs typeface="Times New Roman" panose="02020603050405020304" pitchFamily="18" charset="0"/>
              </a:rPr>
              <a:t>Insurance &amp; healthcare system</a:t>
            </a:r>
            <a:r>
              <a:rPr lang="en-IN" dirty="0">
                <a:latin typeface="Times New Roman" panose="02020603050405020304" pitchFamily="18" charset="0"/>
                <a:cs typeface="Times New Roman" panose="02020603050405020304" pitchFamily="18" charset="0"/>
              </a:rPr>
              <a:t> tie-ins</a:t>
            </a:r>
          </a:p>
          <a:p>
            <a:r>
              <a:rPr lang="en-IN" b="1" dirty="0">
                <a:latin typeface="Times New Roman" panose="02020603050405020304" pitchFamily="18" charset="0"/>
                <a:cs typeface="Times New Roman" panose="02020603050405020304" pitchFamily="18" charset="0"/>
              </a:rPr>
              <a:t>FDA/CE digital therapeutics</a:t>
            </a:r>
            <a:r>
              <a:rPr lang="en-IN" dirty="0">
                <a:latin typeface="Times New Roman" panose="02020603050405020304" pitchFamily="18" charset="0"/>
                <a:cs typeface="Times New Roman" panose="02020603050405020304" pitchFamily="18" charset="0"/>
              </a:rPr>
              <a:t> certification pathway</a:t>
            </a:r>
          </a:p>
          <a:p>
            <a:r>
              <a:rPr lang="en-IN" b="1" dirty="0">
                <a:latin typeface="Times New Roman" panose="02020603050405020304" pitchFamily="18" charset="0"/>
                <a:cs typeface="Times New Roman" panose="02020603050405020304" pitchFamily="18" charset="0"/>
              </a:rPr>
              <a:t>Research publication</a:t>
            </a:r>
            <a:r>
              <a:rPr lang="en-IN" dirty="0">
                <a:latin typeface="Times New Roman" panose="02020603050405020304" pitchFamily="18" charset="0"/>
                <a:cs typeface="Times New Roman" panose="02020603050405020304" pitchFamily="18" charset="0"/>
              </a:rPr>
              <a:t> — contribute to the </a:t>
            </a:r>
            <a:r>
              <a:rPr lang="en-IN" dirty="0" err="1">
                <a:latin typeface="Times New Roman" panose="02020603050405020304" pitchFamily="18" charset="0"/>
                <a:cs typeface="Times New Roman" panose="02020603050405020304" pitchFamily="18" charset="0"/>
              </a:rPr>
              <a:t>Woebot</a:t>
            </a:r>
            <a:r>
              <a:rPr lang="en-IN" dirty="0">
                <a:latin typeface="Times New Roman" panose="02020603050405020304" pitchFamily="18" charset="0"/>
                <a:cs typeface="Times New Roman" panose="02020603050405020304" pitchFamily="18" charset="0"/>
              </a:rPr>
              <a:t>-level evidence base</a:t>
            </a:r>
          </a:p>
          <a:p>
            <a:endParaRPr lang="en-IN" dirty="0"/>
          </a:p>
        </p:txBody>
      </p:sp>
    </p:spTree>
    <p:extLst>
      <p:ext uri="{BB962C8B-B14F-4D97-AF65-F5344CB8AC3E}">
        <p14:creationId xmlns:p14="http://schemas.microsoft.com/office/powerpoint/2010/main" val="23419778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1B7E8-1769-EB8C-767A-C779D10C37A9}"/>
              </a:ext>
            </a:extLst>
          </p:cNvPr>
          <p:cNvSpPr>
            <a:spLocks noGrp="1"/>
          </p:cNvSpPr>
          <p:nvPr>
            <p:ph type="title"/>
          </p:nvPr>
        </p:nvSpPr>
        <p:spPr>
          <a:xfrm>
            <a:off x="208160" y="222800"/>
            <a:ext cx="6436480" cy="569680"/>
          </a:xfrm>
        </p:spPr>
        <p:txBody>
          <a:bodyPr/>
          <a:lstStyle/>
          <a:p>
            <a:r>
              <a:rPr lang="en-IN" sz="3200" b="1" dirty="0">
                <a:latin typeface="Times New Roman" panose="02020603050405020304" pitchFamily="18" charset="0"/>
                <a:cs typeface="Times New Roman" panose="02020603050405020304" pitchFamily="18" charset="0"/>
              </a:rPr>
              <a:t>JOURNEY VIDEO REFERENCE</a:t>
            </a:r>
          </a:p>
        </p:txBody>
      </p:sp>
      <p:pic>
        <p:nvPicPr>
          <p:cNvPr id="5" name="Picture 4">
            <a:extLst>
              <a:ext uri="{FF2B5EF4-FFF2-40B4-BE49-F238E27FC236}">
                <a16:creationId xmlns:a16="http://schemas.microsoft.com/office/drawing/2014/main" id="{1D99AFE5-309C-4B1C-1BAC-BC58F6B9DB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6400" y="1069815"/>
            <a:ext cx="3062296" cy="5565385"/>
          </a:xfrm>
          <a:prstGeom prst="rect">
            <a:avLst/>
          </a:prstGeom>
        </p:spPr>
      </p:pic>
      <p:sp>
        <p:nvSpPr>
          <p:cNvPr id="6" name="TextBox 5">
            <a:extLst>
              <a:ext uri="{FF2B5EF4-FFF2-40B4-BE49-F238E27FC236}">
                <a16:creationId xmlns:a16="http://schemas.microsoft.com/office/drawing/2014/main" id="{05DBC722-F020-641F-4D24-630D2C7C4CE3}"/>
              </a:ext>
            </a:extLst>
          </p:cNvPr>
          <p:cNvSpPr txBox="1"/>
          <p:nvPr/>
        </p:nvSpPr>
        <p:spPr>
          <a:xfrm>
            <a:off x="378400" y="1104650"/>
            <a:ext cx="2897363" cy="923330"/>
          </a:xfrm>
          <a:prstGeom prst="rect">
            <a:avLst/>
          </a:prstGeom>
          <a:noFill/>
        </p:spPr>
        <p:txBody>
          <a:bodyPr wrap="square">
            <a:spAutoFit/>
          </a:bodyPr>
          <a:lstStyle/>
          <a:p>
            <a:pPr marL="0" indent="0">
              <a:buNone/>
            </a:pPr>
            <a:r>
              <a:rPr lang="en-IN" sz="1800" dirty="0">
                <a:latin typeface="Times New Roman" panose="02020603050405020304" pitchFamily="18" charset="0"/>
                <a:cs typeface="Times New Roman" panose="02020603050405020304" pitchFamily="18" charset="0"/>
              </a:rPr>
              <a:t>FIRST REVIEW OF OUR </a:t>
            </a:r>
          </a:p>
          <a:p>
            <a:pPr marL="0" indent="0">
              <a:buNone/>
            </a:pPr>
            <a:r>
              <a:rPr lang="en-IN" sz="1800" dirty="0">
                <a:latin typeface="Times New Roman" panose="02020603050405020304" pitchFamily="18" charset="0"/>
                <a:cs typeface="Times New Roman" panose="02020603050405020304" pitchFamily="18" charset="0"/>
              </a:rPr>
              <a:t>PROJECT WITH COLLEGE</a:t>
            </a:r>
            <a:endParaRPr lang="en-IN"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MENTOR</a:t>
            </a:r>
          </a:p>
        </p:txBody>
      </p:sp>
    </p:spTree>
    <p:extLst>
      <p:ext uri="{BB962C8B-B14F-4D97-AF65-F5344CB8AC3E}">
        <p14:creationId xmlns:p14="http://schemas.microsoft.com/office/powerpoint/2010/main" val="11206217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70756-6436-27B0-A9AD-329A6ED5875F}"/>
              </a:ext>
            </a:extLst>
          </p:cNvPr>
          <p:cNvSpPr>
            <a:spLocks noGrp="1"/>
          </p:cNvSpPr>
          <p:nvPr>
            <p:ph type="title"/>
          </p:nvPr>
        </p:nvSpPr>
        <p:spPr/>
        <p:txBody>
          <a:bodyPr/>
          <a:lstStyle/>
          <a:p>
            <a:r>
              <a:rPr lang="en-IN" sz="4000" b="1" dirty="0">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96AD9DA8-3FBF-D77E-837A-5052AE137525}"/>
              </a:ext>
            </a:extLst>
          </p:cNvPr>
          <p:cNvSpPr>
            <a:spLocks noGrp="1" noChangeArrowheads="1"/>
          </p:cNvSpPr>
          <p:nvPr>
            <p:ph type="body"/>
          </p:nvPr>
        </p:nvSpPr>
        <p:spPr bwMode="auto">
          <a:xfrm>
            <a:off x="1130506" y="2136337"/>
            <a:ext cx="1080685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sz="1800" dirty="0">
                <a:latin typeface="Times New Roman" panose="02020603050405020304" pitchFamily="18" charset="0"/>
                <a:cs typeface="Times New Roman" panose="02020603050405020304" pitchFamily="18" charset="0"/>
              </a:rPr>
              <a:t>Keffi AI is not just a traditional chatbot but a clinically inspired digital mental health platform that combines artificial intelligence with proven psychological frameworks to deliver personalized and real-time support. By understanding 96+ emotional and depression states, integrating therapeutic response strategies like CBT and empathy-based interaction, and enabling automation through systems like n8n, the platform ensures both intelligent conversation and timely intervention. It addresses key limitations of existing solutions such as lack of memory, poor personalization, and absence of safety mechanisms. With features like MHQ scoring, attrition prediction, and </a:t>
            </a:r>
          </a:p>
          <a:p>
            <a:pPr lvl="0" eaLnBrk="0" fontAlgn="base" hangingPunct="0">
              <a:lnSpc>
                <a:spcPct val="100000"/>
              </a:lnSpc>
              <a:spcAft>
                <a:spcPct val="0"/>
              </a:spcAft>
            </a:pPr>
            <a:r>
              <a:rPr lang="en-US" sz="1800" dirty="0">
                <a:latin typeface="Times New Roman" panose="02020603050405020304" pitchFamily="18" charset="0"/>
                <a:cs typeface="Times New Roman" panose="02020603050405020304" pitchFamily="18" charset="0"/>
              </a:rPr>
              <a:t>future integration with wearable devices, Keffi AI moves towards a proactive and continuous mental healthcare </a:t>
            </a:r>
          </a:p>
          <a:p>
            <a:pPr lvl="0" eaLnBrk="0" fontAlgn="base" hangingPunct="0">
              <a:lnSpc>
                <a:spcPct val="100000"/>
              </a:lnSpc>
              <a:spcAft>
                <a:spcPct val="0"/>
              </a:spcAft>
            </a:pPr>
            <a:r>
              <a:rPr lang="en-US" sz="1800" dirty="0">
                <a:latin typeface="Times New Roman" panose="02020603050405020304" pitchFamily="18" charset="0"/>
                <a:cs typeface="Times New Roman" panose="02020603050405020304" pitchFamily="18" charset="0"/>
              </a:rPr>
              <a:t>model. Overall, it represents a shift from reactive chatbot systems to a smart, scalable, and clinically aware mental</a:t>
            </a:r>
          </a:p>
          <a:p>
            <a:pPr lvl="0" eaLnBrk="0" fontAlgn="base" hangingPunct="0">
              <a:lnSpc>
                <a:spcPct val="100000"/>
              </a:lnSpc>
              <a:spcAft>
                <a:spcPct val="0"/>
              </a:spcAft>
            </a:pPr>
            <a:r>
              <a:rPr lang="en-US" sz="1800" dirty="0">
                <a:latin typeface="Times New Roman" panose="02020603050405020304" pitchFamily="18" charset="0"/>
                <a:cs typeface="Times New Roman" panose="02020603050405020304" pitchFamily="18" charset="0"/>
              </a:rPr>
              <a:t>health ecosystem capable of supporting users effectively and bridging the gap between technology and healthcare.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26027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p:nvPr>
        </p:nvSpPr>
        <p:spPr>
          <a:xfrm>
            <a:off x="838080" y="1022400"/>
            <a:ext cx="10515240" cy="515448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endParaRPr lang="en-US" sz="4000" b="0" u="none" strike="noStrike" dirty="0">
              <a:solidFill>
                <a:schemeClr val="dk1"/>
              </a:solidFill>
              <a:effectLst/>
              <a:uFillTx/>
              <a:latin typeface="Calibri"/>
            </a:endParaRPr>
          </a:p>
          <a:p>
            <a:pPr indent="0" algn="ctr" defTabSz="914400">
              <a:lnSpc>
                <a:spcPct val="90000"/>
              </a:lnSpc>
              <a:spcBef>
                <a:spcPts val="1001"/>
              </a:spcBef>
              <a:buNone/>
              <a:tabLst>
                <a:tab pos="0" algn="l"/>
              </a:tabLst>
            </a:pPr>
            <a:endParaRPr lang="en-US" sz="4000" b="0" u="none" strike="noStrike" dirty="0">
              <a:solidFill>
                <a:schemeClr val="dk1"/>
              </a:solidFill>
              <a:effectLst/>
              <a:uFillTx/>
              <a:latin typeface="Calibri"/>
            </a:endParaRPr>
          </a:p>
          <a:p>
            <a:pPr indent="0" algn="ctr" defTabSz="914400">
              <a:lnSpc>
                <a:spcPct val="90000"/>
              </a:lnSpc>
              <a:spcBef>
                <a:spcPts val="1001"/>
              </a:spcBef>
              <a:buNone/>
              <a:tabLst>
                <a:tab pos="0" algn="l"/>
              </a:tabLst>
            </a:pPr>
            <a:endParaRPr lang="en-US" sz="4000" b="0" u="none" strike="noStrike" dirty="0">
              <a:solidFill>
                <a:schemeClr val="dk1"/>
              </a:solidFill>
              <a:effectLst/>
              <a:uFillTx/>
              <a:latin typeface="Calibri"/>
            </a:endParaRPr>
          </a:p>
          <a:p>
            <a:pPr indent="0" algn="ctr" defTabSz="914400">
              <a:lnSpc>
                <a:spcPct val="90000"/>
              </a:lnSpc>
              <a:spcBef>
                <a:spcPts val="1001"/>
              </a:spcBef>
              <a:buNone/>
              <a:tabLst>
                <a:tab pos="0" algn="l"/>
              </a:tabLst>
            </a:pPr>
            <a:r>
              <a:rPr lang="en-IN" sz="4000" b="1" u="none" strike="noStrike" dirty="0">
                <a:solidFill>
                  <a:schemeClr val="dk1"/>
                </a:solidFill>
                <a:effectLst/>
                <a:uFillTx/>
                <a:latin typeface="Times New Roman"/>
              </a:rPr>
              <a:t>THANK YOU</a:t>
            </a:r>
            <a:endParaRPr lang="en-US" sz="4000" b="1" u="none" strike="noStrike" dirty="0">
              <a:solidFill>
                <a:schemeClr val="dk1"/>
              </a:solidFill>
              <a:effectLst/>
              <a:uFillTx/>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710</TotalTime>
  <Words>4707</Words>
  <Application>Microsoft Office PowerPoint</Application>
  <PresentationFormat>Widescreen</PresentationFormat>
  <Paragraphs>587</Paragraphs>
  <Slides>31</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Aptos</vt:lpstr>
      <vt:lpstr>Arial</vt:lpstr>
      <vt:lpstr>Calibri</vt:lpstr>
      <vt:lpstr>Calibri Light</vt:lpstr>
      <vt:lpstr>Symbol</vt:lpstr>
      <vt:lpstr>Times New Roman</vt:lpstr>
      <vt:lpstr>Wingdings</vt:lpstr>
      <vt:lpstr>Office Theme</vt:lpstr>
      <vt:lpstr>PowerPoint Presentation</vt:lpstr>
      <vt:lpstr>ABSTRACT</vt:lpstr>
      <vt:lpstr>PROBLEM STATEMENT</vt:lpstr>
      <vt:lpstr>SOLUTION</vt:lpstr>
      <vt:lpstr>PowerPoint Presentation</vt:lpstr>
      <vt:lpstr>PowerPoint Presentation</vt:lpstr>
      <vt:lpstr>RESEARCH AND SCIENTIFIC VALIDATION</vt:lpstr>
      <vt:lpstr>PowerPoint Presentation</vt:lpstr>
      <vt:lpstr>96-STATE CLINICAL EMOTION MODEL</vt:lpstr>
      <vt:lpstr>PowerPoint Presentation</vt:lpstr>
      <vt:lpstr>PowerPoint Presentation</vt:lpstr>
      <vt:lpstr>PHQ + MHQ HYBRID SCORING SYSTEM</vt:lpstr>
      <vt:lpstr>The Clinical Brain — BERT + Fast API  </vt:lpstr>
      <vt:lpstr>RAG (Retrieval-Augmented Generation) – Intelligent Memory &amp; Clinical Knowledge Engine</vt:lpstr>
      <vt:lpstr>DATASET &amp; TRAINING DATA</vt:lpstr>
      <vt:lpstr>SYSTEM ARCHITECTURE — LAYERED AI INFRASTRUCTURE</vt:lpstr>
      <vt:lpstr>PowerPoint Presentation</vt:lpstr>
      <vt:lpstr>PowerPoint Presentation</vt:lpstr>
      <vt:lpstr>MODULE DESCRIPTION</vt:lpstr>
      <vt:lpstr>PowerPoint Presentation</vt:lpstr>
      <vt:lpstr>CORE ARCHITECTURE – N8N AUTOMATION ENGINE</vt:lpstr>
      <vt:lpstr>PowerPoint Presentation</vt:lpstr>
      <vt:lpstr>PowerPoint Presentation</vt:lpstr>
      <vt:lpstr>ADVANTAGE</vt:lpstr>
      <vt:lpstr>PowerPoint Presentation</vt:lpstr>
      <vt:lpstr>SYSTEM REQUIREMENTS</vt:lpstr>
      <vt:lpstr>ROADMAP</vt:lpstr>
      <vt:lpstr>PowerPoint Presentation</vt:lpstr>
      <vt:lpstr>JOURNEY VIDEO REFERENCE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subject/>
  <dc:creator>acer</dc:creator>
  <dc:description/>
  <cp:lastModifiedBy>Madhumathi Senthil</cp:lastModifiedBy>
  <cp:revision>181</cp:revision>
  <cp:lastPrinted>2026-04-28T13:42:20Z</cp:lastPrinted>
  <dcterms:created xsi:type="dcterms:W3CDTF">2025-07-23T00:59:00Z</dcterms:created>
  <dcterms:modified xsi:type="dcterms:W3CDTF">2026-05-09T06:48:30Z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3F3DACA3EF624FC2BA04BD35DF4690C6_13</vt:lpwstr>
  </property>
  <property fmtid="{D5CDD505-2E9C-101B-9397-08002B2CF9AE}" pid="3" name="KSOProductBuildVer">
    <vt:lpwstr>1033-12.1.0.25242</vt:lpwstr>
  </property>
  <property fmtid="{D5CDD505-2E9C-101B-9397-08002B2CF9AE}" pid="4" name="Notes">
    <vt:i4>4</vt:i4>
  </property>
  <property fmtid="{D5CDD505-2E9C-101B-9397-08002B2CF9AE}" pid="5" name="PresentationFormat">
    <vt:lpwstr>Widescreen</vt:lpwstr>
  </property>
  <property fmtid="{D5CDD505-2E9C-101B-9397-08002B2CF9AE}" pid="6" name="Slides">
    <vt:i4>19</vt:i4>
  </property>
</Properties>
</file>