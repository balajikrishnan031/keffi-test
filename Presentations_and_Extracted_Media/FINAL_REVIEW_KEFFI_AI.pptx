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tIns="914400"/>
          <a:lstStyle/>
          <a:p>
            <a:pPr algn="ctr">
              <a:defRPr sz="1400" b="1">
                <a:solidFill>
                  <a:srgbClr val="2AA870"/>
                </a:solidFill>
              </a:defRPr>
            </a:pPr>
            <a:r>
              <a:t>NIRAL THIRUVIZHA 3.0 (2026) — FINAL REGIONAL REVIEW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KEFFI AI: Master Clinical AI Psychiatrist &amp; Affective Computing Engine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Addressing Incomplete Alleviation of Depression Symptoms, Attrition, and Loss to Follow-Up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200400"/>
            <a:ext cx="10362895" cy="2926080"/>
          </a:xfrm>
          <a:prstGeom prst="roundRect">
            <a:avLst/>
          </a:prstGeom>
          <a:solidFill>
            <a:srgbClr val="2C5555"/>
          </a:solidFill>
          <a:ln>
            <a:solidFill>
              <a:srgbClr val="2A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/>
          </a:p>
          <a:p>
            <a:r>
              <a:rPr b="1" sz="1200">
                <a:solidFill>
                  <a:srgbClr val="2AA870"/>
                </a:solidFill>
              </a:rPr>
              <a:t>Official Team ID: </a:t>
            </a:r>
            <a:r>
              <a:rPr sz="1200">
                <a:solidFill>
                  <a:srgbClr val="FFFFFF"/>
                </a:solidFill>
              </a:rPr>
              <a:t>NMNTSTD42260064   |   Team Name: Hackers Team</a:t>
            </a:r>
          </a:p>
          <a:p>
            <a:r>
              <a:rPr b="1" sz="1200">
                <a:solidFill>
                  <a:srgbClr val="2AA870"/>
                </a:solidFill>
              </a:rPr>
              <a:t>Institution: </a:t>
            </a:r>
            <a:r>
              <a:rPr sz="1200">
                <a:solidFill>
                  <a:srgbClr val="FFFFFF"/>
                </a:solidFill>
              </a:rPr>
              <a:t>University College of Engineering, Panruti (UCE, Panruti)</a:t>
            </a:r>
          </a:p>
          <a:p>
            <a:r>
              <a:rPr b="1" sz="1200">
                <a:solidFill>
                  <a:srgbClr val="2AA870"/>
                </a:solidFill>
              </a:rPr>
              <a:t>Theme / Problem Statement: </a:t>
            </a:r>
            <a:r>
              <a:rPr sz="1200">
                <a:solidFill>
                  <a:srgbClr val="FFFFFF"/>
                </a:solidFill>
              </a:rPr>
              <a:t>Artificial Intelligence / PS-14 (Healthcare &amp; Mental Health)</a:t>
            </a:r>
          </a:p>
          <a:p>
            <a:r>
              <a:rPr b="1" sz="1200">
                <a:solidFill>
                  <a:srgbClr val="2AA870"/>
                </a:solidFill>
              </a:rPr>
              <a:t>Team Leader: </a:t>
            </a:r>
            <a:r>
              <a:rPr sz="1200">
                <a:solidFill>
                  <a:srgbClr val="FFFFFF"/>
                </a:solidFill>
              </a:rPr>
              <a:t>Mathu (Madhumathi S - Reg: 422623104003)</a:t>
            </a:r>
          </a:p>
          <a:p>
            <a:r>
              <a:rPr b="1" sz="1200">
                <a:solidFill>
                  <a:srgbClr val="2AA870"/>
                </a:solidFill>
              </a:rPr>
              <a:t>Team Members: </a:t>
            </a:r>
            <a:r>
              <a:rPr sz="1200">
                <a:solidFill>
                  <a:srgbClr val="FFFFFF"/>
                </a:solidFill>
              </a:rPr>
              <a:t>Balaji P (Reg: 4226231035), Malini V (Reg: 4226231048)</a:t>
            </a:r>
          </a:p>
          <a:p>
            <a:r>
              <a:rPr b="1" sz="1200">
                <a:solidFill>
                  <a:srgbClr val="2AA870"/>
                </a:solidFill>
              </a:rPr>
              <a:t>Faculty Guide: </a:t>
            </a:r>
            <a:r>
              <a:rPr sz="1200">
                <a:solidFill>
                  <a:srgbClr val="FFFFFF"/>
                </a:solidFill>
              </a:rPr>
              <a:t>Dr. R. Sivanesh, M.E., Ph.D. (Associate Professor, Dept. of CSE)</a:t>
            </a:r>
          </a:p>
          <a:p>
            <a:r>
              <a:rPr b="1" sz="1200">
                <a:solidFill>
                  <a:srgbClr val="2AA870"/>
                </a:solidFill>
              </a:rPr>
              <a:t>Review Schedule: </a:t>
            </a:r>
            <a:r>
              <a:rPr sz="1200">
                <a:solidFill>
                  <a:srgbClr val="FFFFFF"/>
                </a:solidFill>
              </a:rPr>
              <a:t>05/08/2026 Afternoon Session (AN) | Panel 2 | Chennai Region Venue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AA870"/>
                </a:solidFill>
                <a:latin typeface="Arial"/>
              </a:defRPr>
            </a:pPr>
            <a:r>
              <a:t>NIRAL THIRUVIZHA 3.0 - FINAL REGIONAL REVIEW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1. PROBLEM STATEMENT &amp; CLINICAL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2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D5050"/>
                </a:solidFill>
              </a:defRPr>
            </a:pPr>
            <a:r>
              <a:t>1. Incomplete Alleviation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Current treatments (medication &amp; therapy) work partially. Up to 50% of patients experience residual depressive symptoms, leading to chronic relapse without ongoing support.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2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D5050"/>
                </a:solidFill>
              </a:defRPr>
            </a:pPr>
            <a:r>
              <a:t>2. Treatment Attrition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Over 60% of patients drop out of digital mental health care prematurely due to lack of empathy, generic responses, decision fatigue, and mechanical interaction.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2C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D5050"/>
                </a:solidFill>
              </a:defRPr>
            </a:pPr>
            <a:r>
              <a:t>3. Loss to Follow-Up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Patients who complete initial therapy often disappear from care. Lack of proactive biometric &amp; emotional monitoring causes undetected crisis escalations.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AA870"/>
                </a:solidFill>
                <a:latin typeface="Arial"/>
              </a:defRPr>
            </a:pPr>
            <a:r>
              <a:t>NIRAL THIRUVIZHA 3.0 - FINAL REGIONAL REVIEW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2. EXECUTIVE ABSTRACT &amp; THE KEFFI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0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defRPr sz="1800" b="1">
                <a:solidFill>
                  <a:srgbClr val="0D5050"/>
                </a:solidFill>
              </a:defRPr>
            </a:pPr>
            <a:r>
              <a:t>KEFFI AI: Clinical Digital Therapeutics Platform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 Keffi AI is an evidence-based clinical digital mental health ecosystem combining 70B Multi-LLM Orchestration, 96-State Emotion Classification, 4 Affective Computing Layers, and Explainable AI (SHAP/LIME).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 Master Clinical Knowledge Base: Directly integrates DSM-5-TR diagnostic criteria &amp; ICD-11 codes (MDD 296.2x/6A70, Dysthymia 300.4, GAD 300.02, Panic 300.01, PTSD 309.81) with Beck CBT, Linehan DBT, Hayes ACT, and van der Kolk Somatic therapy models.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 Zero-Story Repetition Guarantee: Enforces strict dynamic story synthesis so metaphors are never repeated, maintaining high engagement and eliminating treatment attrition.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 Proactive Crisis Safeguard: Combines biofeedback heart rate telemetry (HR &gt; 100 BPM) with WHO suicide prevention escalation to prevent loss to follow-up.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AA870"/>
                </a:solidFill>
                <a:latin typeface="Arial"/>
              </a:defRPr>
            </a:pPr>
            <a:r>
              <a:t>NIRAL THIRUVIZHA 3.0 - FINAL REGIONAL REVIEW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3. 4 NEXT-GEN AFFECTIVE COMPUTING LAYERS (MAJOR UPGRADE)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2C5555"/>
          </a:solidFill>
          <a:ln>
            <a:solidFill>
              <a:srgbClr val="2A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500" b="1">
                <a:solidFill>
                  <a:srgbClr val="2AA870"/>
                </a:solidFill>
              </a:defRPr>
            </a:pPr>
            <a:r>
              <a:t>Layer 1: Voice Prosody Analyzer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Extracts pitch (Hz), speech rate (WPM), audio energy (dB), and pause gaps to detect Panic vs Depressive Retardation.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2C5555"/>
          </a:solidFill>
          <a:ln>
            <a:solidFill>
              <a:srgbClr val="2A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500" b="1">
                <a:solidFill>
                  <a:srgbClr val="2AA870"/>
                </a:solidFill>
              </a:defRPr>
            </a:pPr>
            <a:r>
              <a:t>Layer 2: Cognitive Distortion Mapper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Maps 10 CBT psychological distortions (Catastrophizing, All-or-Nothing, Mind Reading, etc.) with instant cognitive reframing.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2C5555"/>
          </a:solidFill>
          <a:ln>
            <a:solidFill>
              <a:srgbClr val="2A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500" b="1">
                <a:solidFill>
                  <a:srgbClr val="2AA870"/>
                </a:solidFill>
              </a:defRPr>
            </a:pPr>
            <a:r>
              <a:t>Layer 3: IoT Biometric Telemetry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Ingests ESP32 Heart Rate (BPM), HRV (ms), and GSR (uS) streams to trigger proactive somatic grounding when HR &gt; 100 BPM.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2C5555"/>
          </a:solidFill>
          <a:ln>
            <a:solidFill>
              <a:srgbClr val="2A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500" b="1">
                <a:solidFill>
                  <a:srgbClr val="2AA870"/>
                </a:solidFill>
              </a:defRPr>
            </a:pPr>
            <a:r>
              <a:t>Layer 4: Temporal Knowledge Graph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Maintains long-term graph memory (User -&gt; Triggers -&gt; States -&gt; Coping) for hyper-personalized empathetic recall.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AA870"/>
                </a:solidFill>
                <a:latin typeface="Arial"/>
              </a:defRPr>
            </a:pPr>
            <a:r>
              <a:t>NIRAL THIRUVIZHA 3.0 - FINAL REGIONAL REVIEW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4. MASTER CLINICAL KNOWLEDGE BASE (DSM-5-TR &amp; ICD-11)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0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600" b="1">
                <a:solidFill>
                  <a:srgbClr val="0D5050"/>
                </a:solidFill>
              </a:defRPr>
            </a:pPr>
            <a:r>
              <a:t>Core Clinical Psychology Literature &amp; Diagnostic Matrix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 Major Depressive Disorder (296.2x / 6A70): First-line Cognitive Therapy (Beck) + Behavioral Activation.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 Persistent Depressive Disorder / Dysthymia (300.4): Long-term ACT Defusion (Hayes) + Core Schema Reframing.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 Generalized Anxiety Disorder (300.02 / 6B00): Somatic Nervous System Pacing (van der Kolk) + Polyvagal 4-7-8 Breathing.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 Panic Disorder &amp; Agoraphobia (300.01): TIPP Crisis Distress Tolerance (Linehan DBT) + Interoceptive Exposure.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 PTSD &amp; Trauma (309.81 / 6B40): Somatic Neurobiology &amp; Polyvagal Vagus Nerve Pacing.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AA870"/>
                </a:solidFill>
                <a:latin typeface="Arial"/>
              </a:defRPr>
            </a:pPr>
            <a:r>
              <a:t>NIRAL THIRUVIZHA 3.0 - FINAL REGIONAL REVIEW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5. EXPLAINABLE AI (XAI) SUITE — SHAP &amp; LIME TRANSPARENCY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1F5F9"/>
          </a:solidFill>
          <a:ln>
            <a:solidFill>
              <a:srgbClr val="0D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600" b="1">
                <a:solidFill>
                  <a:srgbClr val="0D5050"/>
                </a:solidFill>
              </a:defRPr>
            </a:pPr>
            <a:r>
              <a:t>Eliminating AI 'Black Box' in Clinical Decision Making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 SHAP (SHapley Additive exPlanations): Computes game-theoretic attribution scores for every input token, revealing exact feature importance driving BERT emotion classifications.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 LIME (Local Interpretable Model-agnostic Explanations): Constructs local surrogate linear models around specific patient messages to explain why a CBT intervention was selected.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 Clinical Audit Compliance: Clinicians and supervisory panels can inspect exact feature attributions behind every therapeutic decision, ensuring 100% medical accountability.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AA870"/>
                </a:solidFill>
                <a:latin typeface="Arial"/>
              </a:defRPr>
            </a:pPr>
            <a:r>
              <a:t>NIRAL THIRUVIZHA 3.0 - FINAL REGIONAL REVIEW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6. SYSTEM ARCHITECTURE &amp; 70B MULTI-LLM CASCADE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2C5555"/>
          </a:solidFill>
          <a:ln>
            <a:solidFill>
              <a:srgbClr val="2A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sz="1600" b="1">
                <a:solidFill>
                  <a:srgbClr val="2AA870"/>
                </a:solidFill>
              </a:defRPr>
            </a:pPr>
            <a:r>
              <a:t>Resilient Multi-LLM Failover Cascade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 Primary Engine: Groq Llama-3.3 70B (llama-3.3-70b-versatile) — High-speed clinical response generation.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 Fallback 1: OpenAI ChatGPT (gpt-4o-mini) — Failover for complex conversational reframing.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 Fallback 2: Google Gemini (gemini-1.5-flash) — Context analysis failover.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 Fallback 3: Local 10-Methodology CBT Engine — Zero-downtime offline clinical fallback.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 Frontend: React + Tailwind CSS (Patient Sanctuary + Clinical Hub) running at http://localhost:5173/.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 Backend: FastAPI Python Engine on port 8000 + Hugging Face Spaces Cloud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1000" b="1">
                <a:solidFill>
                  <a:srgbClr val="2AA870"/>
                </a:solidFill>
                <a:latin typeface="Arial"/>
              </a:defRPr>
            </a:pPr>
            <a:r>
              <a:t>NIRAL THIRUVIZHA 3.0 - FINAL REGIONAL REVIEW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7. CONCLUSION &amp; REGIONAL REVIEW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0D5050"/>
          </a:solidFill>
          <a:ln>
            <a:solidFill>
              <a:srgbClr val="2AA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457200"/>
          <a:lstStyle/>
          <a:p>
            <a:pPr algn="ctr">
              <a:defRPr sz="2200" b="1">
                <a:solidFill>
                  <a:srgbClr val="2AA870"/>
                </a:solidFill>
              </a:defRPr>
            </a:pPr>
            <a:r>
              <a:t>Keffi AI — Ready for Deployment &amp; Scaling</a:t>
            </a:r>
          </a:p>
          <a:p>
            <a:pPr>
              <a:defRPr sz="1350">
                <a:solidFill>
                  <a:srgbClr val="FFFFFF"/>
                </a:solidFill>
              </a:defRPr>
            </a:pPr>
            <a:r>
              <a:t>•  Keffi AI successfully addresses incomplete symptom alleviation, treatment attrition, and loss to follow-up through evidence-based AI Therapeutics.</a:t>
            </a:r>
          </a:p>
          <a:p>
            <a:pPr>
              <a:defRPr sz="1350">
                <a:solidFill>
                  <a:srgbClr val="FFFFFF"/>
                </a:solidFill>
              </a:defRPr>
            </a:pPr>
            <a:r>
              <a:t>•  Full prototype working live at http://localhost:5173/ and GitHub repository https://github.com/balajikrishnan031/Keffi-Test.git.</a:t>
            </a:r>
          </a:p>
          <a:p>
            <a:pPr>
              <a:defRPr sz="1350">
                <a:solidFill>
                  <a:srgbClr val="FFFFFF"/>
                </a:solidFill>
              </a:defRPr>
            </a:pPr>
            <a:r>
              <a:t>•  Mandatory documentation (Pre-Receipt, Bill Summary, Utilization Certificate, Project Reports, PDF print copies) 100% complete and compliant with Anna University CAC regulations.</a:t>
            </a:r>
          </a:p>
          <a:p>
            <a:pPr>
              <a:defRPr sz="1350">
                <a:solidFill>
                  <a:srgbClr val="FFFFFF"/>
                </a:solidFill>
              </a:defRPr>
            </a:pPr>
            <a:r>
              <a:t>•  Presented by Team Hackers Team (Leader Mathu, Balaji P, Malini V), UCE Panruti for Niral Thiruvizha 3.0 Final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