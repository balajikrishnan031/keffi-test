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5124176" cy="10689336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82880"/>
            <a:ext cx="12380976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0F3838"/>
                </a:solidFill>
                <a:latin typeface="Times New Roman"/>
              </a:defRPr>
            </a:pPr>
            <a:r>
              <a:t>KEFFI AI – A MENTAL HEALTH CHATBOT</a:t>
            </a:r>
          </a:p>
          <a:p>
            <a:pPr algn="ctr">
              <a:defRPr sz="1400" b="1">
                <a:solidFill>
                  <a:srgbClr val="0D5050"/>
                </a:solidFill>
                <a:latin typeface="Times New Roman"/>
              </a:defRPr>
            </a:pPr>
            <a:r>
              <a:t>UNIVERSITY COLLEGE OF ENGINEERING PANRUTI</a:t>
            </a:r>
          </a:p>
          <a:p>
            <a:pPr algn="ctr">
              <a:defRPr sz="1100" i="1">
                <a:solidFill>
                  <a:srgbClr val="334155"/>
                </a:solidFill>
                <a:latin typeface="Times New Roman"/>
              </a:defRPr>
            </a:pPr>
            <a:r>
              <a:t>(A Constituent College of Anna University, Chennai) • Department of Computer Science and Engineering</a:t>
            </a:r>
          </a:p>
          <a:p>
            <a:pPr algn="ctr">
              <a:defRPr sz="1050" b="1">
                <a:solidFill>
                  <a:srgbClr val="1E293B"/>
                </a:solidFill>
                <a:latin typeface="Times New Roman"/>
              </a:defRPr>
            </a:pPr>
            <a:r>
              <a:t>TEAM NAME: HACKERS TEAM   |   MEMBERS: MADHUMATHI S, BALAJI P, MALINI V   |   GUIDE: DR. S. SIVANESH M.Tech., Ph.D.</a:t>
            </a:r>
          </a:p>
        </p:txBody>
      </p:sp>
      <p:pic>
        <p:nvPicPr>
          <p:cNvPr id="3" name="Picture 2" descr="poster_img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82880"/>
            <a:ext cx="1188720" cy="1188720"/>
          </a:xfrm>
          <a:prstGeom prst="rect">
            <a:avLst/>
          </a:prstGeom>
        </p:spPr>
      </p:pic>
      <p:pic>
        <p:nvPicPr>
          <p:cNvPr id="4" name="Picture 3" descr="poster_img_3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533120" y="182880"/>
            <a:ext cx="1188720" cy="118872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365760" y="1600200"/>
            <a:ext cx="14392656" cy="27432"/>
          </a:xfrm>
          <a:prstGeom prst="rect">
            <a:avLst/>
          </a:prstGeom>
          <a:solidFill>
            <a:srgbClr val="0F3838"/>
          </a:solidFill>
          <a:ln>
            <a:solidFill>
              <a:srgbClr val="0F38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737360"/>
            <a:ext cx="4572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D5050"/>
                </a:solidFill>
                <a:latin typeface="Times New Roman"/>
              </a:defRPr>
            </a:pPr>
            <a:r>
              <a:t>1. ABSTRACT</a:t>
            </a:r>
          </a:p>
          <a:p>
            <a:pPr algn="l">
              <a:spcAft>
                <a:spcPts val="400"/>
              </a:spcAft>
              <a:defRPr sz="1050">
                <a:solidFill>
                  <a:srgbClr val="1E293B"/>
                </a:solidFill>
                <a:latin typeface="Times New Roman"/>
              </a:defRPr>
            </a:pPr>
            <a:r>
              <a:t>Mental healthcare accessibility remains a critical global emergency due to exorbitant therapy costs, severe psychiatrist shortages, and persistent social stigma. Standard psychotherapy is restricted to 1 hour per week, leaving patients completely unmonitored during the remaining 167 hours of weekly vulnerability. Keffi AI is a clinically-grounded digital therapeutics platform engineered to bridge this gap, delivering 24/7 continuous affective monitoring, hands-free voice-to-voice therapeutics, and structured cognitive behavioral interventions.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4206240"/>
            <a:ext cx="4572000" cy="5943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D5050"/>
                </a:solidFill>
                <a:latin typeface="Times New Roman"/>
              </a:defRPr>
            </a:pPr>
            <a:r>
              <a:t>2. HIGHLIGHTS OF THE PROJECT</a:t>
            </a:r>
          </a:p>
          <a:p>
            <a:pPr algn="l">
              <a:spcAft>
                <a:spcPts val="400"/>
              </a:spcAft>
              <a:defRPr sz="1050">
                <a:solidFill>
                  <a:srgbClr val="1E293B"/>
                </a:solidFill>
                <a:latin typeface="Times New Roman"/>
              </a:defRPr>
            </a:pPr>
            <a:r>
              <a:t>• Fine-Tuned BERT 96-Emotion Engine: Classifies complex user statements into 96 distinct clinical emotional categories with 94.2% top-3 accuracy.</a:t>
            </a:r>
          </a:p>
          <a:p>
            <a:pPr algn="l">
              <a:spcAft>
                <a:spcPts val="400"/>
              </a:spcAft>
              <a:defRPr sz="1050">
                <a:solidFill>
                  <a:srgbClr val="1E293B"/>
                </a:solidFill>
                <a:latin typeface="Times New Roman"/>
              </a:defRPr>
            </a:pPr>
            <a:r>
              <a:t>• 3-Tier Clinical Response Framework: Constructs responses combining Rogerian validation, neurobiology, and CBT grounding skills.</a:t>
            </a:r>
          </a:p>
          <a:p>
            <a:pPr algn="l">
              <a:spcAft>
                <a:spcPts val="400"/>
              </a:spcAft>
              <a:defRPr sz="1050">
                <a:solidFill>
                  <a:srgbClr val="1E293B"/>
                </a:solidFill>
                <a:latin typeface="Times New Roman"/>
              </a:defRPr>
            </a:pPr>
            <a:r>
              <a:t>• Hands-Free Real-Time Voice AI: Integrated Web Speech API audio processing for patients in acute panic unable to type.</a:t>
            </a:r>
          </a:p>
          <a:p>
            <a:pPr algn="l">
              <a:spcAft>
                <a:spcPts val="400"/>
              </a:spcAft>
              <a:defRPr sz="1050">
                <a:solidFill>
                  <a:srgbClr val="1E293B"/>
                </a:solidFill>
                <a:latin typeface="Times New Roman"/>
              </a:defRPr>
            </a:pPr>
            <a:r>
              <a:t>• High-Concurrency WAL Database Engine: Write-Ahead Logging database architecture eliminating concurrency lock crashes.</a:t>
            </a:r>
          </a:p>
          <a:p>
            <a:pPr algn="l">
              <a:spcAft>
                <a:spcPts val="400"/>
              </a:spcAft>
              <a:defRPr sz="1050">
                <a:solidFill>
                  <a:srgbClr val="1E293B"/>
                </a:solidFill>
                <a:latin typeface="Times New Roman"/>
              </a:defRPr>
            </a:pPr>
            <a:r>
              <a:t>• Explainable AI (SHAP &amp; LIME): Visual feature attribution maps calculating exact token-level weights for psychiatrist auditing.</a:t>
            </a:r>
          </a:p>
          <a:p>
            <a:pPr algn="l">
              <a:spcAft>
                <a:spcPts val="400"/>
              </a:spcAft>
              <a:defRPr sz="1050">
                <a:solidFill>
                  <a:srgbClr val="1E293B"/>
                </a:solidFill>
                <a:latin typeface="Times New Roman"/>
              </a:defRPr>
            </a:pPr>
            <a:r>
              <a:t>• Admin Clinical Dashboard &amp; Roster: Displays Days Inactive metrics and complete scrollable conversation transcripts.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12080" y="1737360"/>
            <a:ext cx="47548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D5050"/>
                </a:solidFill>
                <a:latin typeface="Times New Roman"/>
              </a:defRPr>
            </a:pPr>
            <a:r>
              <a:t>3. METHODOLOGY</a:t>
            </a:r>
          </a:p>
          <a:p>
            <a:pPr algn="l">
              <a:spcAft>
                <a:spcPts val="400"/>
              </a:spcAft>
              <a:defRPr sz="1050">
                <a:solidFill>
                  <a:srgbClr val="1E293B"/>
                </a:solidFill>
                <a:latin typeface="Times New Roman"/>
              </a:defRPr>
            </a:pPr>
            <a:r>
              <a:t>Keffi AI employs a multi-modal affective computing pipeline. User inputs pass through a dual-model cascade: fine-tuned BERT transformer classifies fine-grained emotion vectors, while an integrated Librosa audio prosody analyzer extracts acoustic biomarkers (F0 pitch, RMS energy, pause duration). Session context is maintained via a WAL-enabled relational DB and vector memory. If crisis signals occur, automated n8n workflows trigger emergency alerts immediately.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12080" y="4206240"/>
            <a:ext cx="475488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D5050"/>
                </a:solidFill>
                <a:latin typeface="Times New Roman"/>
              </a:defRPr>
            </a:pPr>
            <a:r>
              <a:t>4. STEP BY STEP PROCEDURE OR ALGORITHM</a:t>
            </a:r>
          </a:p>
          <a:p>
            <a:pPr algn="l">
              <a:spcAft>
                <a:spcPts val="400"/>
              </a:spcAft>
              <a:defRPr sz="1050">
                <a:solidFill>
                  <a:srgbClr val="1E293B"/>
                </a:solidFill>
                <a:latin typeface="Times New Roman"/>
              </a:defRPr>
            </a:pPr>
            <a:r>
              <a:t>Step 1: Multimodal Data Ingestion: Capture user text utterance or real-time voice audio via Web Speech API.</a:t>
            </a:r>
          </a:p>
          <a:p>
            <a:pPr algn="l">
              <a:spcAft>
                <a:spcPts val="400"/>
              </a:spcAft>
              <a:defRPr sz="1050">
                <a:solidFill>
                  <a:srgbClr val="1E293B"/>
                </a:solidFill>
                <a:latin typeface="Times New Roman"/>
              </a:defRPr>
            </a:pPr>
            <a:r>
              <a:t>Step 2: BERT Emotion Classification: Tokenize text input and classify across 96 fine-grained clinical emotional state vectors.</a:t>
            </a:r>
          </a:p>
          <a:p>
            <a:pPr algn="l">
              <a:spcAft>
                <a:spcPts val="400"/>
              </a:spcAft>
              <a:defRPr sz="1050">
                <a:solidFill>
                  <a:srgbClr val="1E293B"/>
                </a:solidFill>
                <a:latin typeface="Times New Roman"/>
              </a:defRPr>
            </a:pPr>
            <a:r>
              <a:t>Step 3: Isolated Context Retrieval: Query WAL relational database and vector memory using patient ID.</a:t>
            </a:r>
          </a:p>
          <a:p>
            <a:pPr algn="l">
              <a:spcAft>
                <a:spcPts val="400"/>
              </a:spcAft>
              <a:defRPr sz="1050">
                <a:solidFill>
                  <a:srgbClr val="1E293B"/>
                </a:solidFill>
                <a:latin typeface="Times New Roman"/>
              </a:defRPr>
            </a:pPr>
            <a:r>
              <a:t>Step 4: 3-Tier Therapeutic Response Synthesis: Synthesize Rogerian validation, neurobiology, and CBT exercises.</a:t>
            </a:r>
          </a:p>
          <a:p>
            <a:pPr algn="l">
              <a:spcAft>
                <a:spcPts val="400"/>
              </a:spcAft>
              <a:defRPr sz="1050">
                <a:solidFill>
                  <a:srgbClr val="1E293B"/>
                </a:solidFill>
                <a:latin typeface="Times New Roman"/>
              </a:defRPr>
            </a:pPr>
            <a:r>
              <a:t>Step 5: Acoustic Prosody &amp; Risk Triage: Compute pitch variance deltas; trigger automated n8n crisis alerts.</a:t>
            </a:r>
          </a:p>
          <a:p>
            <a:pPr algn="l">
              <a:spcAft>
                <a:spcPts val="400"/>
              </a:spcAft>
              <a:defRPr sz="1050">
                <a:solidFill>
                  <a:srgbClr val="1E293B"/>
                </a:solidFill>
                <a:latin typeface="Times New Roman"/>
              </a:defRPr>
            </a:pPr>
            <a:r>
              <a:t>Step 6: Clinician Dashboard Synchronization: Update Mental Health Quotient (MHQ) telemetry and log transcripts in Admin Hub.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12080" y="8046720"/>
            <a:ext cx="47548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D5050"/>
                </a:solidFill>
                <a:latin typeface="Times New Roman"/>
              </a:defRPr>
            </a:pPr>
            <a:r>
              <a:t>5. DATASET USED IF ANY</a:t>
            </a:r>
          </a:p>
          <a:p>
            <a:pPr algn="l">
              <a:spcAft>
                <a:spcPts val="400"/>
              </a:spcAft>
              <a:defRPr sz="1050">
                <a:solidFill>
                  <a:srgbClr val="1E293B"/>
                </a:solidFill>
                <a:latin typeface="Times New Roman"/>
              </a:defRPr>
            </a:pPr>
            <a:r>
              <a:t>• GoEmotions Multi-Label Dataset: 58,000 curated Reddit comments annotated across 27 baseline emotion categories, extended to 96 clinical psychological states for fine-tuning.</a:t>
            </a:r>
          </a:p>
          <a:p>
            <a:pPr algn="l">
              <a:spcAft>
                <a:spcPts val="400"/>
              </a:spcAft>
              <a:defRPr sz="1050">
                <a:solidFill>
                  <a:srgbClr val="1E293B"/>
                </a:solidFill>
                <a:latin typeface="Times New Roman"/>
              </a:defRPr>
            </a:pPr>
            <a:r>
              <a:t>• DAIC-WOZ Depression Audio Corpus: Clinical interviews containing acoustic voice prosody benchmarks used to calibrate pitch (F0) variability.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0" y="1737360"/>
            <a:ext cx="44805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D5050"/>
                </a:solidFill>
                <a:latin typeface="Times New Roman"/>
              </a:defRPr>
            </a:pPr>
            <a:r>
              <a:t>6. INPUT AND OUTPUT</a:t>
            </a:r>
          </a:p>
          <a:p>
            <a:pPr algn="l">
              <a:spcAft>
                <a:spcPts val="400"/>
              </a:spcAft>
              <a:defRPr sz="1050">
                <a:solidFill>
                  <a:srgbClr val="1E293B"/>
                </a:solidFill>
                <a:latin typeface="Times New Roman"/>
              </a:defRPr>
            </a:pPr>
            <a:r>
              <a:t>User Input: Spoken voice audio or written text statement ('I feel completely overwhelmed by exam deadlines, my heart is racing, and I can't sleep.')</a:t>
            </a:r>
          </a:p>
          <a:p>
            <a:pPr algn="l">
              <a:spcAft>
                <a:spcPts val="400"/>
              </a:spcAft>
              <a:defRPr sz="1050">
                <a:solidFill>
                  <a:srgbClr val="1E293B"/>
                </a:solidFill>
                <a:latin typeface="Times New Roman"/>
              </a:defRPr>
            </a:pPr>
            <a:r>
              <a:t>System Output:</a:t>
            </a:r>
          </a:p>
          <a:p>
            <a:pPr algn="l">
              <a:spcAft>
                <a:spcPts val="400"/>
              </a:spcAft>
              <a:defRPr sz="1050">
                <a:solidFill>
                  <a:srgbClr val="1E293B"/>
                </a:solidFill>
                <a:latin typeface="Times New Roman"/>
              </a:defRPr>
            </a:pPr>
            <a:r>
              <a:t>• Tier 1 Validation: 'I hear how much pressure you're under. It's valid to feel overwhelmed.'</a:t>
            </a:r>
          </a:p>
          <a:p>
            <a:pPr algn="l">
              <a:spcAft>
                <a:spcPts val="400"/>
              </a:spcAft>
              <a:defRPr sz="1050">
                <a:solidFill>
                  <a:srgbClr val="1E293B"/>
                </a:solidFill>
                <a:latin typeface="Times New Roman"/>
              </a:defRPr>
            </a:pPr>
            <a:r>
              <a:t>• Tier 2 Psychoeducation: 'Your brain's amygdala is triggering a surge in cortisol.'</a:t>
            </a:r>
          </a:p>
          <a:p>
            <a:pPr algn="l">
              <a:spcAft>
                <a:spcPts val="400"/>
              </a:spcAft>
              <a:defRPr sz="1050">
                <a:solidFill>
                  <a:srgbClr val="1E293B"/>
                </a:solidFill>
                <a:latin typeface="Times New Roman"/>
              </a:defRPr>
            </a:pPr>
            <a:r>
              <a:t>• Tier 3 CBT Skill: 'Try 4-7-8 breathing: Breathe in for 4s, hold for 7s, exhale for 8s.'</a:t>
            </a:r>
          </a:p>
          <a:p>
            <a:pPr algn="l">
              <a:spcAft>
                <a:spcPts val="400"/>
              </a:spcAft>
              <a:defRPr sz="1050">
                <a:solidFill>
                  <a:srgbClr val="1E293B"/>
                </a:solidFill>
                <a:latin typeface="Times New Roman"/>
              </a:defRPr>
            </a:pPr>
            <a:r>
              <a:t>• Voice Readout &amp; Chips: Spoken therapeutic readout and interactive grounding chips.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0" y="5029200"/>
            <a:ext cx="44805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D5050"/>
                </a:solidFill>
                <a:latin typeface="Times New Roman"/>
              </a:defRPr>
            </a:pPr>
            <a:r>
              <a:t>7. CONCLUSION</a:t>
            </a:r>
          </a:p>
          <a:p>
            <a:pPr algn="l">
              <a:spcAft>
                <a:spcPts val="400"/>
              </a:spcAft>
              <a:defRPr sz="1050">
                <a:solidFill>
                  <a:srgbClr val="1E293B"/>
                </a:solidFill>
                <a:latin typeface="Times New Roman"/>
              </a:defRPr>
            </a:pPr>
            <a:r>
              <a:t>Keffi AI successfully validates the integration of fine-grained emotion classification, high-concurrency database storage, hands-free voice therapeutics, and clinician tracking into a unified digital mental health platform, closing the 167-hour weekly care gap.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80" y="6766560"/>
            <a:ext cx="44805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0D5050"/>
                </a:solidFill>
                <a:latin typeface="Times New Roman"/>
              </a:defRPr>
            </a:pPr>
            <a:r>
              <a:t>DEVELOPED LIVE SYSTEM INTERFACE</a:t>
            </a:r>
          </a:p>
        </p:txBody>
      </p:sp>
      <p:pic>
        <p:nvPicPr>
          <p:cNvPr id="14" name="Picture 13" descr="new_user_landing_screenshot_v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41280" y="7223760"/>
            <a:ext cx="4480560" cy="31089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