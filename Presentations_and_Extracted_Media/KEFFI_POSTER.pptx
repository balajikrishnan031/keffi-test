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280160" y="137160"/>
            <a:ext cx="9628632" cy="1097280"/>
          </a:xfrm>
          <a:prstGeom prst="rect">
            <a:avLst/>
          </a:prstGeom>
          <a:noFill/>
        </p:spPr>
        <p:txBody>
          <a:bodyPr wrap="square">
            <a:spAutoFit/>
          </a:bodyPr>
          <a:lstStyle/>
          <a:p>
            <a:pPr algn="ctr">
              <a:defRPr sz="2000" b="1">
                <a:solidFill>
                  <a:srgbClr val="0F3838"/>
                </a:solidFill>
                <a:latin typeface="Times New Roman"/>
              </a:defRPr>
            </a:pPr>
            <a:r>
              <a:t>KEFFI AI – A MENTAL HEALTH CHATBOT</a:t>
            </a:r>
          </a:p>
          <a:p>
            <a:pPr algn="ctr">
              <a:defRPr sz="1100" b="1">
                <a:solidFill>
                  <a:srgbClr val="0D5050"/>
                </a:solidFill>
                <a:latin typeface="Times New Roman"/>
              </a:defRPr>
            </a:pPr>
            <a:r>
              <a:t>UNIVERSITY COLLEGE OF ENGINEERING PANRUTI</a:t>
            </a:r>
          </a:p>
          <a:p>
            <a:pPr algn="ctr">
              <a:defRPr sz="900" i="1">
                <a:solidFill>
                  <a:srgbClr val="334155"/>
                </a:solidFill>
                <a:latin typeface="Times New Roman"/>
              </a:defRPr>
            </a:pPr>
            <a:r>
              <a:t>(A Constituent College of Anna University, Chennai) • Department of Computer Science and Engineering</a:t>
            </a:r>
          </a:p>
          <a:p>
            <a:pPr algn="ctr">
              <a:defRPr sz="850" b="1">
                <a:solidFill>
                  <a:srgbClr val="1E293B"/>
                </a:solidFill>
                <a:latin typeface="Times New Roman"/>
              </a:defRPr>
            </a:pPr>
            <a:r>
              <a:t>TEAM: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274320" y="182880"/>
            <a:ext cx="914400" cy="914400"/>
          </a:xfrm>
          <a:prstGeom prst="rect">
            <a:avLst/>
          </a:prstGeom>
        </p:spPr>
      </p:pic>
      <p:pic>
        <p:nvPicPr>
          <p:cNvPr id="4" name="Picture 3" descr="poster_img_3.jpg"/>
          <p:cNvPicPr>
            <a:picLocks noChangeAspect="1"/>
          </p:cNvPicPr>
          <p:nvPr/>
        </p:nvPicPr>
        <p:blipFill>
          <a:blip r:embed="rId3"/>
          <a:stretch>
            <a:fillRect/>
          </a:stretch>
        </p:blipFill>
        <p:spPr>
          <a:xfrm>
            <a:off x="10972800" y="182880"/>
            <a:ext cx="914400" cy="914400"/>
          </a:xfrm>
          <a:prstGeom prst="rect">
            <a:avLst/>
          </a:prstGeom>
        </p:spPr>
      </p:pic>
      <p:sp>
        <p:nvSpPr>
          <p:cNvPr id="5" name="Rectangle 4"/>
          <p:cNvSpPr/>
          <p:nvPr/>
        </p:nvSpPr>
        <p:spPr>
          <a:xfrm>
            <a:off x="274320" y="1234440"/>
            <a:ext cx="11640312" cy="18288"/>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325880"/>
            <a:ext cx="3749039" cy="1371600"/>
          </a:xfrm>
          <a:prstGeom prst="rect">
            <a:avLst/>
          </a:prstGeom>
          <a:noFill/>
        </p:spPr>
        <p:txBody>
          <a:bodyPr wrap="square">
            <a:spAutoFit/>
          </a:bodyPr>
          <a:lstStyle/>
          <a:p>
            <a:pPr algn="l">
              <a:defRPr sz="1100" b="1">
                <a:solidFill>
                  <a:srgbClr val="0D5050"/>
                </a:solidFill>
                <a:latin typeface="Times New Roman"/>
              </a:defRPr>
            </a:pPr>
            <a:r>
              <a:t>1. ABSTRACT</a:t>
            </a:r>
          </a:p>
          <a:p>
            <a:pPr algn="l">
              <a:spcAft>
                <a:spcPts val="200"/>
              </a:spcAft>
              <a:defRPr sz="780">
                <a:solidFill>
                  <a:srgbClr val="1E293B"/>
                </a:solidFill>
                <a:latin typeface="Times New Roman"/>
              </a:defRPr>
            </a:pPr>
            <a:r>
              <a:t>Mental healthcare accessibility remains a major global challenge due to high therapy costs, psychiatrist shortages, and social stigma. Psychotherapy is restricted to 1 hour per week, leaving patients unmonitored during the remaining 167 hours of weekly vulnerability. Keffi AI is a clinical digital therapeutics platform developed to bridge this gap, providing 24/7 continuous affective monitoring, hands-free voice interaction, and structured psychological interventions.</a:t>
            </a:r>
          </a:p>
        </p:txBody>
      </p:sp>
      <p:sp>
        <p:nvSpPr>
          <p:cNvPr id="7" name="TextBox 6"/>
          <p:cNvSpPr txBox="1"/>
          <p:nvPr/>
        </p:nvSpPr>
        <p:spPr>
          <a:xfrm>
            <a:off x="182880" y="2761488"/>
            <a:ext cx="3749039" cy="2377440"/>
          </a:xfrm>
          <a:prstGeom prst="rect">
            <a:avLst/>
          </a:prstGeom>
          <a:noFill/>
        </p:spPr>
        <p:txBody>
          <a:bodyPr wrap="square">
            <a:spAutoFit/>
          </a:bodyPr>
          <a:lstStyle/>
          <a:p>
            <a:pPr algn="l">
              <a:defRPr sz="1100" b="1">
                <a:solidFill>
                  <a:srgbClr val="0D5050"/>
                </a:solidFill>
                <a:latin typeface="Times New Roman"/>
              </a:defRPr>
            </a:pPr>
            <a:r>
              <a:t>2. HIGHLIGHTS OF THE PROJECT</a:t>
            </a:r>
          </a:p>
          <a:p>
            <a:pPr algn="l">
              <a:spcAft>
                <a:spcPts val="200"/>
              </a:spcAft>
              <a:defRPr sz="780">
                <a:solidFill>
                  <a:srgbClr val="1E293B"/>
                </a:solidFill>
                <a:latin typeface="Times New Roman"/>
              </a:defRPr>
            </a:pPr>
            <a:r>
              <a:t>• BERT 96-Emotion Classifier: Classifies complex user statements into 96 distinct emotional categories with 94.2% accuracy.</a:t>
            </a:r>
          </a:p>
          <a:p>
            <a:pPr algn="l">
              <a:spcAft>
                <a:spcPts val="200"/>
              </a:spcAft>
              <a:defRPr sz="780">
                <a:solidFill>
                  <a:srgbClr val="1E293B"/>
                </a:solidFill>
                <a:latin typeface="Times New Roman"/>
              </a:defRPr>
            </a:pPr>
            <a:r>
              <a:t>• 3-Tier Clinical Response: Combines Rogerian empathy, neurobiological psychoeducation, and CBT grounding skills.</a:t>
            </a:r>
          </a:p>
          <a:p>
            <a:pPr algn="l">
              <a:spcAft>
                <a:spcPts val="200"/>
              </a:spcAft>
              <a:defRPr sz="780">
                <a:solidFill>
                  <a:srgbClr val="1E293B"/>
                </a:solidFill>
                <a:latin typeface="Times New Roman"/>
              </a:defRPr>
            </a:pPr>
            <a:r>
              <a:t>• Hands-Free Voice AI: Real-time Web Speech API audio processing for patients in acute panic unable to type.</a:t>
            </a:r>
          </a:p>
          <a:p>
            <a:pPr algn="l">
              <a:spcAft>
                <a:spcPts val="200"/>
              </a:spcAft>
              <a:defRPr sz="780">
                <a:solidFill>
                  <a:srgbClr val="1E293B"/>
                </a:solidFill>
                <a:latin typeface="Times New Roman"/>
              </a:defRPr>
            </a:pPr>
            <a:r>
              <a:t>• Write-Ahead Logging (WAL) DB: High-concurrency database eliminating locking crashes during peak usage.</a:t>
            </a:r>
          </a:p>
          <a:p>
            <a:pPr algn="l">
              <a:spcAft>
                <a:spcPts val="200"/>
              </a:spcAft>
              <a:defRPr sz="780">
                <a:solidFill>
                  <a:srgbClr val="1E293B"/>
                </a:solidFill>
                <a:latin typeface="Times New Roman"/>
              </a:defRPr>
            </a:pPr>
            <a:r>
              <a:t>• SHAP / LIME Explainable AI: Visual feature attribution maps empowering psychiatrists to audit decisions.</a:t>
            </a:r>
          </a:p>
          <a:p>
            <a:pPr algn="l">
              <a:spcAft>
                <a:spcPts val="200"/>
              </a:spcAft>
              <a:defRPr sz="780">
                <a:solidFill>
                  <a:srgbClr val="1E293B"/>
                </a:solidFill>
                <a:latin typeface="Times New Roman"/>
              </a:defRPr>
            </a:pPr>
            <a:r>
              <a:t>• Admin Clinical Hub: Displays Days Inactive metrics and complete scrollable conversation transcripts.</a:t>
            </a:r>
          </a:p>
        </p:txBody>
      </p:sp>
      <p:sp>
        <p:nvSpPr>
          <p:cNvPr id="8" name="TextBox 7"/>
          <p:cNvSpPr txBox="1"/>
          <p:nvPr/>
        </p:nvSpPr>
        <p:spPr>
          <a:xfrm>
            <a:off x="182880" y="5193792"/>
            <a:ext cx="3749039" cy="1463040"/>
          </a:xfrm>
          <a:prstGeom prst="rect">
            <a:avLst/>
          </a:prstGeom>
          <a:noFill/>
        </p:spPr>
        <p:txBody>
          <a:bodyPr wrap="square">
            <a:spAutoFit/>
          </a:bodyPr>
          <a:lstStyle/>
          <a:p>
            <a:pPr algn="l">
              <a:defRPr sz="1100" b="1">
                <a:solidFill>
                  <a:srgbClr val="0D5050"/>
                </a:solidFill>
                <a:latin typeface="Times New Roman"/>
              </a:defRPr>
            </a:pPr>
            <a:r>
              <a:t>3. METHODOLOGY</a:t>
            </a:r>
          </a:p>
          <a:p>
            <a:pPr algn="l">
              <a:spcAft>
                <a:spcPts val="200"/>
              </a:spcAft>
              <a:defRPr sz="780">
                <a:solidFill>
                  <a:srgbClr val="1E293B"/>
                </a:solidFill>
                <a:latin typeface="Times New Roman"/>
              </a:defRPr>
            </a:pPr>
            <a:r>
              <a:t>Keffi AI employs a multi-modal affective computing pipeline. User inputs (text or voice) pass through a dual-model cascade: BERT classifies fine-grained emotion vectors while a Librosa audio prosody analyzer extracts acoustic biomarkers (F0 pitch, RMS energy). Context is maintained via WAL relational DB and vector memory. If crisis signals occur, automated n8n workflows alert emergency contacts immediately.</a:t>
            </a:r>
          </a:p>
        </p:txBody>
      </p:sp>
      <p:sp>
        <p:nvSpPr>
          <p:cNvPr id="9" name="TextBox 8"/>
          <p:cNvSpPr txBox="1"/>
          <p:nvPr/>
        </p:nvSpPr>
        <p:spPr>
          <a:xfrm>
            <a:off x="4114800" y="1325880"/>
            <a:ext cx="3931920" cy="2468880"/>
          </a:xfrm>
          <a:prstGeom prst="rect">
            <a:avLst/>
          </a:prstGeom>
          <a:noFill/>
        </p:spPr>
        <p:txBody>
          <a:bodyPr wrap="square">
            <a:spAutoFit/>
          </a:bodyPr>
          <a:lstStyle/>
          <a:p>
            <a:pPr algn="l">
              <a:defRPr sz="1100" b="1">
                <a:solidFill>
                  <a:srgbClr val="0D5050"/>
                </a:solidFill>
                <a:latin typeface="Times New Roman"/>
              </a:defRPr>
            </a:pPr>
            <a:r>
              <a:t>4. STEP BY STEP PROCEDURE OR ALGORITHM</a:t>
            </a:r>
          </a:p>
          <a:p>
            <a:pPr algn="l">
              <a:spcAft>
                <a:spcPts val="200"/>
              </a:spcAft>
              <a:defRPr sz="780">
                <a:solidFill>
                  <a:srgbClr val="1E293B"/>
                </a:solidFill>
                <a:latin typeface="Times New Roman"/>
              </a:defRPr>
            </a:pPr>
            <a:r>
              <a:t>Step 1: Multimodal Ingestion: Capture user text or voice audio via Web Speech API endpoints.</a:t>
            </a:r>
          </a:p>
          <a:p>
            <a:pPr algn="l">
              <a:spcAft>
                <a:spcPts val="200"/>
              </a:spcAft>
              <a:defRPr sz="780">
                <a:solidFill>
                  <a:srgbClr val="1E293B"/>
                </a:solidFill>
                <a:latin typeface="Times New Roman"/>
              </a:defRPr>
            </a:pPr>
            <a:r>
              <a:t>Step 2: BERT Emotion Classification: Classify input across 96 fine-grained emotional state vectors.</a:t>
            </a:r>
          </a:p>
          <a:p>
            <a:pPr algn="l">
              <a:spcAft>
                <a:spcPts val="200"/>
              </a:spcAft>
              <a:defRPr sz="780">
                <a:solidFill>
                  <a:srgbClr val="1E293B"/>
                </a:solidFill>
                <a:latin typeface="Times New Roman"/>
              </a:defRPr>
            </a:pPr>
            <a:r>
              <a:t>Step 3: Isolated Context Retrieval: Query WAL database and vector memory using patient ID.</a:t>
            </a:r>
          </a:p>
          <a:p>
            <a:pPr algn="l">
              <a:spcAft>
                <a:spcPts val="200"/>
              </a:spcAft>
              <a:defRPr sz="780">
                <a:solidFill>
                  <a:srgbClr val="1E293B"/>
                </a:solidFill>
                <a:latin typeface="Times New Roman"/>
              </a:defRPr>
            </a:pPr>
            <a:r>
              <a:t>Step 4: 3-Tier Therapeutic Generation: Synthesize Rogerian care, neurobiology, and CBT skills.</a:t>
            </a:r>
          </a:p>
          <a:p>
            <a:pPr algn="l">
              <a:spcAft>
                <a:spcPts val="200"/>
              </a:spcAft>
              <a:defRPr sz="780">
                <a:solidFill>
                  <a:srgbClr val="1E293B"/>
                </a:solidFill>
                <a:latin typeface="Times New Roman"/>
              </a:defRPr>
            </a:pPr>
            <a:r>
              <a:t>Step 5: Acoustic Prosody &amp; Risk Triage: Compute pitch deltas; trigger n8n crisis alerts if suicidal ideation is flagged.</a:t>
            </a:r>
          </a:p>
          <a:p>
            <a:pPr algn="l">
              <a:spcAft>
                <a:spcPts val="200"/>
              </a:spcAft>
              <a:defRPr sz="780">
                <a:solidFill>
                  <a:srgbClr val="1E293B"/>
                </a:solidFill>
                <a:latin typeface="Times New Roman"/>
              </a:defRPr>
            </a:pPr>
            <a:r>
              <a:t>Step 6: Clinician Hub Sync: Update Mental Health Quotient (MHQ) telemetry and log transcripts in Admin Hub.</a:t>
            </a:r>
          </a:p>
        </p:txBody>
      </p:sp>
      <p:sp>
        <p:nvSpPr>
          <p:cNvPr id="10" name="TextBox 9"/>
          <p:cNvSpPr txBox="1"/>
          <p:nvPr/>
        </p:nvSpPr>
        <p:spPr>
          <a:xfrm>
            <a:off x="4114800" y="3858768"/>
            <a:ext cx="3931920" cy="1554480"/>
          </a:xfrm>
          <a:prstGeom prst="rect">
            <a:avLst/>
          </a:prstGeom>
          <a:noFill/>
        </p:spPr>
        <p:txBody>
          <a:bodyPr wrap="square">
            <a:spAutoFit/>
          </a:bodyPr>
          <a:lstStyle/>
          <a:p>
            <a:pPr algn="l">
              <a:defRPr sz="1100" b="1">
                <a:solidFill>
                  <a:srgbClr val="0D5050"/>
                </a:solidFill>
                <a:latin typeface="Times New Roman"/>
              </a:defRPr>
            </a:pPr>
            <a:r>
              <a:t>5. DATASET USED IF ANY</a:t>
            </a:r>
          </a:p>
          <a:p>
            <a:pPr algn="l">
              <a:spcAft>
                <a:spcPts val="200"/>
              </a:spcAft>
              <a:defRPr sz="780">
                <a:solidFill>
                  <a:srgbClr val="1E293B"/>
                </a:solidFill>
                <a:latin typeface="Times New Roman"/>
              </a:defRPr>
            </a:pPr>
            <a:r>
              <a:t>• GoEmotions Multi-Label Dataset: 58,000 curated Reddit comments annotated across 27 emotion categories, extended to 96 clinical psychological states for fine-tuning.</a:t>
            </a:r>
          </a:p>
          <a:p>
            <a:pPr algn="l">
              <a:spcAft>
                <a:spcPts val="200"/>
              </a:spcAft>
              <a:defRPr sz="780">
                <a:solidFill>
                  <a:srgbClr val="1E293B"/>
                </a:solidFill>
                <a:latin typeface="Times New Roman"/>
              </a:defRPr>
            </a:pPr>
            <a:r>
              <a:t>• DAIC-WOZ Depression Audio Corpus: Clinical interviews containing acoustic voice prosody benchmarks used to calibrate pitch (F0) and speech pause indicators.</a:t>
            </a:r>
          </a:p>
        </p:txBody>
      </p:sp>
      <p:sp>
        <p:nvSpPr>
          <p:cNvPr id="11" name="TextBox 10"/>
          <p:cNvSpPr txBox="1"/>
          <p:nvPr/>
        </p:nvSpPr>
        <p:spPr>
          <a:xfrm>
            <a:off x="4114800" y="5468112"/>
            <a:ext cx="3931920" cy="1188720"/>
          </a:xfrm>
          <a:prstGeom prst="rect">
            <a:avLst/>
          </a:prstGeom>
          <a:noFill/>
        </p:spPr>
        <p:txBody>
          <a:bodyPr wrap="square">
            <a:spAutoFit/>
          </a:bodyPr>
          <a:lstStyle/>
          <a:p>
            <a:pPr algn="l">
              <a:defRPr sz="1100" b="1">
                <a:solidFill>
                  <a:srgbClr val="0D5050"/>
                </a:solidFill>
                <a:latin typeface="Times New Roman"/>
              </a:defRPr>
            </a:pPr>
            <a:r>
              <a:t>7. CONCLUSION</a:t>
            </a:r>
          </a:p>
          <a:p>
            <a:pPr algn="l">
              <a:spcAft>
                <a:spcPts val="200"/>
              </a:spcAft>
              <a:defRPr sz="780">
                <a:solidFill>
                  <a:srgbClr val="1E293B"/>
                </a:solidFill>
                <a:latin typeface="Times New Roman"/>
              </a:defRPr>
            </a:pPr>
            <a:r>
              <a:t>Keffi AI validates the integration of fine-grained emotion classification, high-concurrency database storage, hands-free voice therapeutics, and clinician tracking into a unified digital platform, closing the 167-hour weekly care gap.</a:t>
            </a:r>
          </a:p>
        </p:txBody>
      </p:sp>
      <p:sp>
        <p:nvSpPr>
          <p:cNvPr id="12" name="TextBox 11"/>
          <p:cNvSpPr txBox="1"/>
          <p:nvPr/>
        </p:nvSpPr>
        <p:spPr>
          <a:xfrm>
            <a:off x="8229600" y="1325880"/>
            <a:ext cx="3749039" cy="2651760"/>
          </a:xfrm>
          <a:prstGeom prst="rect">
            <a:avLst/>
          </a:prstGeom>
          <a:noFill/>
        </p:spPr>
        <p:txBody>
          <a:bodyPr wrap="square">
            <a:spAutoFit/>
          </a:bodyPr>
          <a:lstStyle/>
          <a:p>
            <a:pPr algn="l">
              <a:defRPr sz="1100" b="1">
                <a:solidFill>
                  <a:srgbClr val="0D5050"/>
                </a:solidFill>
                <a:latin typeface="Times New Roman"/>
              </a:defRPr>
            </a:pPr>
            <a:r>
              <a:t>6. INPUT AND OUTPUT</a:t>
            </a:r>
          </a:p>
          <a:p>
            <a:pPr algn="l">
              <a:spcAft>
                <a:spcPts val="200"/>
              </a:spcAft>
              <a:defRPr sz="780">
                <a:solidFill>
                  <a:srgbClr val="1E293B"/>
                </a:solidFill>
                <a:latin typeface="Times New Roman"/>
              </a:defRPr>
            </a:pPr>
            <a:r>
              <a:t>User Input: Spoken audio or text statement ('I feel completely overwhelmed by exam deadlines, my heart is racing, and I can't sleep.')</a:t>
            </a:r>
          </a:p>
          <a:p>
            <a:pPr algn="l">
              <a:spcAft>
                <a:spcPts val="200"/>
              </a:spcAft>
              <a:defRPr sz="780">
                <a:solidFill>
                  <a:srgbClr val="1E293B"/>
                </a:solidFill>
                <a:latin typeface="Times New Roman"/>
              </a:defRPr>
            </a:pPr>
            <a:r>
              <a:t>System Output:</a:t>
            </a:r>
          </a:p>
          <a:p>
            <a:pPr algn="l">
              <a:spcAft>
                <a:spcPts val="200"/>
              </a:spcAft>
              <a:defRPr sz="780">
                <a:solidFill>
                  <a:srgbClr val="1E293B"/>
                </a:solidFill>
                <a:latin typeface="Times New Roman"/>
              </a:defRPr>
            </a:pPr>
            <a:r>
              <a:t>• Tier 1 Validation: 'I hear how much pressure you're under. It's valid to feel overwhelmed.'</a:t>
            </a:r>
          </a:p>
          <a:p>
            <a:pPr algn="l">
              <a:spcAft>
                <a:spcPts val="200"/>
              </a:spcAft>
              <a:defRPr sz="780">
                <a:solidFill>
                  <a:srgbClr val="1E293B"/>
                </a:solidFill>
                <a:latin typeface="Times New Roman"/>
              </a:defRPr>
            </a:pPr>
            <a:r>
              <a:t>• Tier 2 Psychoeducation: 'Your brain's amygdala is triggering a surge in cortisol.'</a:t>
            </a:r>
          </a:p>
          <a:p>
            <a:pPr algn="l">
              <a:spcAft>
                <a:spcPts val="200"/>
              </a:spcAft>
              <a:defRPr sz="780">
                <a:solidFill>
                  <a:srgbClr val="1E293B"/>
                </a:solidFill>
                <a:latin typeface="Times New Roman"/>
              </a:defRPr>
            </a:pPr>
            <a:r>
              <a:t>• Tier 3 CBT Skill: 'Try 4-7-8 breathing: Breathe in for 4s, hold for 7s, exhale for 8s.'</a:t>
            </a:r>
          </a:p>
          <a:p>
            <a:pPr algn="l">
              <a:spcAft>
                <a:spcPts val="200"/>
              </a:spcAft>
              <a:defRPr sz="780">
                <a:solidFill>
                  <a:srgbClr val="1E293B"/>
                </a:solidFill>
                <a:latin typeface="Times New Roman"/>
              </a:defRPr>
            </a:pPr>
            <a:r>
              <a:t>• Voice Readout &amp; Chips: Spoken therapeutic readout and interactive grounding chips.</a:t>
            </a:r>
          </a:p>
        </p:txBody>
      </p:sp>
      <p:sp>
        <p:nvSpPr>
          <p:cNvPr id="13" name="TextBox 12"/>
          <p:cNvSpPr txBox="1"/>
          <p:nvPr/>
        </p:nvSpPr>
        <p:spPr>
          <a:xfrm>
            <a:off x="8229600" y="4069080"/>
            <a:ext cx="3749039" cy="365760"/>
          </a:xfrm>
          <a:prstGeom prst="rect">
            <a:avLst/>
          </a:prstGeom>
          <a:noFill/>
        </p:spPr>
        <p:txBody>
          <a:bodyPr wrap="none">
            <a:spAutoFit/>
          </a:bodyPr>
          <a:lstStyle/>
          <a:p>
            <a:pPr>
              <a:defRPr sz="1100" b="1">
                <a:solidFill>
                  <a:srgbClr val="0D5050"/>
                </a:solidFill>
                <a:latin typeface="Times New Roman"/>
              </a:defRPr>
            </a:pPr>
            <a:r>
              <a:t>DEVELOPED SYSTEM ARCHITECTURE</a:t>
            </a:r>
          </a:p>
        </p:txBody>
      </p:sp>
      <p:pic>
        <p:nvPicPr>
          <p:cNvPr id="14" name="Picture 13" descr="poster_img_4.jpg"/>
          <p:cNvPicPr>
            <a:picLocks noChangeAspect="1"/>
          </p:cNvPicPr>
          <p:nvPr/>
        </p:nvPicPr>
        <p:blipFill>
          <a:blip r:embed="rId4"/>
          <a:stretch>
            <a:fillRect/>
          </a:stretch>
        </p:blipFill>
        <p:spPr>
          <a:xfrm>
            <a:off x="8229600" y="4434840"/>
            <a:ext cx="374903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