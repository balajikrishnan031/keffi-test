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82880"/>
            <a:ext cx="12380976" cy="1371600"/>
          </a:xfrm>
          <a:prstGeom prst="rect">
            <a:avLst/>
          </a:prstGeom>
          <a:noFill/>
        </p:spPr>
        <p:txBody>
          <a:bodyPr wrap="square">
            <a:spAutoFit/>
          </a:bodyPr>
          <a:lstStyle/>
          <a:p>
            <a:pPr algn="ctr">
              <a:defRPr sz="2600" b="1">
                <a:solidFill>
                  <a:srgbClr val="0F3838"/>
                </a:solidFill>
                <a:latin typeface="Times New Roman"/>
              </a:defRPr>
            </a:pPr>
            <a:r>
              <a:t>KEFFI AI – A MENTAL HEALTH CHATBOT</a:t>
            </a:r>
          </a:p>
          <a:p>
            <a:pPr algn="ctr">
              <a:defRPr sz="1400" b="1">
                <a:solidFill>
                  <a:srgbClr val="0D5050"/>
                </a:solidFill>
                <a:latin typeface="Times New Roman"/>
              </a:defRPr>
            </a:pPr>
            <a:r>
              <a:t>UNIVERSITY COLLEGE OF ENGINEERING PANRUTI</a:t>
            </a:r>
          </a:p>
          <a:p>
            <a:pPr algn="ctr">
              <a:defRPr sz="1100" i="1">
                <a:solidFill>
                  <a:srgbClr val="334155"/>
                </a:solidFill>
                <a:latin typeface="Times New Roman"/>
              </a:defRPr>
            </a:pPr>
            <a:r>
              <a:t>(A Constituent College of Anna University, Chennai) • Department of Computer Science and Engineering</a:t>
            </a:r>
          </a:p>
          <a:p>
            <a:pPr algn="ctr">
              <a:defRPr sz="1050" b="1">
                <a:solidFill>
                  <a:srgbClr val="1E293B"/>
                </a:solidFill>
                <a:latin typeface="Times New Roman"/>
              </a:defRPr>
            </a:pPr>
            <a:r>
              <a:t>TEAM NAME: HACKERS TEAM   |   MEMBERS: MADHUMATHI S, BALAJI P, MALINI V   |   GUIDE: DR. S. SIVANESH M.Tech., Ph.D.</a:t>
            </a:r>
          </a:p>
        </p:txBody>
      </p:sp>
      <p:pic>
        <p:nvPicPr>
          <p:cNvPr id="3" name="Picture 2" descr="poster_img_1.png"/>
          <p:cNvPicPr>
            <a:picLocks noChangeAspect="1"/>
          </p:cNvPicPr>
          <p:nvPr/>
        </p:nvPicPr>
        <p:blipFill>
          <a:blip r:embed="rId2"/>
          <a:stretch>
            <a:fillRect/>
          </a:stretch>
        </p:blipFill>
        <p:spPr>
          <a:xfrm>
            <a:off x="365760" y="182880"/>
            <a:ext cx="1188720" cy="1188720"/>
          </a:xfrm>
          <a:prstGeom prst="rect">
            <a:avLst/>
          </a:prstGeom>
        </p:spPr>
      </p:pic>
      <p:pic>
        <p:nvPicPr>
          <p:cNvPr id="4" name="Picture 3" descr="poster_img_3.jpg"/>
          <p:cNvPicPr>
            <a:picLocks noChangeAspect="1"/>
          </p:cNvPicPr>
          <p:nvPr/>
        </p:nvPicPr>
        <p:blipFill>
          <a:blip r:embed="rId3"/>
          <a:stretch>
            <a:fillRect/>
          </a:stretch>
        </p:blipFill>
        <p:spPr>
          <a:xfrm>
            <a:off x="13533120" y="182880"/>
            <a:ext cx="1188720" cy="1188720"/>
          </a:xfrm>
          <a:prstGeom prst="rect">
            <a:avLst/>
          </a:prstGeom>
        </p:spPr>
      </p:pic>
      <p:sp>
        <p:nvSpPr>
          <p:cNvPr id="5" name="Rectangle 4"/>
          <p:cNvSpPr/>
          <p:nvPr/>
        </p:nvSpPr>
        <p:spPr>
          <a:xfrm>
            <a:off x="365760" y="1600200"/>
            <a:ext cx="14392656" cy="27432"/>
          </a:xfrm>
          <a:prstGeom prst="rect">
            <a:avLst/>
          </a:prstGeom>
          <a:solidFill>
            <a:srgbClr val="0F3838"/>
          </a:solidFill>
          <a:ln>
            <a:solidFill>
              <a:srgbClr val="0F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737360"/>
            <a:ext cx="4572000" cy="2286000"/>
          </a:xfrm>
          <a:prstGeom prst="rect">
            <a:avLst/>
          </a:prstGeom>
          <a:noFill/>
        </p:spPr>
        <p:txBody>
          <a:bodyPr wrap="square">
            <a:spAutoFit/>
          </a:bodyPr>
          <a:lstStyle/>
          <a:p>
            <a:pPr algn="l">
              <a:defRPr sz="1500" b="1">
                <a:solidFill>
                  <a:srgbClr val="0D5050"/>
                </a:solidFill>
                <a:latin typeface="Times New Roman"/>
              </a:defRPr>
            </a:pPr>
            <a:r>
              <a:t>1. ABSTRACT</a:t>
            </a:r>
          </a:p>
          <a:p>
            <a:pPr algn="l">
              <a:spcAft>
                <a:spcPts val="600"/>
              </a:spcAft>
              <a:defRPr sz="1050">
                <a:solidFill>
                  <a:srgbClr val="1E293B"/>
                </a:solidFill>
                <a:latin typeface="Times New Roman"/>
              </a:defRPr>
            </a:pPr>
            <a:r>
              <a:t>Access to professional mental healthcare remains out of reach for millions of people worldwide due to high session fees, shortages of trained psychiatrists, and social stigma. Standard clinical therapy provides only 1 hour of care per week. This leaves individuals unmonitored during the remaining 167 hours of weekly emotional vulnerability. Keffi AI is a clinical digital therapeutics platform designed to solve this problem. It delivers 24/7 continuous affective monitoring, hands-free voice interaction, and structured psychological interventions.</a:t>
            </a:r>
          </a:p>
        </p:txBody>
      </p:sp>
      <p:sp>
        <p:nvSpPr>
          <p:cNvPr id="7" name="TextBox 6"/>
          <p:cNvSpPr txBox="1"/>
          <p:nvPr/>
        </p:nvSpPr>
        <p:spPr>
          <a:xfrm>
            <a:off x="365760" y="4206240"/>
            <a:ext cx="4572000" cy="5943600"/>
          </a:xfrm>
          <a:prstGeom prst="rect">
            <a:avLst/>
          </a:prstGeom>
          <a:noFill/>
        </p:spPr>
        <p:txBody>
          <a:bodyPr wrap="square">
            <a:spAutoFit/>
          </a:bodyPr>
          <a:lstStyle/>
          <a:p>
            <a:pPr algn="l">
              <a:defRPr sz="1500" b="1">
                <a:solidFill>
                  <a:srgbClr val="0D5050"/>
                </a:solidFill>
                <a:latin typeface="Times New Roman"/>
              </a:defRPr>
            </a:pPr>
            <a:r>
              <a:t>2. HIGHLIGHTS OF THE PROJECT</a:t>
            </a:r>
          </a:p>
          <a:p>
            <a:pPr algn="l">
              <a:spcAft>
                <a:spcPts val="600"/>
              </a:spcAft>
              <a:defRPr sz="1050">
                <a:solidFill>
                  <a:srgbClr val="1E293B"/>
                </a:solidFill>
                <a:latin typeface="Times New Roman"/>
              </a:defRPr>
            </a:pPr>
            <a:r>
              <a:t>• BERT 96-Emotion Classifier: Accurately identifies 96 distinct emotional states from complex user text with 94.2% top-3 accuracy.</a:t>
            </a:r>
          </a:p>
          <a:p>
            <a:pPr algn="l">
              <a:spcAft>
                <a:spcPts val="600"/>
              </a:spcAft>
              <a:defRPr sz="1050">
                <a:solidFill>
                  <a:srgbClr val="1E293B"/>
                </a:solidFill>
                <a:latin typeface="Times New Roman"/>
              </a:defRPr>
            </a:pPr>
            <a:r>
              <a:t>• 3-Tier Clinical Care Framework: Combines empathetic validation, biological explanations (amygdala and cortisol surges), and CBT grounding exercises.</a:t>
            </a:r>
          </a:p>
          <a:p>
            <a:pPr algn="l">
              <a:spcAft>
                <a:spcPts val="600"/>
              </a:spcAft>
              <a:defRPr sz="1050">
                <a:solidFill>
                  <a:srgbClr val="1E293B"/>
                </a:solidFill>
                <a:latin typeface="Times New Roman"/>
              </a:defRPr>
            </a:pPr>
            <a:r>
              <a:t>• Hands-Free Real-Time Voice AI: Provides real-time speech conversation for users in acute panic who cannot type on keyboards.</a:t>
            </a:r>
          </a:p>
          <a:p>
            <a:pPr algn="l">
              <a:spcAft>
                <a:spcPts val="600"/>
              </a:spcAft>
              <a:defRPr sz="1050">
                <a:solidFill>
                  <a:srgbClr val="1E293B"/>
                </a:solidFill>
                <a:latin typeface="Times New Roman"/>
              </a:defRPr>
            </a:pPr>
            <a:r>
              <a:t>• High-Concurrency WAL Database: Uses a Write-Ahead Logging database engine to prevent crashes during peak concurrent usage.</a:t>
            </a:r>
          </a:p>
          <a:p>
            <a:pPr algn="l">
              <a:spcAft>
                <a:spcPts val="600"/>
              </a:spcAft>
              <a:defRPr sz="1050">
                <a:solidFill>
                  <a:srgbClr val="1E293B"/>
                </a:solidFill>
                <a:latin typeface="Times New Roman"/>
              </a:defRPr>
            </a:pPr>
            <a:r>
              <a:t>• Explainable AI (SHAP &amp; LIME): Generates visual feature attribution maps that allow attending clinicians to audit automated decisions.</a:t>
            </a:r>
          </a:p>
          <a:p>
            <a:pPr algn="l">
              <a:spcAft>
                <a:spcPts val="600"/>
              </a:spcAft>
              <a:defRPr sz="1050">
                <a:solidFill>
                  <a:srgbClr val="1E293B"/>
                </a:solidFill>
                <a:latin typeface="Times New Roman"/>
              </a:defRPr>
            </a:pPr>
            <a:r>
              <a:t>• Admin Clinical Dashboard: Enables psychiatrists to monitor patient progress, view inactivity alerts, and inspect full chat history.</a:t>
            </a:r>
          </a:p>
        </p:txBody>
      </p:sp>
      <p:sp>
        <p:nvSpPr>
          <p:cNvPr id="8" name="TextBox 7"/>
          <p:cNvSpPr txBox="1"/>
          <p:nvPr/>
        </p:nvSpPr>
        <p:spPr>
          <a:xfrm>
            <a:off x="5212080" y="1737360"/>
            <a:ext cx="4754880" cy="2286000"/>
          </a:xfrm>
          <a:prstGeom prst="rect">
            <a:avLst/>
          </a:prstGeom>
          <a:noFill/>
        </p:spPr>
        <p:txBody>
          <a:bodyPr wrap="square">
            <a:spAutoFit/>
          </a:bodyPr>
          <a:lstStyle/>
          <a:p>
            <a:pPr algn="l">
              <a:defRPr sz="1500" b="1">
                <a:solidFill>
                  <a:srgbClr val="0D5050"/>
                </a:solidFill>
                <a:latin typeface="Times New Roman"/>
              </a:defRPr>
            </a:pPr>
            <a:r>
              <a:t>3. METHODOLOGY</a:t>
            </a:r>
          </a:p>
          <a:p>
            <a:pPr algn="l">
              <a:spcAft>
                <a:spcPts val="600"/>
              </a:spcAft>
              <a:defRPr sz="1050">
                <a:solidFill>
                  <a:srgbClr val="1E293B"/>
                </a:solidFill>
                <a:latin typeface="Times New Roman"/>
              </a:defRPr>
            </a:pPr>
            <a:r>
              <a:t>Keffi AI uses a multimodal affective computing pipeline. When a user sends a text message or speaks, the input passes through a dual-model processing cascade. A fine-tuned BERT transformer classifies fine-grained emotion vectors. Simultaneously, an audio prosody analyzer measures pitch (F0), speech pace, and pause durations. Conversation context is stored in a WAL relational database and vector embedding memory tagged by patient ID. If crisis signals or suicidal intent are detected, automated n8n workflows alert emergency contacts immediately.</a:t>
            </a:r>
          </a:p>
        </p:txBody>
      </p:sp>
      <p:sp>
        <p:nvSpPr>
          <p:cNvPr id="9" name="TextBox 8"/>
          <p:cNvSpPr txBox="1"/>
          <p:nvPr/>
        </p:nvSpPr>
        <p:spPr>
          <a:xfrm>
            <a:off x="5212080" y="4206240"/>
            <a:ext cx="4754880" cy="3749039"/>
          </a:xfrm>
          <a:prstGeom prst="rect">
            <a:avLst/>
          </a:prstGeom>
          <a:noFill/>
        </p:spPr>
        <p:txBody>
          <a:bodyPr wrap="square">
            <a:spAutoFit/>
          </a:bodyPr>
          <a:lstStyle/>
          <a:p>
            <a:pPr algn="l">
              <a:defRPr sz="1500" b="1">
                <a:solidFill>
                  <a:srgbClr val="0D5050"/>
                </a:solidFill>
                <a:latin typeface="Times New Roman"/>
              </a:defRPr>
            </a:pPr>
            <a:r>
              <a:t>4. STEP BY STEP PROCEDURE OR ALGORITHM</a:t>
            </a:r>
          </a:p>
          <a:p>
            <a:pPr algn="l">
              <a:spcAft>
                <a:spcPts val="600"/>
              </a:spcAft>
              <a:defRPr sz="1050">
                <a:solidFill>
                  <a:srgbClr val="1E293B"/>
                </a:solidFill>
                <a:latin typeface="Times New Roman"/>
              </a:defRPr>
            </a:pPr>
            <a:r>
              <a:t>Step 1: Multimodal Data Ingestion: Capture user text or real-time voice audio via Web Speech API endpoints.</a:t>
            </a:r>
          </a:p>
          <a:p>
            <a:pPr algn="l">
              <a:spcAft>
                <a:spcPts val="600"/>
              </a:spcAft>
              <a:defRPr sz="1050">
                <a:solidFill>
                  <a:srgbClr val="1E293B"/>
                </a:solidFill>
                <a:latin typeface="Times New Roman"/>
              </a:defRPr>
            </a:pPr>
            <a:r>
              <a:t>Step 2: BERT Emotion Classification: Tokenize input text and classify across 96 fine-grained psychological emotion categories.</a:t>
            </a:r>
          </a:p>
          <a:p>
            <a:pPr algn="l">
              <a:spcAft>
                <a:spcPts val="600"/>
              </a:spcAft>
              <a:defRPr sz="1050">
                <a:solidFill>
                  <a:srgbClr val="1E293B"/>
                </a:solidFill>
                <a:latin typeface="Times New Roman"/>
              </a:defRPr>
            </a:pPr>
            <a:r>
              <a:t>Step 3: Isolated Context Retrieval: Retrieve past conversation context from the WAL database using the unique patient ID.</a:t>
            </a:r>
          </a:p>
          <a:p>
            <a:pPr algn="l">
              <a:spcAft>
                <a:spcPts val="600"/>
              </a:spcAft>
              <a:defRPr sz="1050">
                <a:solidFill>
                  <a:srgbClr val="1E293B"/>
                </a:solidFill>
                <a:latin typeface="Times New Roman"/>
              </a:defRPr>
            </a:pPr>
            <a:r>
              <a:t>Step 4: 3-Tier Response Generation: Synthesize empathetic validation, biological insights, and CBT grounding exercises.</a:t>
            </a:r>
          </a:p>
          <a:p>
            <a:pPr algn="l">
              <a:spcAft>
                <a:spcPts val="600"/>
              </a:spcAft>
              <a:defRPr sz="1050">
                <a:solidFill>
                  <a:srgbClr val="1E293B"/>
                </a:solidFill>
                <a:latin typeface="Times New Roman"/>
              </a:defRPr>
            </a:pPr>
            <a:r>
              <a:t>Step 5: Acoustic Prosody &amp; Risk Triage: Analyze voice pitch and pause durations; trigger n8n crisis workflows if danger is flagged.</a:t>
            </a:r>
          </a:p>
          <a:p>
            <a:pPr algn="l">
              <a:spcAft>
                <a:spcPts val="600"/>
              </a:spcAft>
              <a:defRPr sz="1050">
                <a:solidFill>
                  <a:srgbClr val="1E293B"/>
                </a:solidFill>
                <a:latin typeface="Times New Roman"/>
              </a:defRPr>
            </a:pPr>
            <a:r>
              <a:t>Step 6: Clinician Dashboard Sync: Log session scores and full conversation transcripts to the Admin Clinical Hub.</a:t>
            </a:r>
          </a:p>
        </p:txBody>
      </p:sp>
      <p:sp>
        <p:nvSpPr>
          <p:cNvPr id="10" name="TextBox 9"/>
          <p:cNvSpPr txBox="1"/>
          <p:nvPr/>
        </p:nvSpPr>
        <p:spPr>
          <a:xfrm>
            <a:off x="5212080" y="8046720"/>
            <a:ext cx="4754880" cy="2286000"/>
          </a:xfrm>
          <a:prstGeom prst="rect">
            <a:avLst/>
          </a:prstGeom>
          <a:noFill/>
        </p:spPr>
        <p:txBody>
          <a:bodyPr wrap="square">
            <a:spAutoFit/>
          </a:bodyPr>
          <a:lstStyle/>
          <a:p>
            <a:pPr algn="l">
              <a:defRPr sz="1500" b="1">
                <a:solidFill>
                  <a:srgbClr val="0D5050"/>
                </a:solidFill>
                <a:latin typeface="Times New Roman"/>
              </a:defRPr>
            </a:pPr>
            <a:r>
              <a:t>5. DATASET USED IF ANY</a:t>
            </a:r>
          </a:p>
          <a:p>
            <a:pPr algn="l">
              <a:spcAft>
                <a:spcPts val="600"/>
              </a:spcAft>
              <a:defRPr sz="1050">
                <a:solidFill>
                  <a:srgbClr val="1E293B"/>
                </a:solidFill>
                <a:latin typeface="Times New Roman"/>
              </a:defRPr>
            </a:pPr>
            <a:r>
              <a:t>• GoEmotions Dataset: 58,000 carefully curated Reddit comments annotated across fine-grained emotion categories, extended to 96 clinical psychological states for model fine-tuning.</a:t>
            </a:r>
          </a:p>
          <a:p>
            <a:pPr algn="l">
              <a:spcAft>
                <a:spcPts val="600"/>
              </a:spcAft>
              <a:defRPr sz="1050">
                <a:solidFill>
                  <a:srgbClr val="1E293B"/>
                </a:solidFill>
                <a:latin typeface="Times New Roman"/>
              </a:defRPr>
            </a:pPr>
            <a:r>
              <a:t>• DAIC-WOZ Audio Corpus: Clinical interview recordings used to establish voice prosody benchmarks for speech pause and pitch calibration.</a:t>
            </a:r>
          </a:p>
        </p:txBody>
      </p:sp>
      <p:sp>
        <p:nvSpPr>
          <p:cNvPr id="11" name="TextBox 10"/>
          <p:cNvSpPr txBox="1"/>
          <p:nvPr/>
        </p:nvSpPr>
        <p:spPr>
          <a:xfrm>
            <a:off x="10241280" y="1737360"/>
            <a:ext cx="4480560" cy="3200400"/>
          </a:xfrm>
          <a:prstGeom prst="rect">
            <a:avLst/>
          </a:prstGeom>
          <a:noFill/>
        </p:spPr>
        <p:txBody>
          <a:bodyPr wrap="square">
            <a:spAutoFit/>
          </a:bodyPr>
          <a:lstStyle/>
          <a:p>
            <a:pPr algn="l">
              <a:defRPr sz="1500" b="1">
                <a:solidFill>
                  <a:srgbClr val="0D5050"/>
                </a:solidFill>
                <a:latin typeface="Times New Roman"/>
              </a:defRPr>
            </a:pPr>
            <a:r>
              <a:t>6. INPUT AND OUTPUT</a:t>
            </a:r>
          </a:p>
          <a:p>
            <a:pPr algn="l">
              <a:spcAft>
                <a:spcPts val="600"/>
              </a:spcAft>
              <a:defRPr sz="1050">
                <a:solidFill>
                  <a:srgbClr val="1E293B"/>
                </a:solidFill>
                <a:latin typeface="Times New Roman"/>
              </a:defRPr>
            </a:pPr>
            <a:r>
              <a:t>User Input: Spoken voice or written statement ('I feel completely overwhelmed by exam deadlines, my heart is racing, and I can't sleep.')</a:t>
            </a:r>
          </a:p>
          <a:p>
            <a:pPr algn="l">
              <a:spcAft>
                <a:spcPts val="600"/>
              </a:spcAft>
              <a:defRPr sz="1050">
                <a:solidFill>
                  <a:srgbClr val="1E293B"/>
                </a:solidFill>
                <a:latin typeface="Times New Roman"/>
              </a:defRPr>
            </a:pPr>
            <a:r>
              <a:t>System Output:</a:t>
            </a:r>
          </a:p>
          <a:p>
            <a:pPr algn="l">
              <a:spcAft>
                <a:spcPts val="600"/>
              </a:spcAft>
              <a:defRPr sz="1050">
                <a:solidFill>
                  <a:srgbClr val="1E293B"/>
                </a:solidFill>
                <a:latin typeface="Times New Roman"/>
              </a:defRPr>
            </a:pPr>
            <a:r>
              <a:t>• Tier 1 Validation: 'I hear how much pressure you're under. It is completely valid to feel overwhelmed.'</a:t>
            </a:r>
          </a:p>
          <a:p>
            <a:pPr algn="l">
              <a:spcAft>
                <a:spcPts val="600"/>
              </a:spcAft>
              <a:defRPr sz="1050">
                <a:solidFill>
                  <a:srgbClr val="1E293B"/>
                </a:solidFill>
                <a:latin typeface="Times New Roman"/>
              </a:defRPr>
            </a:pPr>
            <a:r>
              <a:t>• Tier 2 Psychoeducation: 'Your brain's amygdala is triggering fight-or-flight hormones like cortisol right now.'</a:t>
            </a:r>
          </a:p>
          <a:p>
            <a:pPr algn="l">
              <a:spcAft>
                <a:spcPts val="600"/>
              </a:spcAft>
              <a:defRPr sz="1050">
                <a:solidFill>
                  <a:srgbClr val="1E293B"/>
                </a:solidFill>
                <a:latin typeface="Times New Roman"/>
              </a:defRPr>
            </a:pPr>
            <a:r>
              <a:t>• Tier 3 CBT Skill: 'Let's do 4-7-8 breathing together: Breathe in for 4s, hold for 7s, exhale for 8s.'</a:t>
            </a:r>
          </a:p>
          <a:p>
            <a:pPr algn="l">
              <a:spcAft>
                <a:spcPts val="600"/>
              </a:spcAft>
              <a:defRPr sz="1050">
                <a:solidFill>
                  <a:srgbClr val="1E293B"/>
                </a:solidFill>
                <a:latin typeface="Times New Roman"/>
              </a:defRPr>
            </a:pPr>
            <a:r>
              <a:t>• Voice Readout &amp; Chips: Spoken therapeutic audio readout plus 3 interactive grounding action buttons.</a:t>
            </a:r>
          </a:p>
        </p:txBody>
      </p:sp>
      <p:sp>
        <p:nvSpPr>
          <p:cNvPr id="12" name="TextBox 11"/>
          <p:cNvSpPr txBox="1"/>
          <p:nvPr/>
        </p:nvSpPr>
        <p:spPr>
          <a:xfrm>
            <a:off x="10241280" y="5029200"/>
            <a:ext cx="4480560" cy="1645920"/>
          </a:xfrm>
          <a:prstGeom prst="rect">
            <a:avLst/>
          </a:prstGeom>
          <a:noFill/>
        </p:spPr>
        <p:txBody>
          <a:bodyPr wrap="square">
            <a:spAutoFit/>
          </a:bodyPr>
          <a:lstStyle/>
          <a:p>
            <a:pPr algn="l">
              <a:defRPr sz="1500" b="1">
                <a:solidFill>
                  <a:srgbClr val="0D5050"/>
                </a:solidFill>
                <a:latin typeface="Times New Roman"/>
              </a:defRPr>
            </a:pPr>
            <a:r>
              <a:t>7. CONCLUSION</a:t>
            </a:r>
          </a:p>
          <a:p>
            <a:pPr algn="l">
              <a:spcAft>
                <a:spcPts val="600"/>
              </a:spcAft>
              <a:defRPr sz="1050">
                <a:solidFill>
                  <a:srgbClr val="1E293B"/>
                </a:solidFill>
                <a:latin typeface="Times New Roman"/>
              </a:defRPr>
            </a:pPr>
            <a:r>
              <a:t>Keffi AI demonstrates that AI-driven affective computing, hands-free voice therapeutics, and clinician tracking can unite into a safe, reliable digital mental health platform. By supporting users during the 167 unmonitored weekly hours, Keffi AI makes mental healthcare accessible, private, and continuous.</a:t>
            </a:r>
          </a:p>
        </p:txBody>
      </p:sp>
      <p:sp>
        <p:nvSpPr>
          <p:cNvPr id="13" name="TextBox 12"/>
          <p:cNvSpPr txBox="1"/>
          <p:nvPr/>
        </p:nvSpPr>
        <p:spPr>
          <a:xfrm>
            <a:off x="10241280" y="6766560"/>
            <a:ext cx="4480560" cy="365760"/>
          </a:xfrm>
          <a:prstGeom prst="rect">
            <a:avLst/>
          </a:prstGeom>
          <a:noFill/>
        </p:spPr>
        <p:txBody>
          <a:bodyPr wrap="none">
            <a:spAutoFit/>
          </a:bodyPr>
          <a:lstStyle/>
          <a:p>
            <a:pPr>
              <a:defRPr sz="1500" b="1">
                <a:solidFill>
                  <a:srgbClr val="0D5050"/>
                </a:solidFill>
                <a:latin typeface="Times New Roman"/>
              </a:defRPr>
            </a:pPr>
            <a:r>
              <a:t>DEVELOPED LIVE SYSTEM INTERFACE</a:t>
            </a:r>
          </a:p>
        </p:txBody>
      </p:sp>
      <p:pic>
        <p:nvPicPr>
          <p:cNvPr id="14" name="Picture 13" descr="new_user_landing_screenshot_v2.png"/>
          <p:cNvPicPr>
            <a:picLocks noChangeAspect="1"/>
          </p:cNvPicPr>
          <p:nvPr/>
        </p:nvPicPr>
        <p:blipFill>
          <a:blip r:embed="rId4"/>
          <a:stretch>
            <a:fillRect/>
          </a:stretch>
        </p:blipFill>
        <p:spPr>
          <a:xfrm>
            <a:off x="10241280" y="7223760"/>
            <a:ext cx="4480560" cy="31089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