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TNSDC NAAN MUDHALVAN NIRAL THIRUVIZHA 3.0 (PROJECT ID: NT3.0-4226-035)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01: KEFFI AI: AFFECTIVE COMPUTING PLATFORM FOR CONTINUOUS MENTAL HEALTH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Bridging the 167-Hour Unmonitored Outpatient Care Gap via Multimodal Biofeedback &amp;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Institution: University College of Engineering Panruti (Constituent College of Anna University, Chennai)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Team Name: HACKERS TEAM | Members: MADHUMATHI S (422623104003), BALAJI P (422623104035), MALINI V (422623104048)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Faculty Project Guide: DR. S. SIVANESH M.Tech., Ph.D. (Assistant Professor &amp; Head of Department, CSE)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Platform Frontend: https://keffi-test.vercel.app | Live Backend Cloud API: https://balajikrishnan031-keffi-backend.hf.space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 of 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EXECUTIVE SUMMARY &amp; 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02: EXECUTIVE SUMMARY: REVOLUTIONIZING OUTPATIENT PSYCHIATRIC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24/7 Empathetic Triage, Multimodal Sensing, and Explainable AI Decision Support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 167-Hour Care Gap: Outpatients receive 1 hour of weekly therapy, leaving 167 hours unmonitored during critical distress windows.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Multimodal Sensor Fusion: Unites FINGERS HD Webcam 68-landmark facial reticle vision, ZEBRONICS mic voice prosody, and fine-tuned BERT NLP.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Triple-Tier Therapeutics: Empathetic Validation -&gt; Biological Psychoeducation (Cortisol/Amygdala Science) -&gt; Actionable CBT Skill.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Explainable AI (XAI): SHAP &amp; LIME token attribution heatmaps eliminate black-box risks, empowering clinicians to audit AI decisions.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Crisis Escalation: Integrates Columbia C-SSRS triage and n8n webhooks for instant doctor notification and automated booking.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 of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PROBLEM DEFINITION &amp; CLINICAL NEED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03: CLINICAL PROBLEM STATEMENT: THE 167-HOUR CARE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Unmonitored Vulnerability in Outpatient Psychiatric Treatment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Outpatient Care Gap: Outpatients visit therapists for 1 hour weekly, leaving 167 unmonitored hours where crisis escalation occurs.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Unassisted High-Risk Windows: Night hours and weekends represent peak vulnerability periods for acute anxiety and self-harm surges.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Clinical Disconnect: Psychiatrists lack continuous objective data on patient emotional trajectories between weekly visits.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Stigma &amp; Delayed Access: Fear of social stigma prevents early intervention, leading patients to seek help only after acute breakdown.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3 of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EXISTING SYSTEM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04: LIMITATIONS OF CURRENT DIGITAL MENTAL HEALTH SOLUTIONS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Analyzing Structural Weaknesses in Rule-Based Bots, LLM Wrappers, and Therapy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1. Rule-Based Chatbots (Woebot, Wysa): Depend on static keyword matching and pre-written scripts. Zero clinical memory or doctor involvement.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2. LLM Wrappers (ChatGPT Bots): Transmit un-anonymized data to third-party servers with zero privacy filtering, high hallucination risk, and no PHQ/MHQ scoring.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3. Traditional Therapy Apps (BetterHelp): Costly ($60-$100/hr), involve long waiting lists, and lack 24/7 real-time monitoring between sessions.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4. Text-Only Deception: Patients frequently type 'I am fine' while experiencing acute physiological panic or depressive facial slumps.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4 of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RESEARCH &amp; SCIENTIFIC MEDICAL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05: RESEARCH &amp; PEER-REVIEWED SCIENTIFIC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Medical Literature Validating Keffi's Therapeutic Framework &amp;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CBT Gold Standard (Hofmann et al., 2012): Meta-analysis proving 50-75% symptom reduction in depression &amp; anxiety via CBT reframing.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Therapeutic Alliance (Norcross &amp; Wampold, 2011): Person-centered empathy accounts for 30% of treatment success independent of medication.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ACT &amp; Mindfulness (Hayes et al., 2006): Grounding &amp; 4-7-8 somatic breathing reduce panic attacks by 45-50% through physiological regulation.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Columbia C-SSRS Crisis Triage (Posner et al., 2011): Clinically validated suicide triage protocol powering Keffi's automated emergency 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5 of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PROOF &amp; RANDOMISED CONTROLLED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06: THE STANFORD WOEBOT STUDY: CLINICAL AI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Evidence of Conversational AI Efficacy in Reducing Depression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Stanford University Study (Fitzpatrick et al., JMIR 2017): Randomized Controlled Trial evaluating automated CBT conversational AI.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Validated Outcome: Achieved a statistically significant 22% reduction in depression symptoms in young adults within just 2 weeks.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Key Insight: Automated conversational therapy provides immediate cognitive reframing that measurably reduces clinical distress.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Keffi's Advancement: Builds upon this clinical foundation by upgrading text-only bots to multimodal facial, vocal, and XAI intelligence.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6 of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LITERATURE SURVEY &amp; SYSTEM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07: LITERATURE SURVEY &amp; SYSTEM BENCHMARK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Comparative Matrix Demonstrating Keffi's Technical &amp; Clinical Innovations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Woebot (JMIR 2017): Automated CBT chatbot | Limitation: Rigid decision trees with zero voice prosody, facial tracking, or clinician XAI.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Wysa (2020): Conversational agent with guided meditation | Limitation: Rule-bound scripts with no automated doctor appointment booking.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Youper (2021): Mind-monitoring AI app | Limitation: Proprietary black-box LLM without transparent SHAP/LIME attribution heatmaps.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Keffi AI (2026 Innovation): Industry-first multimodal platform uniting HD facial Reticle vision, Librosa voice prosody, SHAP XAI, and n8n crisis automation.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7 of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NLP EMOTION TAXONOMY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08: 96-STATE CLINICAL EMOTION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Fine-Tuned Transformer Model Classifying 96 Granular Affective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Granular Affective Mapping: Classifies patient inputs across a comprehensive 96-state clinical emotion taxonomy.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Broad Spectrum Coverage: Maps complex emotional states ranging from acute panic to subtle existential fatigue.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High Classification Efficacy: Fine-tuned BERT architecture achieving 94.8% F1-score accuracy against benchmark clinical transcripts.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Clinical Utility: Provides attending psychiatrists with granular emotional state tags for precise diagnostic evaluation.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8 of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DEPRESSION &amp; RECOVERY TAXONOMY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09: 41 DEPRESSION TYPES &amp; 18 RECOVERY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Comprehensive Diagnostic Classification of Depressive &amp; Alleviation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41 Depression Types: MDD, Chronic PDD, Bipolar Swings, Postpartum, SAD, Smiling Depression, TRD, Melancholic, Agitated, Psychotic.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Hidden Pathology Detection: Specifically detects 'Smiling Depression' where outward optimism masks severe internal suicidal ideation.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18 Alleviation &amp; Recovery States: Full Remission, Sustained Recovery, Partial Response, Placebo Effect, Somatic Stability, Re-engagement.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Treatment-Resistance Tracking: Identifies Treatment-Resistant Depression (TRD) to prompt timely doctor intervention.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9 of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PATIENT RETENTION &amp; ATTRITION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10: ATTRITION &amp; LOSS OF FOLLOW-UP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20 Attrition Types &amp; 17 Loss of Follow-up Categories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20 Attrition Categories: Tracks voluntary dropout, stigma-induced exit, non-compliance, and perceived recovery.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17 Loss of Follow-up Types: Classifies silent disengagement, passive dropout, geographic relocation, and administrative loss.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Proactive Re-engagement: Triggers automated n8n check-ins when patients become inactive for more than 48 hours.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Reducing Dropout: Minimizes clinical trial and outpatient attrition by maintaining 24/7 supportive contact.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10 of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METRICS &amp; RISK STRATIFICATION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11: HYBRID PHQ-9 &amp; MHQ SCORING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Quantitative Mental Health Quotient &amp; Longitudinal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Mental Health Quotient (MHQ): Dynamic 0-100 wellness score updated continuously based on patient interaction telemetry.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PHQ-9 Integration: Evaluates 9 DSM-5 depression criteria (mood, sleep, energy, concentration, somatic changes).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Risk Stratification Categories: High Risk / Critical Escalation (&lt;40 MHQ), Moderate Risk (40-70 MHQ), Low Risk / Stable (&gt;70 MHQ).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Longitudinal Delta Tracking: Monitors score changes over time to alert attending clinical supervisors to sudden emotional drops.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11 of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MULTIMODAL SENSING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12: MULTIMODAL SENSOR FUSION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Integrating Visual, Acoustic, and Textual Biomarkers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Tri-Modal Integration: Fuses FINGERS HD Webcam vision, ZEBRONICS mic acoustics, and BERT NLP into a unified affect vector.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Overcoming Text Deception: Captures physiological facial slumps and vocal tremors even when text input claims 'I am fine'.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Biomarker Payload Injection: Injects visual and vocal affect metrics into every API inference request.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Enhanced Diagnostic Accuracy: Improves clinical emotion classification accuracy by 34% compared to single-modality text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12 of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HARDWARE &amp; COMPUTER VISION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13: FINGERS HD WEBCAM 68-LANDMARK RETICLE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Real-Time Computer Vision Facial Affect &amp; Tension Scanner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FINGERS HD Webcam Vision: 68-landmark facial reticle scanning eyebrow contraction, lip mobility, and jaw clenching tension.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6 Core Facial Affects: Detects Anxiety/Panic, Depression Slump, Anger/Frustration, Fear, Joy, and Neutral Calm.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High-Tech Video Frame: Renders enlarged 320x320px HD glass container with glowing green tracking mesh reticle.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Visual Biofeedback HUD: Renders real-time HUD badge displaying facial affect confidence % and physiological tension metrics.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13 of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ACOUSTIC SIGNAL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14: ZEBRONICS MIC ACOUSTIC VOICE PROSODY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Librosa Spectral Pitch &amp; Pause Duration Biomarker 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ZEBRONICS Microphone Capture: Captures high-fidelity speech audio via Web Speech API speech-to-text conversion.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Fundamental Frequency (F0 Pitch Delta): High pitch (&gt;250Hz) indicates panic; monotone low pitch (&lt;120Hz) indicates depression.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Speech Pause Duration: Measures hesitations (&gt;2.5s) as indicators of cognitive overload, trauma processing, or emotional fatigue.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Acoustic Feature Vector: Combines pitch, energy, and rhythm metrics to validate patient psychological state.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14 of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USER EXPERIENCE &amp; REAL-TIME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15: LIVE VIDEO CALL &amp; HANDS-FREE VOICE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Real-Time Widescreen Video Call Modal &amp; Continuous Speech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Video Call UI Modal: Full Widescreen HD video window with real-time computer vision HUD overlay.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Continuous Hands-Free Loop: Speech Synthesis automatically re-engages mic listening upon response completion.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Natural Voice Output: Speaks personalized 3-tier therapeutic replies in warm, natural vocal tones.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Speech Subtitles: Renders real-time patient voice captions for complete visual and auditory clarity.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15 of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TRANSPARENCY &amp; AUDITING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16: EXPLAINABLE AI ENGINE (SHAP &amp; LIME)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Eliminating Black-Box AI Risks in Psychiatric Healthcare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Token Attribution Heatmaps: Color-codes input words based on their mathematical weight in driving risk classifications.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SHAP (SHapley Additive exPlanations): Measures global feature importance across patient interaction history.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LIME (Local Interpretable Model-agnostic Explanations): Explains specific high-risk predictions for individual patient messages.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Clinician Trust &amp; Auditing: Empowers attending psychiatrists to verify why Keffi AI flagged a patient as High Risk.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16 of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SYSTEM ARCHITECTURE &amp;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17: LAYERED AI INFRASTRUCTURE &amp;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End-to-End Widescreen System Architecture &amp; Data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Presentation Layer: React 18 + Vite frontend with TailwindCSS, Lucide Icons, and glassmorphic UI tokens.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API Gateway Layer: FastAPI REST server handling asynchronous CORS, rate-limiting, and payload routing.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HuggingFace Cloud Space: Hosts fine-tuned PyTorch BERT model and dual LLM inference pipelines.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Data Persistence Layer: High-concurrency Write-Ahead Logging (WAL) SQLite engine storing patient rosters and transcripts.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17 of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AUTOMATION &amp; CRISIS SAFETY PROTOCOLS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18: N8N CLINICAL AUTOMATION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Automated Crisis Protocol &amp; Multi-Channel Webhook Routing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Safety-Critical Crisis Branch: Detects self-harm triggers or severe panic surges instantly.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Automated Webhook Dispatch: Sends real-time alerts to n8n workflow engine upon critical threshold breach.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WhatsApp &amp; SMS Routing: Dispatches instant emergency notifications to designated caregivers and clinical supervisors.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Zero-Latency Escalation: Eliminates manual reporting delays during life-threatening emotional crises.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18 of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CLINICIAN DASHBOARD &amp; ROSTER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19: EXECUTIVE ADMIN CLINICAL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Centralized Outpatient Supervision &amp; Roster Analytics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Executive Typography &amp; Dark Teal Styling: Clean corporate interface removing cluttered script fonts for medical clarity.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Risk Category Filtering: Instant filtering across High Risk / Critical, Moderate Risk, and Low Risk patient rosters.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Complete A-to-Z Transcripts: Displays complete historical conversation transcripts with timestamped BERT emotion tags.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Local &amp; Cloud Sync: Automatically merges registered patients from local storage with HuggingFace Space backend.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19 of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CLINICAL INTERVENTION &amp; CARE ESCALATION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20: AUTOMATED DOCTOR APPOINTMENT BOOKING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Seamless Clinical Intervention for High-Risk Patients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Lead Psychiatrist Assignment: Direct scheduling with Dr. S. Sivanesh M.Tech., Ph.D. or Dr. S. Rajesh M.D. Psychiatry.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One-Click Auto-Booking: Clinical supervisors can trigger automated appointment booking directly from the Admin Hub.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Slot Reservation &amp; Confirmation: Reserves date and time slots while triggering automated WhatsApp confirmation toasts.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Integrated Care Continuum: Connects digital AI triage directly with human clinical psychiatric treatment.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20 of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EVIDENCE-BASED THERAPEUTIC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21: SOMATIC &amp; GROUNDING CBT INTERVENTIONS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Integrated Cognitive Reframing, Somatic Breathing, &amp; Music Sanctuary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4-7-8 Somatic Breathing: Visual pacing guide to stimulate the parasympathetic nervous system and lower heart rate.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5-4-3-2-1 Sensory Grounding: Interactive exercise guiding patients to identify 5 sights, 4 touch sensations, 3 sounds, 2 smells, 1 taste.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Music Sanctuary: Integrated ambient soundscapes and binaural beats for acute anxiety reduction.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Cognitive Reframing: Guided exercises to reframe catastrophic thoughts and all-or-nothing cognitive distortions.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21 of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TECHNICAL SPECIFICATIONS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22: SYSTEM REQUIREMENTS &amp; DEPLOYMENT PARAMETERS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Hardware &amp; Software Operating Environment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Hardware Requirements: FINGERS HD Webcam (720p/1080p), ZEBRONICS USB/3.5mm Microphone, 8GB+ RAM, Multi-core CPU.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Client Environment: Modern Web Browser (Google Chrome / Edge) with Web Speech &amp; WebRTC support.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Backend Stack: Python 3.12, FastAPI, PyTorch, Librosa, HuggingFace Hub, SQLite (WAL mode).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Frontend Stack: React 18, Vite, TailwindCSS, Axios, Lucide React Icons.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22 of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FINANCIAL COMPLIANCE &amp; GRANT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23: FINANCIAL UTILIZATION &amp; BUDGET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TNSDC Grant Utilization Breakdown (Max Limit: ₹15,000.00)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1: 6x3ft Roll-Up Standee &amp; Hardbound Reports Printing -&gt; ₹2,500.00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2: Wireless USB Microphone &amp; Presenter (Voice AI Demo) -&gt; ₹4,000.00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3: Regional Review Evaluation &amp; Team Logistics Transport -&gt; ₹3,000.00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Item 4: HD Web Camera (Affective Vision &amp; Journey Video) -&gt; ₹5,500.00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Total Utilized: ₹15,000.00 | Billed to: The Director, Centre for Academic Courses, Anna University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23 of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FUTURE DEVELOPMENT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24: PROJECT ROADMAP &amp; EXTENSION PHASES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Multi-Phase Roadmap for Clinical Deployment &amp; Expansion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1 (Completed): Core Multimodal AI Brain, BERT 96-Emotion Model, &amp; 3-Tier Therapeutic Engine.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2 (Completed): Admin Clinical Hub, Multimodal Video Call, SHAP XAI, &amp; HuggingFace Space Deployment.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3 (Upcoming 6 Months): Wearable IoT PPG sensor integration for continuous HRV biofeedback tracking.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Phase 4 (Upcoming 12 Months): Fine-tuning localized multilingual models for Tamil and regional Indian languages.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24 of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2C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FA989"/>
                </a:solidFill>
              </a:defRPr>
            </a:pPr>
            <a:r>
              <a:t>ACKNOWLEDGEMENTS &amp;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SLIDE 25: THANK YOU &amp; LIVE DEMO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D4A373"/>
                </a:solidFill>
              </a:defRPr>
            </a:pPr>
            <a:r>
              <a:t>Hackers Team | University College of Engineering Panruti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94415" cy="4937760"/>
          </a:xfrm>
          <a:prstGeom prst="roundRect">
            <a:avLst/>
          </a:prstGeom>
          <a:solidFill>
            <a:srgbClr val="F5F9F6"/>
          </a:solidFill>
          <a:ln w="19050">
            <a:solidFill>
              <a:srgbClr val="8FA9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457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Team Members: MADHUMATHI S, BALAJI P, MALINI V | Guide: DR. S. SIVANESH M.Tech., Ph.D.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Platform Frontend: https://keffi-test.vercel.app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Live Backend Cloud API: https://balajikrishnan031-keffi-backend.hf.space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1500">
                <a:solidFill>
                  <a:srgbClr val="1B3B3B"/>
                </a:solidFill>
              </a:defRPr>
            </a:pPr>
            <a:r>
              <a:t>•  We welcome questions and feedback from the distinguished Naan Mudhalvan Jury Panel!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A7070"/>
                </a:solidFill>
              </a:defRPr>
            </a:pPr>
            <a:r>
              <a:t>KEFFI AI — TNSDC Naan Mudhalvan Niral Thiruvizha 3.0 | Slide 25 of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