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lIns="914400" tIns="914400"/>
          <a:lstStyle/>
          <a:p>
            <a:pPr algn="ctr">
              <a:defRPr sz="1400" b="1">
                <a:solidFill>
                  <a:srgbClr val="2AA870"/>
                </a:solidFill>
              </a:defRPr>
            </a:pPr>
            <a:r>
              <a:t>NIRAL THIRUVIZHA 3.0 (2026) — COMBINED MASTER FINAL REVIEW</a:t>
            </a:r>
          </a:p>
          <a:p>
            <a:pPr>
              <a:defRPr sz="2600" b="1">
                <a:solidFill>
                  <a:srgbClr val="FFFFFF"/>
                </a:solidFill>
              </a:defRPr>
            </a:pPr>
            <a:r>
              <a:t>KEFFI AI: Master Clinical AI Psychiatrist &amp; Affective Computing Engine</a:t>
            </a:r>
          </a:p>
          <a:p>
            <a:pPr>
              <a:defRPr sz="1400">
                <a:solidFill>
                  <a:srgbClr val="E2E8F0"/>
                </a:solidFill>
              </a:defRPr>
            </a:pPr>
            <a:r>
              <a:t>Comprehensive Combined Presentation (First Review + Second Review + Clinical Upgrades)</a:t>
            </a:r>
          </a:p>
        </p:txBody>
      </p:sp>
      <p:sp>
        <p:nvSpPr>
          <p:cNvPr id="3" name="Rounded Rectangle 2"/>
          <p:cNvSpPr/>
          <p:nvPr/>
        </p:nvSpPr>
        <p:spPr>
          <a:xfrm>
            <a:off x="914400" y="3200400"/>
            <a:ext cx="10362895" cy="3108960"/>
          </a:xfrm>
          <a:prstGeom prst="roundRect">
            <a:avLst/>
          </a:prstGeom>
          <a:solidFill>
            <a:srgbClr val="2C5555"/>
          </a:solidFill>
          <a:ln>
            <a:solidFill>
              <a:srgbClr val="2AA870"/>
            </a:solidFill>
          </a:ln>
        </p:spPr>
        <p:style>
          <a:lnRef idx="1">
            <a:schemeClr val="accent1"/>
          </a:lnRef>
          <a:fillRef idx="3">
            <a:schemeClr val="accent1"/>
          </a:fillRef>
          <a:effectRef idx="2">
            <a:schemeClr val="accent1"/>
          </a:effectRef>
          <a:fontRef idx="minor">
            <a:schemeClr val="lt1"/>
          </a:fontRef>
        </p:style>
        <p:txBody>
          <a:bodyPr rtlCol="0" anchor="ctr" lIns="365760" tIns="228600"/>
          <a:lstStyle/>
          <a:p>
            <a:pPr algn="ctr"/>
          </a:p>
          <a:p>
            <a:r>
              <a:rPr b="1" sz="1150">
                <a:solidFill>
                  <a:srgbClr val="2AA870"/>
                </a:solidFill>
              </a:rPr>
              <a:t>Team ID: </a:t>
            </a:r>
            <a:r>
              <a:rPr sz="1150">
                <a:solidFill>
                  <a:srgbClr val="FFFFFF"/>
                </a:solidFill>
              </a:rPr>
              <a:t>NMNTSTD42260064   |   Team Name: Hackers Team</a:t>
            </a:r>
          </a:p>
          <a:p>
            <a:r>
              <a:rPr b="1" sz="1150">
                <a:solidFill>
                  <a:srgbClr val="2AA870"/>
                </a:solidFill>
              </a:rPr>
              <a:t>College Name: </a:t>
            </a:r>
            <a:r>
              <a:rPr sz="1150">
                <a:solidFill>
                  <a:srgbClr val="FFFFFF"/>
                </a:solidFill>
              </a:rPr>
              <a:t>University College of Engineering, Panruti (UCE, Panruti)</a:t>
            </a:r>
          </a:p>
          <a:p>
            <a:r>
              <a:rPr b="1" sz="1150">
                <a:solidFill>
                  <a:srgbClr val="2AA870"/>
                </a:solidFill>
              </a:rPr>
              <a:t>Problem Statement: </a:t>
            </a:r>
            <a:r>
              <a:rPr sz="1150">
                <a:solidFill>
                  <a:srgbClr val="FFFFFF"/>
                </a:solidFill>
              </a:rPr>
              <a:t>How might we utilize AI chatbots and machine learning to address incomplete alleviation of depression symptoms, attrition, and loss of follow-up in mental health treatment</a:t>
            </a:r>
          </a:p>
          <a:p>
            <a:r>
              <a:rPr b="1" sz="1150">
                <a:solidFill>
                  <a:srgbClr val="2AA870"/>
                </a:solidFill>
              </a:rPr>
              <a:t>Theme: </a:t>
            </a:r>
            <a:r>
              <a:rPr sz="1150">
                <a:solidFill>
                  <a:srgbClr val="FFFFFF"/>
                </a:solidFill>
              </a:rPr>
              <a:t>Artificial Intelligence (Healthcare &amp; Clinical Digital Therapeutics)</a:t>
            </a:r>
          </a:p>
          <a:p>
            <a:r>
              <a:rPr b="1" sz="1150">
                <a:solidFill>
                  <a:srgbClr val="2AA870"/>
                </a:solidFill>
              </a:rPr>
              <a:t>Team Leader: </a:t>
            </a:r>
            <a:r>
              <a:rPr sz="1150">
                <a:solidFill>
                  <a:srgbClr val="FFFFFF"/>
                </a:solidFill>
              </a:rPr>
              <a:t>Mathu (Madhumathi S - Reg: 422623104003)</a:t>
            </a:r>
          </a:p>
          <a:p>
            <a:r>
              <a:rPr b="1" sz="1150">
                <a:solidFill>
                  <a:srgbClr val="2AA870"/>
                </a:solidFill>
              </a:rPr>
              <a:t>Team Members: </a:t>
            </a:r>
            <a:r>
              <a:rPr sz="1150">
                <a:solidFill>
                  <a:srgbClr val="FFFFFF"/>
                </a:solidFill>
              </a:rPr>
              <a:t>Balaji P (Reg: 4226231035), Malini V (Reg: 4226231048)</a:t>
            </a:r>
          </a:p>
          <a:p>
            <a:r>
              <a:rPr b="1" sz="1150">
                <a:solidFill>
                  <a:srgbClr val="2AA870"/>
                </a:solidFill>
              </a:rPr>
              <a:t>Faculty Guide: </a:t>
            </a:r>
            <a:r>
              <a:rPr sz="1150">
                <a:solidFill>
                  <a:srgbClr val="FFFFFF"/>
                </a:solidFill>
              </a:rPr>
              <a:t>Dr. R. Sivanesh, M.E., Ph.D. (Associate Professor, Dept. of CSE)</a:t>
            </a:r>
          </a:p>
          <a:p>
            <a:r>
              <a:rPr b="1" sz="1150">
                <a:solidFill>
                  <a:srgbClr val="2AA870"/>
                </a:solidFill>
              </a:rPr>
              <a:t>Review Schedule: </a:t>
            </a:r>
            <a:r>
              <a:rPr sz="1150">
                <a:solidFill>
                  <a:srgbClr val="FFFFFF"/>
                </a:solidFill>
              </a:rPr>
              <a:t>05/08/2026 Afternoon Session (AN) | Panel 2 | Chennai Region Venue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1): DEPARTMENT OF CSE</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DEPARTMENT OF CSE</a:t>
            </a:r>
          </a:p>
          <a:p>
            <a:pPr>
              <a:defRPr sz="1200">
                <a:solidFill>
                  <a:srgbClr val="1E293B"/>
                </a:solidFill>
              </a:defRPr>
            </a:pPr>
            <a:r>
              <a:t>NAAN MUDHALVAN-NIRAL THIRUVIZHA</a:t>
            </a:r>
          </a:p>
          <a:p>
            <a:pPr>
              <a:defRPr sz="1200">
                <a:solidFill>
                  <a:srgbClr val="1E293B"/>
                </a:solidFill>
              </a:defRPr>
            </a:pPr>
            <a:r>
              <a:t>UNIVERSITY  COLLEGE OF ENGINEERING</a:t>
            </a:r>
          </a:p>
          <a:p>
            <a:pPr>
              <a:defRPr sz="1200">
                <a:solidFill>
                  <a:srgbClr val="1E293B"/>
                </a:solidFill>
              </a:defRPr>
            </a:pPr>
            <a:r>
              <a:t>PRESENTED BY</a:t>
            </a:r>
          </a:p>
          <a:p>
            <a:pPr>
              <a:defRPr sz="1200">
                <a:solidFill>
                  <a:srgbClr val="1E293B"/>
                </a:solidFill>
              </a:defRPr>
            </a:pPr>
            <a:r>
              <a:t>Dr. SIVANESH., B.Tech .,M.Tech., Ph.D.,</a:t>
            </a:r>
            <a:br/>
            <a:r>
              <a:t>ASSISTANT PROFESSOR DEPARTMENT OF CSE</a:t>
            </a:r>
          </a:p>
          <a:p>
            <a:pPr>
              <a:defRPr sz="1200">
                <a:solidFill>
                  <a:srgbClr val="1E293B"/>
                </a:solidFill>
              </a:defRPr>
            </a:pPr>
            <a:r>
              <a:t>MAJOR AREA:Artificial Intelligence in Mental Healthcare</a:t>
            </a:r>
            <a:br/>
            <a:r>
              <a:t>   (AI-based Clinical Decision &amp; Therapeutic Support System)</a:t>
            </a:r>
          </a:p>
          <a:p>
            <a:pPr>
              <a:defRPr sz="1200">
                <a:solidFill>
                  <a:srgbClr val="1E293B"/>
                </a:solidFill>
              </a:defRPr>
            </a:pPr>
            <a:r>
              <a:t>1st Review Date:28/05/2026</a:t>
            </a:r>
          </a:p>
          <a:p>
            <a:pPr>
              <a:defRPr sz="1200">
                <a:solidFill>
                  <a:srgbClr val="1E293B"/>
                </a:solidFill>
              </a:defRPr>
            </a:pPr>
            <a:r>
              <a:t>17. How might we utilize AI chatbots and machine learning to address the challenges of incomplete alleviation of depression symptoms, attrition, and loss of follow-up in mental health treatment</a:t>
            </a:r>
          </a:p>
          <a:p>
            <a:pPr>
              <a:defRPr sz="1200">
                <a:solidFill>
                  <a:srgbClr val="1E293B"/>
                </a:solidFill>
              </a:defRPr>
            </a:pPr>
            <a:r>
              <a:t>GUIDED BY</a:t>
            </a:r>
          </a:p>
          <a:p>
            <a:pPr>
              <a:defRPr sz="1200">
                <a:solidFill>
                  <a:srgbClr val="1E293B"/>
                </a:solidFill>
              </a:defRPr>
            </a:pPr>
            <a:r>
              <a:t>BALAJI P(422623104035)</a:t>
            </a:r>
            <a:br/>
            <a:r>
              <a:t>MADHUMATHI S(422623104003)</a:t>
            </a:r>
            <a:br/>
            <a:r>
              <a:t>MALINI V(422623104048)</a:t>
            </a:r>
          </a:p>
          <a:p>
            <a:pPr>
              <a:defRPr sz="1200">
                <a:solidFill>
                  <a:srgbClr val="1E293B"/>
                </a:solidFill>
              </a:defRPr>
            </a:pPr>
            <a:r>
              <a:t>https://meet.google.com/xrz-jdwc-ddx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2): PROBLEM STATEMENT</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PROBLEM STATEMENT</a:t>
            </a:r>
          </a:p>
          <a:p>
            <a:pPr>
              <a:defRPr sz="1200">
                <a:solidFill>
                  <a:srgbClr val="1E293B"/>
                </a:solidFill>
              </a:defRPr>
            </a:pPr>
            <a:r>
              <a:t>How might we utilize AI chatbots and machine learning to address the challenges of incomplete alleviation of depression symptoms, attrition, and loss of follow-up in mental health treatment.</a:t>
            </a:r>
          </a:p>
          <a:p>
            <a:pPr>
              <a:defRPr sz="1200">
                <a:solidFill>
                  <a:srgbClr val="1E293B"/>
                </a:solidFill>
              </a:defRPr>
            </a:pPr>
            <a:r>
              <a:t>Three Interconnected Challenges</a:t>
            </a:r>
          </a:p>
          <a:p>
            <a:pPr>
              <a:defRPr sz="1200">
                <a:solidFill>
                  <a:srgbClr val="1E293B"/>
                </a:solidFill>
              </a:defRPr>
            </a:pPr>
            <a:r>
              <a:t>1. Incomplete Alleviation of Depression Symptoms</a:t>
            </a:r>
            <a:br/>
            <a:r>
              <a:t>Current treatments — therapy and medication — work for many, but not completely for all. Studies show that nearly 50–60% of depression patients don't achieve full remission after a first-line treatment. This happens because:</a:t>
            </a:r>
            <a:br/>
            <a:r>
              <a:t>Treatment is often one-size-fits-all</a:t>
            </a:r>
            <a:br/>
            <a:r>
              <a:t>Symptom tracking between sessions is inconsistent or absent</a:t>
            </a:r>
            <a:br/>
            <a:r>
              <a:t>Patients suffer in silence between weekly or monthly appointments</a:t>
            </a:r>
            <a:br/>
            <a:r>
              <a:t>There's a significant gap between clinic visits where symptoms can worsen undetected</a:t>
            </a:r>
          </a:p>
          <a:p>
            <a:pPr>
              <a:defRPr sz="1200">
                <a:solidFill>
                  <a:srgbClr val="1E293B"/>
                </a:solidFill>
              </a:defRPr>
            </a:pPr>
            <a:r>
              <a:t>2. Attrition — Dropping Out of Treatment</a:t>
            </a:r>
            <a:br/>
            <a:r>
              <a:t>A large portion of patients abandon treatment prematurely, often before meaningful progress is made. Key reasons include:</a:t>
            </a:r>
            <a:br/>
            <a:r>
              <a:t>Stigma around seeking continued mental health support</a:t>
            </a:r>
            <a:br/>
            <a:r>
              <a:t>Cost and accessibility barriers — therapy is expensive and geographically limited</a:t>
            </a:r>
            <a:br/>
            <a:r>
              <a:t>Lack of motivation when progress feels slow or invisible</a:t>
            </a:r>
            <a:br/>
            <a:r>
              <a:t>Feeling disconnected from a therapist they see infrequently</a:t>
            </a:r>
          </a:p>
          <a:p>
            <a:pPr>
              <a:defRPr sz="1200">
                <a:solidFill>
                  <a:srgbClr val="1E293B"/>
                </a:solidFill>
              </a:defRPr>
            </a:pPr>
            <a:r>
              <a:t>3. Loss to Follow-Up</a:t>
            </a:r>
            <a:br/>
            <a:r>
              <a:t>Even patients who complete an initial treatment course often disappear from care entirely. This is dangerous because:</a:t>
            </a:r>
            <a:br/>
            <a:r>
              <a:t>Depression is episodic and recurring — without follow-up, relapse goes undetected</a:t>
            </a:r>
            <a:br/>
            <a:r>
              <a:t>There's no system proactively reaching out to at-risk patients</a:t>
            </a:r>
            <a:br/>
            <a:r>
              <a:t>Clinicians are overwhelmed and cannot manually track hundreds of patients</a:t>
            </a:r>
            <a:br/>
            <a:r>
              <a:t>The handoff between crisis care and long-term care is often broken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3): ABSTRACT</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ABSTRACT</a:t>
            </a:r>
          </a:p>
          <a:p>
            <a:pPr>
              <a:defRPr sz="1200">
                <a:solidFill>
                  <a:srgbClr val="1E293B"/>
                </a:solidFill>
              </a:defRPr>
            </a:pPr>
            <a:r>
              <a:t>Keffi AI is a Clinical Digital Therapeutics Platform designed to improve digital mental healthcare by overcoming</a:t>
            </a:r>
            <a:br/>
            <a:r>
              <a:t> the limitations of existing chatbots, which lack memory, personalization, and clinical safety.</a:t>
            </a:r>
            <a:br/>
            <a:br/>
            <a:r>
              <a:t>The system uses BERT-based emotion analysis to classify user input into 96 clinically relevant emotional states, </a:t>
            </a:r>
            <a:br/>
            <a:r>
              <a:t>enabling deeper understanding beyond basic sentiment detection. It also incorporates a vector-based memory system </a:t>
            </a:r>
            <a:br/>
            <a:r>
              <a:t>to retain past conversations and build a continuous psychological profile of the user.</a:t>
            </a:r>
            <a:br/>
            <a:br/>
            <a:r>
              <a:t>A dynamic Mental Health Quotient (MHQ) tracks user condition in real time, while a predictive attrition algorithm</a:t>
            </a:r>
            <a:br/>
            <a:r>
              <a:t> identifies early signs of disengagement and emotional decline. The platform integrates an automation layer (n8n) to</a:t>
            </a:r>
            <a:br/>
            <a:r>
              <a:t> trigger real-time interventions such as alerts, reminders, and crisis responses.</a:t>
            </a:r>
            <a:br/>
            <a:br/>
            <a:r>
              <a:t>Keffi AI provides both a patient interface for interaction and a clinical dashboard for monitoring, bridging the gap </a:t>
            </a:r>
            <a:br/>
            <a:r>
              <a:t>between self-help tools and professional mental healthcare.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4): SOLUTION</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SOLUTION</a:t>
            </a:r>
          </a:p>
          <a:p>
            <a:pPr>
              <a:defRPr sz="1200">
                <a:solidFill>
                  <a:srgbClr val="1E293B"/>
                </a:solidFill>
              </a:defRPr>
            </a:pPr>
            <a:r>
              <a:t>Keffi AI is designed as a clinical mental health support system, not just a chatbot.</a:t>
            </a:r>
            <a:br/>
            <a:r>
              <a:t>It uses AI + psychological frameworks to understand user emotions and respond using scientifically validated therapeutic strategies.</a:t>
            </a:r>
            <a:br/>
            <a:r>
              <a:t>Instead of giving generic replies, Keffi:</a:t>
            </a:r>
            <a:br/>
            <a:r>
              <a:t>      Analyzes user emotion in real-time </a:t>
            </a:r>
            <a:br/>
            <a:r>
              <a:t>      Selects the best therapeutic response type </a:t>
            </a:r>
            <a:br/>
            <a:r>
              <a:t>      Provides personalized, safe, and structured support</a:t>
            </a:r>
          </a:p>
          <a:p>
            <a:pPr>
              <a:defRPr sz="1200">
                <a:solidFill>
                  <a:srgbClr val="1E293B"/>
                </a:solidFill>
              </a:defRPr>
            </a:pPr>
            <a:r>
              <a:t>Keffi’s 7 Therapeutic AI Response Types</a:t>
            </a:r>
          </a:p>
          <a:p>
            <a:pPr>
              <a:defRPr sz="1200">
                <a:solidFill>
                  <a:srgbClr val="1E293B"/>
                </a:solidFill>
              </a:defRPr>
            </a:pPr>
            <a:r>
              <a:t>1.Validation &amp; Empathy</a:t>
            </a:r>
            <a:br/>
            <a:r>
              <a:t>Accepts user feelings without judgment </a:t>
            </a:r>
            <a:br/>
            <a:r>
              <a:t>Builds emotional trust </a:t>
            </a:r>
            <a:br/>
            <a:r>
              <a:t>Based on: Person-Centered Therapy</a:t>
            </a:r>
            <a:br/>
            <a:r>
              <a:t>Proof: 30% therapy success depends on feeling understood</a:t>
            </a:r>
          </a:p>
          <a:p>
            <a:pPr>
              <a:defRPr sz="1200">
                <a:solidFill>
                  <a:srgbClr val="1E293B"/>
                </a:solidFill>
              </a:defRPr>
            </a:pPr>
            <a:r>
              <a:t>2.Metaphor &amp; Storytelling</a:t>
            </a:r>
            <a:br/>
            <a:r>
              <a:t>Uses simple stories or analogies </a:t>
            </a:r>
            <a:br/>
            <a:r>
              <a:t>Helps users process emotions gently </a:t>
            </a:r>
            <a:br/>
            <a:r>
              <a:t>Based on: Acceptance &amp; Commitment Therapy (ACT)</a:t>
            </a:r>
            <a:br/>
            <a:r>
              <a:t>Proof: Helps in cognitive defusion (reduces overthinking)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5): 3.Grounding &amp; Somatic Techniques Breathing exercises (4-7-8)...</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3.Grounding &amp; Somatic Techniques</a:t>
            </a:r>
            <a:br/>
            <a:r>
              <a:t>Breathing exercises (4-7-8) </a:t>
            </a:r>
            <a:br/>
            <a:r>
              <a:t>Brings user to present moment </a:t>
            </a:r>
            <a:br/>
            <a:r>
              <a:t>Based on: Polyvagal Theory &amp; MBSR</a:t>
            </a:r>
            <a:br/>
            <a:r>
              <a:t>Proof: Reduces panic by 45–50%</a:t>
            </a:r>
          </a:p>
          <a:p>
            <a:pPr>
              <a:defRPr sz="1200">
                <a:solidFill>
                  <a:srgbClr val="1E293B"/>
                </a:solidFill>
              </a:defRPr>
            </a:pPr>
            <a:r>
              <a:t>4.Cognitive Reframing (CBT)</a:t>
            </a:r>
            <a:br/>
            <a:r>
              <a:t>Changes negative thinking patterns </a:t>
            </a:r>
            <a:br/>
            <a:r>
              <a:t>Builds positive mindset </a:t>
            </a:r>
            <a:br/>
            <a:r>
              <a:t>Based on: Cognitive Behavioral Therapy (CBT)</a:t>
            </a:r>
            <a:br/>
            <a:r>
              <a:t>Proof: 50–75% reduction in depression &amp; anxiety (WHO approved)</a:t>
            </a:r>
          </a:p>
          <a:p>
            <a:pPr>
              <a:defRPr sz="1200">
                <a:solidFill>
                  <a:srgbClr val="1E293B"/>
                </a:solidFill>
              </a:defRPr>
            </a:pPr>
            <a:r>
              <a:t>5.Reflective Questioning</a:t>
            </a:r>
            <a:br/>
            <a:r>
              <a:t>Asks open-ended questions </a:t>
            </a:r>
            <a:br/>
            <a:r>
              <a:t>Helps users understand themselves </a:t>
            </a:r>
            <a:br/>
            <a:r>
              <a:t>Based on: Motivational Interviewing</a:t>
            </a:r>
            <a:br/>
            <a:r>
              <a:t>Proof: Improves self-awareness &amp; behavior change</a:t>
            </a:r>
          </a:p>
          <a:p>
            <a:pPr>
              <a:defRPr sz="1200">
                <a:solidFill>
                  <a:srgbClr val="1E293B"/>
                </a:solidFill>
              </a:defRPr>
            </a:pPr>
            <a:r>
              <a:t>6.Guided Options (Quick Replies)</a:t>
            </a:r>
            <a:br/>
            <a:r>
              <a:t>Provides A/B/C choices </a:t>
            </a:r>
            <a:br/>
            <a:r>
              <a:t>Reduces mental effort </a:t>
            </a:r>
            <a:br/>
            <a:r>
              <a:t>Based on: Cognitive Load Theory</a:t>
            </a:r>
            <a:br/>
            <a:r>
              <a:t>Proof: Reduces decision fatigue &amp; user dropout</a:t>
            </a:r>
          </a:p>
          <a:p>
            <a:pPr>
              <a:defRPr sz="1200">
                <a:solidFill>
                  <a:srgbClr val="1E293B"/>
                </a:solidFill>
              </a:defRPr>
            </a:pPr>
            <a:r>
              <a:t>7.Crisis Intervention (SOS)</a:t>
            </a:r>
            <a:br/>
            <a:r>
              <a:t>Detects suicidal or high-risk signals </a:t>
            </a:r>
            <a:br/>
            <a:r>
              <a:t>Triggers emergency support </a:t>
            </a:r>
            <a:br/>
            <a:r>
              <a:t>Based on: WHO Suicide Prevention Protocols</a:t>
            </a:r>
            <a:br/>
            <a:r>
              <a:t>Proof: Ensures clinical safety &amp; ethical compliance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6): RESEARCH AND SCIENTIFIC VALIDATION</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RESEARCH AND SCIENTIFIC VALIDATION</a:t>
            </a:r>
          </a:p>
          <a:p>
            <a:pPr>
              <a:defRPr sz="1200">
                <a:solidFill>
                  <a:srgbClr val="1E293B"/>
                </a:solidFill>
              </a:defRPr>
            </a:pPr>
            <a:r>
              <a:t>CBT Effectiveness (Cognitive Reframing)</a:t>
            </a:r>
            <a:br/>
            <a:r>
              <a:t>Paper:</a:t>
            </a:r>
            <a:br/>
            <a:r>
              <a:t>Hofmann, S. G., Asnaani, A., Vonk, I. J. J., Sawyer, A. T., &amp; Fang, A. (2012). The Efficacy of Cognitive Behavioral Therapy: A Review of Meta-analyses. Cognitive Therapy and Research, 36(5), 427–440.</a:t>
            </a:r>
            <a:br/>
            <a:br/>
            <a:r>
              <a:t>CBT is WHO &amp; APA's gold standard — proven 50–75% success rate in reducing depression and anxiety symptoms across multiple meta-analyses.</a:t>
            </a:r>
          </a:p>
          <a:p>
            <a:pPr>
              <a:defRPr sz="1200">
                <a:solidFill>
                  <a:srgbClr val="1E293B"/>
                </a:solidFill>
              </a:defRPr>
            </a:pPr>
            <a:r>
              <a:t>Empathy &amp; Therapeutic Alliance (Person-Centered)</a:t>
            </a:r>
            <a:br/>
            <a:r>
              <a:t>Paper:</a:t>
            </a:r>
            <a:br/>
            <a:r>
              <a:t>Norcross, J. C., &amp; Wampold, B. E. (2011). Evidence-based therapy relationships: Research conclusions and clinical practices. Psychotherapy, 48(1), 98–102.</a:t>
            </a:r>
            <a:br/>
            <a:br/>
            <a:r>
              <a:t>Therapeutic alliance alone — the feeling of being heard — accounts for 30% of treatment success, independent of medication or technique.</a:t>
            </a:r>
          </a:p>
          <a:p>
            <a:pPr>
              <a:defRPr sz="1200">
                <a:solidFill>
                  <a:srgbClr val="1E293B"/>
                </a:solidFill>
              </a:defRPr>
            </a:pPr>
            <a:r>
              <a:t>ACT &amp; Mindfulness (Grounding &amp; Metaphors)</a:t>
            </a:r>
            <a:br/>
            <a:r>
              <a:t>Paper:</a:t>
            </a:r>
            <a:br/>
            <a:r>
              <a:t>Hayes, S. C., Luoma, J. B., Bond, F. W., Masuda, A., &amp; Lillis, J. (2006). Acceptance and Commitment Therapy: Model, processes and outcomes. Behaviour Research and Therapy, 44(1), 1–25.</a:t>
            </a:r>
            <a:br/>
            <a:br/>
            <a:r>
              <a:t>NHS-recommended ACT &amp; mindfulness techniques reduce panic attacks and extreme anxiety by 45–50% through grounding and breathing exercises.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7): AI Chatbot Proof — The Woebot Study (YOUR STRONGEST CARD) Pa...</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AI Chatbot Proof — The Woebot Study (YOUR STRONGEST CARD)</a:t>
            </a:r>
            <a:br/>
            <a:r>
              <a:t>Paper:</a:t>
            </a:r>
            <a:br/>
            <a:r>
              <a:t>Fitzpatrick, K. K., Darcy, A., &amp; Vierhile, M. (2017). Delivering Cognitive Behavior Therapy to Young Adults With Symptoms of Depression and Anxiety Using a Fully Automated Conversational Agent (Woebot): A Randomized Controlled Trial. JMIR Mental Health, 4(2), e19.</a:t>
            </a:r>
            <a:br/>
            <a:br/>
            <a:r>
              <a:t>In just 2 weeks, an AI chatbot using CBT &amp; empathy reduced depression symptoms by 22% — scientifically validated via randomized controlled trial at Stanford University.</a:t>
            </a:r>
          </a:p>
          <a:p>
            <a:pPr>
              <a:defRPr sz="1200">
                <a:solidFill>
                  <a:srgbClr val="1E293B"/>
                </a:solidFill>
              </a:defRPr>
            </a:pPr>
            <a:r>
              <a:t>Crisis Intervention &amp; SOS Protocol</a:t>
            </a:r>
            <a:br/>
            <a:r>
              <a:t>Reference Tool:</a:t>
            </a:r>
            <a:br/>
            <a:r>
              <a:t>Posner, K., et al. (2011). The Columbia–Suicide Severity Rating Scale: Initial Validity and Internal Consistency Findings From Three Multisite Studies With Adolescents and Adults. American Journal of Psychiatry, 168(12), 1266–1277.</a:t>
            </a:r>
            <a:br/>
            <a:br/>
            <a:r>
              <a:t>Keffi's SOS system follows WHO Suicide Prevention Guidelines and the clinically validated C-SSRS triage protocol — ensuring safe human escalation when AI detects crisis signals.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8): 96-STATE CLINICAL EMOTION MODEL</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96-STATE CLINICAL EMOTION MODEL</a:t>
            </a:r>
          </a:p>
          <a:p>
            <a:pPr>
              <a:defRPr sz="1200">
                <a:solidFill>
                  <a:srgbClr val="1E293B"/>
                </a:solidFill>
              </a:defRPr>
            </a:pPr>
            <a:r>
              <a:t>DEPRESSION (41 TYPES)</a:t>
            </a:r>
            <a:br/>
            <a:r>
              <a:t>MDD – 2+ weeks severe sadness</a:t>
            </a:r>
            <a:br/>
            <a:r>
              <a:t>PDD – Chronic mild depression 2+ yrs</a:t>
            </a:r>
            <a:br/>
            <a:r>
              <a:t>Bipolar – High vs low mood swings</a:t>
            </a:r>
            <a:br/>
            <a:r>
              <a:t>Postpartum – After childbirth depression</a:t>
            </a:r>
            <a:br/>
            <a:r>
              <a:t>SAD – Seasonal depression</a:t>
            </a:r>
            <a:br/>
            <a:r>
              <a:t>Psychotic – With hallucinations</a:t>
            </a:r>
            <a:br/>
            <a:r>
              <a:t>PMDD – Before periods mood issues</a:t>
            </a:r>
            <a:br/>
            <a:r>
              <a:t>Atypical – Temporary mood lift + oversleep</a:t>
            </a:r>
            <a:br/>
            <a:r>
              <a:t>DMDD – Child anger disorder</a:t>
            </a:r>
            <a:br/>
            <a:r>
              <a:t>TRD – Not responding to treatment</a:t>
            </a:r>
            <a:br/>
            <a:r>
              <a:t>Substance-induced – Due to drugs/alcohol</a:t>
            </a:r>
            <a:br/>
            <a:r>
              <a:t>Medical-condition – Due to illness</a:t>
            </a:r>
            <a:br/>
            <a:r>
              <a:t>Smiling – Hidden depression</a:t>
            </a:r>
            <a:br/>
            <a:r>
              <a:t>Melancholic – No pleasure at all</a:t>
            </a:r>
            <a:br/>
            <a:r>
              <a:t>Agitated – Restless + overthinking</a:t>
            </a:r>
            <a:br/>
            <a:r>
              <a:t>Double – Mild + severe combo</a:t>
            </a:r>
            <a:br/>
            <a:r>
              <a:t>Minor – Less severe MDD</a:t>
            </a:r>
            <a:br/>
            <a:r>
              <a:t>Catatonic – No movement state</a:t>
            </a:r>
          </a:p>
          <a:p>
            <a:pPr>
              <a:defRPr sz="1200">
                <a:solidFill>
                  <a:srgbClr val="1E293B"/>
                </a:solidFill>
              </a:defRPr>
            </a:pPr>
            <a:r>
              <a:t>Endogenous – Internal chemical cause</a:t>
            </a:r>
            <a:br/>
            <a:r>
              <a:t>Reactive – Due to life event</a:t>
            </a:r>
            <a:br/>
            <a:r>
              <a:t>Existential – Meaning-of-life sadness</a:t>
            </a:r>
            <a:br/>
            <a:r>
              <a:t>Masked – Physical pain instead</a:t>
            </a:r>
            <a:br/>
            <a:r>
              <a:t>Geriatric – Elderly depression</a:t>
            </a:r>
            <a:br/>
            <a:r>
              <a:t>Recurrent Brief – Short repeated episodes</a:t>
            </a:r>
            <a:br/>
            <a:r>
              <a:t>Unipolar – Only low mood</a:t>
            </a:r>
            <a:br/>
            <a:r>
              <a:t>Vascular – Blood flow issue</a:t>
            </a:r>
            <a:br/>
            <a:r>
              <a:t>Cyclothymia – Mild bipolar</a:t>
            </a:r>
            <a:br/>
            <a:r>
              <a:t>Mixed Anxiety – Anxiety + depression</a:t>
            </a:r>
            <a:br/>
            <a:r>
              <a:t>Perimenopausal – Menopause-related</a:t>
            </a:r>
            <a:br/>
            <a:r>
              <a:t>Post-Schizo – After schizophrenia</a:t>
            </a:r>
            <a:br/>
            <a:r>
              <a:t>Adjustment – Life change stress</a:t>
            </a:r>
            <a:br/>
            <a:r>
              <a:t>Antenatal – During pregnancy</a:t>
            </a:r>
            <a:br/>
            <a:r>
              <a:t>Prolonged Grief – Long-term grief</a:t>
            </a:r>
            <a:br/>
            <a:r>
              <a:t>Male Syndrome – Anger/risk behavior</a:t>
            </a:r>
            <a:br/>
            <a:r>
              <a:t>Burnout – Work stress exhaustion</a:t>
            </a:r>
            <a:br/>
            <a:r>
              <a:t>Anergic – No energy state</a:t>
            </a:r>
            <a:br/>
            <a:r>
              <a:t>D-MER – Breastfeeding sadness</a:t>
            </a:r>
            <a:br/>
            <a:r>
              <a:t>PCD – After intimacy sadness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9): ALLEVATION (18 STATES) Partial Response – Only partial recov...</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ALLEVATION (18 STATES)</a:t>
            </a:r>
            <a:br/>
            <a:r>
              <a:t>Partial Response – Only partial recovery</a:t>
            </a:r>
            <a:br/>
            <a:r>
              <a:t>Residual Symptoms – Some symptoms remain</a:t>
            </a:r>
            <a:br/>
            <a:r>
              <a:t>Tachyphylaxis – Drug stops working</a:t>
            </a:r>
            <a:br/>
            <a:r>
              <a:t>Breakthrough – Depression returns</a:t>
            </a:r>
            <a:br/>
            <a:r>
              <a:t>TRD – No response to treatment</a:t>
            </a:r>
            <a:br/>
            <a:r>
              <a:t>Full Remission – Complete recovery</a:t>
            </a:r>
            <a:br/>
            <a:r>
              <a:t>Sustained Recovery – Stable long-term</a:t>
            </a:r>
            <a:br/>
            <a:r>
              <a:t>Spontaneous – Auto recovery</a:t>
            </a:r>
            <a:br/>
            <a:r>
              <a:t>Placebo – Belief improves state</a:t>
            </a:r>
            <a:br/>
            <a:r>
              <a:t>Nocebo – Negative belief worsens</a:t>
            </a:r>
            <a:br/>
            <a:r>
              <a:t>Honeymoon – Short-term improvement</a:t>
            </a:r>
            <a:br/>
            <a:r>
              <a:t>Relapse – Return before recovery</a:t>
            </a:r>
            <a:br/>
            <a:r>
              <a:t>Recurrence – New episode later</a:t>
            </a:r>
            <a:br/>
            <a:r>
              <a:t>Pseudo-resistance – Improper treatment issue</a:t>
            </a:r>
            <a:br/>
            <a:r>
              <a:t>Emotional Blunting – No emotions</a:t>
            </a:r>
            <a:br/>
            <a:r>
              <a:t>TEAS – Switch to mania</a:t>
            </a:r>
            <a:br/>
            <a:r>
              <a:t>Withdrawal – Stopping drug effects</a:t>
            </a:r>
          </a:p>
          <a:p>
            <a:pPr>
              <a:defRPr sz="1200">
                <a:solidFill>
                  <a:srgbClr val="1E293B"/>
                </a:solidFill>
              </a:defRPr>
            </a:pPr>
            <a:r>
              <a:t>ATTRITION (20 TYPES)</a:t>
            </a:r>
            <a:br/>
            <a:r>
              <a:t>Voluntary – Leave by choice</a:t>
            </a:r>
            <a:br/>
            <a:r>
              <a:t>Involuntary – Forced removal</a:t>
            </a:r>
            <a:br/>
            <a:r>
              <a:t>Internal – Shift within org</a:t>
            </a:r>
            <a:br/>
            <a:r>
              <a:t>Demographic – Retirement/death</a:t>
            </a:r>
            <a:br/>
            <a:r>
              <a:t>Regrettable – Loss of top talent</a:t>
            </a:r>
            <a:br/>
            <a:r>
              <a:t>Non-regrettable – Low performer leaves</a:t>
            </a:r>
            <a:br/>
            <a:r>
              <a:t>New-hire – Early exit</a:t>
            </a:r>
            <a:br/>
            <a:r>
              <a:t>Veteran – Long-term exit</a:t>
            </a:r>
            <a:br/>
            <a:r>
              <a:t>Customer churn – Service leaving</a:t>
            </a:r>
            <a:br/>
            <a:r>
              <a:t>Student dropout – Education quit</a:t>
            </a:r>
            <a:br/>
            <a:r>
              <a:t>Mechanical – Wear &amp; tear</a:t>
            </a:r>
            <a:br/>
            <a:r>
              <a:t>Dental – Teeth wear</a:t>
            </a:r>
            <a:br/>
            <a:r>
              <a:t>Geological – Rock erosion</a:t>
            </a:r>
            <a:br/>
            <a:r>
              <a:t>War attrition – Loss in war</a:t>
            </a:r>
            <a:br/>
            <a:r>
              <a:t>Clinical trial – Patient dropout</a:t>
            </a:r>
            <a:br/>
            <a:r>
              <a:t>Therapeutic – Stop treatment</a:t>
            </a:r>
            <a:br/>
            <a:r>
              <a:t>Data loss – Packet loss</a:t>
            </a:r>
          </a:p>
          <a:p>
            <a:pPr>
              <a:defRPr sz="1200">
                <a:solidFill>
                  <a:srgbClr val="1E293B"/>
                </a:solidFill>
              </a:defRPr>
            </a:pPr>
            <a:r>
              <a:t>LOSS OF FOLLOW-UP (17 TYPES)</a:t>
            </a:r>
            <a:br/>
            <a:r>
              <a:t>Voluntary Withdrawal – Stops by choice</a:t>
            </a:r>
            <a:br/>
            <a:r>
              <a:t>Non-compliance – Avoids treatment</a:t>
            </a:r>
            <a:br/>
            <a:r>
              <a:t>Cured perception – Thinks cured</a:t>
            </a:r>
            <a:br/>
            <a:r>
              <a:t>Unintentional – Missed visits</a:t>
            </a:r>
            <a:br/>
            <a:r>
              <a:t>Silent loss – No contact</a:t>
            </a:r>
            <a:br/>
            <a:r>
              <a:t>Passive dropout – Ignores follow-up</a:t>
            </a:r>
            <a:br/>
            <a:r>
              <a:t>Active dropout – Informs and leaves</a:t>
            </a:r>
            <a:br/>
            <a:r>
              <a:t>Death – Patient expired</a:t>
            </a:r>
            <a:br/>
            <a:r>
              <a:t>Morbidity – Too ill to come</a:t>
            </a:r>
            <a:br/>
            <a:r>
              <a:t>Geographic – Moved away</a:t>
            </a:r>
            <a:br/>
            <a:r>
              <a:t>Economic – Cannot afford</a:t>
            </a:r>
            <a:br/>
            <a:r>
              <a:t>Stigma – Social fear</a:t>
            </a:r>
            <a:br/>
            <a:r>
              <a:t>Admin loss – System error</a:t>
            </a:r>
            <a:br/>
            <a:r>
              <a:t>Provider relocation – Doctor changed</a:t>
            </a:r>
            <a:br/>
            <a:r>
              <a:t>Protocol burden – Too complex</a:t>
            </a:r>
            <a:br/>
            <a:r>
              <a:t>Intermittent – Returns later</a:t>
            </a:r>
            <a:br/>
            <a:r>
              <a:t>Permanent – Never returns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10): PHQ + MHQ HYBRID SCORING SYSTEM</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PHQ + MHQ HYBRID SCORING SYSTEM</a:t>
            </a:r>
          </a:p>
          <a:p>
            <a:pPr>
              <a:defRPr sz="1200">
                <a:solidFill>
                  <a:srgbClr val="1E293B"/>
                </a:solidFill>
              </a:defRPr>
            </a:pPr>
            <a:r>
              <a:t>PHQ (Patient Health Questionnaire)</a:t>
            </a:r>
            <a:br/>
            <a:br/>
            <a:r>
              <a:t>Standard clinical assessment tool </a:t>
            </a:r>
            <a:br/>
            <a:r>
              <a:t>Score Range: 0 – 27 </a:t>
            </a:r>
            <a:br/>
            <a:br/>
            <a:r>
              <a:t>Severity Levels:</a:t>
            </a:r>
            <a:br/>
            <a:br/>
            <a:r>
              <a:t>0 – 4 → Minimal (0–15%) </a:t>
            </a:r>
            <a:br/>
            <a:r>
              <a:t>5 – 9 → Mild (16–33%) </a:t>
            </a:r>
            <a:br/>
            <a:r>
              <a:t>10 – 14 → Moderate (34–52%) </a:t>
            </a:r>
            <a:br/>
            <a:r>
              <a:t>15 – 19 → Moderately Severe (53–70%) </a:t>
            </a:r>
            <a:br/>
            <a:r>
              <a:t>20 – 27 → Severe (71–100%)</a:t>
            </a:r>
          </a:p>
          <a:p>
            <a:pPr>
              <a:defRPr sz="1200">
                <a:solidFill>
                  <a:srgbClr val="1E293B"/>
                </a:solidFill>
              </a:defRPr>
            </a:pPr>
            <a:r>
              <a:t>MHQ (Mental Health Quotient – Keffi AI)</a:t>
            </a:r>
            <a:br/>
            <a:br/>
            <a:r>
              <a:t>AI-based dynamic scoring system </a:t>
            </a:r>
            <a:br/>
            <a:r>
              <a:t>Score Range: 0 – 100</a:t>
            </a:r>
            <a:br/>
            <a:r>
              <a:t> </a:t>
            </a:r>
            <a:br/>
            <a:r>
              <a:t>State Levels:</a:t>
            </a:r>
            <a:br/>
            <a:br/>
            <a:r>
              <a:t>80 – 100 → Healthy / Thriving </a:t>
            </a:r>
            <a:br/>
            <a:r>
              <a:t>60 – 79 → Stable </a:t>
            </a:r>
            <a:br/>
            <a:r>
              <a:t>40 – 59 → Mild Risk </a:t>
            </a:r>
            <a:br/>
            <a:r>
              <a:t>20 – 39 → Moderate Risk </a:t>
            </a:r>
            <a:br/>
            <a:r>
              <a:t>0 – 19 → Critical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11): The Clinical Brain — BERT + Fast API</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The Clinical Brain — BERT + Fast API</a:t>
            </a:r>
          </a:p>
          <a:p>
            <a:pPr>
              <a:defRPr sz="1200">
                <a:solidFill>
                  <a:srgbClr val="1E293B"/>
                </a:solidFill>
              </a:defRPr>
            </a:pPr>
            <a:r>
              <a:t>BERT = Bidirectional Encoder Representations from Transformers</a:t>
            </a:r>
            <a:br/>
            <a:r>
              <a:t>It reads patient text both left-to-right AND right-to-left simultaneously</a:t>
            </a:r>
            <a:br/>
            <a:r>
              <a:t>This means it understands context, not just keywords</a:t>
            </a:r>
            <a:br/>
            <a:br/>
            <a:r>
              <a:t>                          Patient Message</a:t>
            </a:r>
            <a:br/>
            <a:r>
              <a:t>                                  ↓</a:t>
            </a:r>
            <a:br/>
            <a:r>
              <a:t>                        ① REACT UI        →  Voice/Text captured via Web Speech API</a:t>
            </a:r>
            <a:br/>
            <a:r>
              <a:t>                                  ↓</a:t>
            </a:r>
            <a:br/>
            <a:r>
              <a:t>                        ② FASTAPI GATE    →  PII Stripped (Name/Phone/Location removed)</a:t>
            </a:r>
            <a:br/>
            <a:r>
              <a:t>                                  ↓</a:t>
            </a:r>
            <a:br/>
            <a:r>
              <a:t>                        ③ BERT ENGINE     →  96-State Emotion Analysis + Confidence %</a:t>
            </a:r>
            <a:br/>
            <a:r>
              <a:t>                                  ↓</a:t>
            </a:r>
            <a:br/>
            <a:r>
              <a:t>                        ④ PINECONE MEMORY →  Past memories matched by similarity score</a:t>
            </a:r>
            <a:br/>
            <a:r>
              <a:t>                                  ↓</a:t>
            </a:r>
            <a:br/>
            <a:r>
              <a:t>                        ⑤ MHQ CALCULATOR  →  Live score updated (0–100 dynamic)</a:t>
            </a:r>
            <a:br/>
            <a:r>
              <a:t>                                   ↓</a:t>
            </a:r>
            <a:br/>
            <a:r>
              <a:t>                        ⑥ DUAL RESPONSE   →  Backend: Doctor Report | Frontend: Empathy Chat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12): BERT Output Example: Patient says:            "I've been fee...</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BERT Output Example:</a:t>
            </a:r>
            <a:br/>
            <a:r>
              <a:t>Patient says:</a:t>
            </a:r>
            <a:br/>
            <a:r>
              <a:t>           "I've been feeling tired, nothing excites me anymore...“</a:t>
            </a:r>
            <a:br/>
            <a:r>
              <a:t>BERT detects:</a:t>
            </a:r>
            <a:br/>
            <a:r>
              <a:t>          Sadness               → 84.3%</a:t>
            </a:r>
            <a:br/>
            <a:r>
              <a:t>          Hopelessness      → 71.2%</a:t>
            </a:r>
            <a:br/>
            <a:r>
              <a:t>          Anhedonia          → 68.9%</a:t>
            </a:r>
            <a:br/>
            <a:r>
              <a:t>          Exhaustion         → 61.4%</a:t>
            </a:r>
            <a:br/>
            <a:r>
              <a:t>          Joy                      → 2.1%</a:t>
            </a:r>
            <a:br/>
            <a:br/>
            <a:r>
              <a:t>BERT measures. FastAPI protects. Pinecone remembers. Claude speaks. — All in under 2 seconds.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13): System Architecture — Layered AI Infrastructure</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System Architecture — Layered AI Infrastructure</a:t>
            </a:r>
          </a:p>
          <a:p>
            <a:pPr>
              <a:defRPr sz="1200">
                <a:solidFill>
                  <a:srgbClr val="1E293B"/>
                </a:solidFill>
              </a:defRPr>
            </a:pPr>
            <a:r>
              <a:t>User Interface Layer (Frontend)</a:t>
            </a:r>
            <a:br/>
            <a:r>
              <a:t>Built using React + Tailwind CSS </a:t>
            </a:r>
            <a:br/>
            <a:r>
              <a:t>Provides: </a:t>
            </a:r>
            <a:br/>
            <a:r>
              <a:t>Patient Sanctuary (chat, mood tracking, tools) </a:t>
            </a:r>
            <a:br/>
            <a:r>
              <a:t>Admin Dashboard (doctor monitoring) </a:t>
            </a:r>
            <a:br/>
            <a:r>
              <a:t>Handles: </a:t>
            </a:r>
            <a:br/>
            <a:r>
              <a:t>User input (text / voice) </a:t>
            </a:r>
            <a:br/>
            <a:r>
              <a:t>Mood check-ins &amp; interaction</a:t>
            </a:r>
          </a:p>
          <a:p>
            <a:pPr>
              <a:defRPr sz="1200">
                <a:solidFill>
                  <a:srgbClr val="1E293B"/>
                </a:solidFill>
              </a:defRPr>
            </a:pPr>
            <a:r>
              <a:t>The Brain (Backend – FastAPI + Python)</a:t>
            </a:r>
            <a:br/>
            <a:r>
              <a:t>Core processing engine of the system </a:t>
            </a:r>
            <a:br/>
            <a:r>
              <a:t>Handles: </a:t>
            </a:r>
            <a:br/>
            <a:r>
              <a:t>User &amp; session management </a:t>
            </a:r>
            <a:br/>
            <a:r>
              <a:t>AI logic routing </a:t>
            </a:r>
            <a:br/>
            <a:r>
              <a:t>Risk assessment &amp; alerts </a:t>
            </a:r>
            <a:br/>
            <a:r>
              <a:t>Clinical safety checks </a:t>
            </a:r>
            <a:br/>
            <a:r>
              <a:t>Uses: </a:t>
            </a:r>
            <a:br/>
            <a:r>
              <a:t>REST APIs, WebSockets, Webhooks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 SLIDE 14</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15): Memory &amp; NLP Core BERT Model  Performs 96-state emotion clas...</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Memory &amp; NLP Core</a:t>
            </a:r>
            <a:br/>
            <a:r>
              <a:t>BERT Model </a:t>
            </a:r>
            <a:br/>
            <a:r>
              <a:t>Performs 96-state emotion classification </a:t>
            </a:r>
            <a:br/>
            <a:r>
              <a:t>Extracts sentiment + confidence score </a:t>
            </a:r>
            <a:br/>
            <a:r>
              <a:t>Vector Database (Pinecone) </a:t>
            </a:r>
            <a:br/>
            <a:r>
              <a:t>Stores conversation embeddings </a:t>
            </a:r>
            <a:br/>
            <a:r>
              <a:t>Enables long-term memory recall</a:t>
            </a:r>
          </a:p>
          <a:p>
            <a:pPr>
              <a:defRPr sz="1200">
                <a:solidFill>
                  <a:srgbClr val="1E293B"/>
                </a:solidFill>
              </a:defRPr>
            </a:pPr>
            <a:r>
              <a:t>Automation Router (n8n)</a:t>
            </a:r>
            <a:br/>
            <a:r>
              <a:t>Webhook-driven automation engine </a:t>
            </a:r>
            <a:br/>
            <a:r>
              <a:t>Components: </a:t>
            </a:r>
            <a:br/>
            <a:r>
              <a:t>Trigger (incoming event) </a:t>
            </a:r>
            <a:br/>
            <a:r>
              <a:t>Condition check (risk level) </a:t>
            </a:r>
            <a:br/>
            <a:r>
              <a:t>Action router (decision flow) </a:t>
            </a:r>
            <a:br/>
            <a:r>
              <a:t>Logging &amp; monitoring </a:t>
            </a:r>
            <a:br/>
            <a:r>
              <a:t>Handles: </a:t>
            </a:r>
            <a:br/>
            <a:r>
              <a:t>WhatsApp nudges </a:t>
            </a:r>
            <a:br/>
            <a:r>
              <a:t>Crisis alerts </a:t>
            </a:r>
            <a:br/>
            <a:r>
              <a:t>Doctor notifications</a:t>
            </a:r>
          </a:p>
          <a:p>
            <a:pPr>
              <a:defRPr sz="1200">
                <a:solidFill>
                  <a:srgbClr val="1E293B"/>
                </a:solidFill>
              </a:defRPr>
            </a:pPr>
            <a:r>
              <a:t>External Services &amp; Integrations</a:t>
            </a:r>
            <a:br/>
            <a:r>
              <a:t>WhatsApp → User engagement &amp; nudges </a:t>
            </a:r>
            <a:br/>
            <a:r>
              <a:t>Email → Doctor alerts </a:t>
            </a:r>
            <a:br/>
            <a:r>
              <a:t>Calendar → Reminders &amp; scheduling</a:t>
            </a:r>
          </a:p>
          <a:p>
            <a:pPr>
              <a:defRPr sz="1200">
                <a:solidFill>
                  <a:srgbClr val="1E293B"/>
                </a:solidFill>
              </a:defRPr>
            </a:pPr>
            <a:r>
              <a:t>Database Layer</a:t>
            </a:r>
            <a:br/>
            <a:r>
              <a:t>PostgreSQL → User &amp; clinical data </a:t>
            </a:r>
            <a:br/>
            <a:r>
              <a:t>Redis → Real-time caching </a:t>
            </a:r>
            <a:br/>
            <a:r>
              <a:t>Pinecone → Vector memory </a:t>
            </a:r>
            <a:br/>
            <a:r>
              <a:t>Secure Storage → Logs &amp; reports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16): Core Architecture – n8n Automation Engine</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Core Architecture – n8n Automation Engine</a:t>
            </a:r>
          </a:p>
          <a:p>
            <a:pPr>
              <a:defRPr sz="1200">
                <a:solidFill>
                  <a:srgbClr val="1E293B"/>
                </a:solidFill>
              </a:defRPr>
            </a:pPr>
            <a:r>
              <a:t>FastAPI Webhook (Entry Point)</a:t>
            </a:r>
            <a:br/>
            <a:r>
              <a:t>Receives user request from backend </a:t>
            </a:r>
            <a:br/>
            <a:r>
              <a:t>Acts as trigger to start workflow </a:t>
            </a:r>
            <a:br/>
            <a:r>
              <a:t>Sends patient data to n8n pipeline</a:t>
            </a:r>
          </a:p>
          <a:p>
            <a:pPr>
              <a:defRPr sz="1200">
                <a:solidFill>
                  <a:srgbClr val="1E293B"/>
                </a:solidFill>
              </a:defRPr>
            </a:pPr>
            <a:r>
              <a:t>Triage System (Decision Switch)</a:t>
            </a:r>
            <a:br/>
            <a:r>
              <a:t>Analyzes incoming request </a:t>
            </a:r>
            <a:br/>
            <a:r>
              <a:t>Classifies into: </a:t>
            </a:r>
            <a:br/>
            <a:r>
              <a:t>Normal conversation </a:t>
            </a:r>
            <a:br/>
            <a:r>
              <a:t>Emotional distress </a:t>
            </a:r>
            <a:br/>
            <a:r>
              <a:t>Crisis situation</a:t>
            </a:r>
          </a:p>
          <a:p>
            <a:pPr>
              <a:defRPr sz="1200">
                <a:solidFill>
                  <a:srgbClr val="1E293B"/>
                </a:solidFill>
              </a:defRPr>
            </a:pPr>
            <a:r>
              <a:t>Crisis Handling Flow</a:t>
            </a:r>
            <a:br/>
            <a:r>
              <a:t>Triggered when high-risk detected </a:t>
            </a:r>
            <a:br/>
            <a:r>
              <a:t>Sends WhatsApp SOS alert </a:t>
            </a:r>
            <a:br/>
            <a:r>
              <a:t>Activates Crisis Protocol response</a:t>
            </a:r>
          </a:p>
          <a:p>
            <a:pPr>
              <a:defRPr sz="1200">
                <a:solidFill>
                  <a:srgbClr val="1E293B"/>
                </a:solidFill>
              </a:defRPr>
            </a:pPr>
            <a:r>
              <a:t>Normal Response Flow</a:t>
            </a:r>
            <a:br/>
            <a:r>
              <a:t>If no risk detected: </a:t>
            </a:r>
            <a:br/>
            <a:r>
              <a:t>AI generates contextual response </a:t>
            </a:r>
            <a:br/>
            <a:r>
              <a:t>Sent back to user</a:t>
            </a:r>
          </a:p>
          <a:p>
            <a:pPr>
              <a:defRPr sz="1200">
                <a:solidFill>
                  <a:srgbClr val="1E293B"/>
                </a:solidFill>
              </a:defRPr>
            </a:pPr>
            <a:r>
              <a:t>Multi-AI Processing Pipeline</a:t>
            </a:r>
            <a:br/>
            <a:r>
              <a:t>Gemini (Diagnosis Engine)</a:t>
            </a:r>
            <a:br/>
            <a:r>
              <a:t>Performs deep emotional and condition analysis </a:t>
            </a:r>
            <a:br/>
            <a:r>
              <a:t>Identifies mental state patterns </a:t>
            </a:r>
            <a:br/>
            <a:r>
              <a:t>Claude (Empathy Engine)</a:t>
            </a:r>
            <a:br/>
            <a:r>
              <a:t>Generates human-like therapeutic response </a:t>
            </a:r>
            <a:br/>
            <a:r>
              <a:t>Uses storytelling and emotional tone </a:t>
            </a:r>
            <a:br/>
            <a:r>
              <a:t>ChatGPT (Options Engine)</a:t>
            </a:r>
            <a:br/>
            <a:r>
              <a:t>Provides structured solutions (A, B, C choices) </a:t>
            </a:r>
            <a:br/>
            <a:r>
              <a:t>Helps user decision-making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17): ADVANTAGE</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ADVANTAGE</a:t>
            </a:r>
          </a:p>
          <a:p>
            <a:pPr>
              <a:defRPr sz="1200">
                <a:solidFill>
                  <a:srgbClr val="1E293B"/>
                </a:solidFill>
              </a:defRPr>
            </a:pPr>
            <a:r>
              <a:t>1.96-State Emotion Understanding</a:t>
            </a:r>
            <a:br/>
            <a:r>
              <a:t>Other bots: 3–5 basic emotions</a:t>
            </a:r>
            <a:br/>
            <a:r>
              <a:t>Keffi: 96 clinically classified states (41 depression types, 20 attrition types, 17 loss-of-follow-up types)</a:t>
            </a:r>
            <a:br/>
            <a:r>
              <a:t>Powered by BERT — reads context bidirectionally, not just keywords</a:t>
            </a:r>
            <a:br/>
            <a:br/>
            <a:r>
              <a:t>2.Vector Memory (Pinecone)</a:t>
            </a:r>
            <a:br/>
            <a:r>
              <a:t>Other bots: Stateless — no memory between sessions</a:t>
            </a:r>
            <a:br/>
            <a:r>
              <a:t>Keffi: Stores conversation embeddings → builds a continuous psychological profile over time</a:t>
            </a:r>
            <a:br/>
            <a:r>
              <a:t>Remembers past pain points, triggers, and progress</a:t>
            </a:r>
            <a:br/>
            <a:br/>
            <a:r>
              <a:t>3.Dynamic MHQ Scoring</a:t>
            </a:r>
            <a:br/>
            <a:r>
              <a:t>Other bots: No health scoring system</a:t>
            </a:r>
            <a:br/>
            <a:r>
              <a:t>Keffi: Live Mental Health Quotient (0–100) updated every session, mapped to PHQ clinical standards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18): 4.Triple-AI Architecture Other bots: Single LLM  Keffi uses ...</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4.Triple-AI Architecture</a:t>
            </a:r>
            <a:br/>
            <a:r>
              <a:t>Other bots: Single LLM </a:t>
            </a:r>
            <a:br/>
            <a:r>
              <a:t>Keffi uses 3 specialized AIs in parallel: </a:t>
            </a:r>
            <a:br/>
            <a:r>
              <a:t>Gemini → Deep diagnosis &amp; pattern analysis Claude → Human-like empathy &amp; storytelling ChatGPT → Structured A/B/C guided options</a:t>
            </a:r>
            <a:br/>
            <a:br/>
            <a:r>
              <a:t>5.Predictive Attrition Engine</a:t>
            </a:r>
            <a:br/>
            <a:r>
              <a:t>Other bots: React only when user messages </a:t>
            </a:r>
            <a:br/>
            <a:r>
              <a:t>Keffi: Predicts dropout before it happens → triggers WhatsApp nudges, reminders, alerts via n8n</a:t>
            </a:r>
            <a:br/>
            <a:r>
              <a:t> </a:t>
            </a:r>
            <a:br/>
            <a:r>
              <a:t>6.Clinical Crisis Protocol</a:t>
            </a:r>
            <a:br/>
            <a:r>
              <a:t>Other bots: Show a helpline number at best </a:t>
            </a:r>
            <a:br/>
            <a:r>
              <a:t>Keffi: Follows C-SSRS + WHO protocols → auto-alerts doctor, sends WhatsApp SOS, activates crisis response</a:t>
            </a:r>
            <a:br/>
            <a:br/>
            <a:r>
              <a:t>7.Two-Sided Platform</a:t>
            </a:r>
            <a:br/>
            <a:r>
              <a:t>Other bots: Only patient-facing</a:t>
            </a:r>
            <a:br/>
            <a:r>
              <a:t>Keffi: Patient app + Clinical Hub dashboard for doctors with NLP analytics, patient roster, therapist allocation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19): ROADMAP</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ROADMAP</a:t>
            </a:r>
          </a:p>
          <a:p>
            <a:pPr>
              <a:defRPr sz="1200">
                <a:solidFill>
                  <a:srgbClr val="1E293B"/>
                </a:solidFill>
              </a:defRPr>
            </a:pPr>
            <a:r>
              <a:t>Phase 1 — Now (Current Prototype)</a:t>
            </a:r>
            <a:br/>
            <a:r>
              <a:t>What's built:</a:t>
            </a:r>
            <a:br/>
            <a:r>
              <a:t>Full React + Tailwind UI (Patient Sanctuary + Clinical Hub)</a:t>
            </a:r>
            <a:br/>
            <a:r>
              <a:t>BERT-based 96-state emotion engine via FastAPI</a:t>
            </a:r>
            <a:br/>
            <a:r>
              <a:t>Pinecone vector memory system</a:t>
            </a:r>
            <a:br/>
            <a:r>
              <a:t>MHQ dynamic scoring (0–100)</a:t>
            </a:r>
            <a:br/>
            <a:r>
              <a:t>Attrition prediction algorithm</a:t>
            </a:r>
            <a:br/>
            <a:r>
              <a:t>n8n automation pipeline</a:t>
            </a:r>
            <a:br/>
            <a:r>
              <a:t>7 therapeutic AI response types</a:t>
            </a:r>
          </a:p>
          <a:p>
            <a:pPr>
              <a:defRPr sz="1200">
                <a:solidFill>
                  <a:srgbClr val="1E293B"/>
                </a:solidFill>
              </a:defRPr>
            </a:pPr>
            <a:r>
              <a:t>Phase 2 — 3 Months (Deployment &amp; Engagement)</a:t>
            </a:r>
            <a:br/>
            <a:r>
              <a:t>What's planned:</a:t>
            </a:r>
            <a:br/>
            <a:r>
              <a:t>Cloud deployment on AWS / Vercel for real users</a:t>
            </a:r>
            <a:br/>
            <a:r>
              <a:t>WhatsApp integration — reach users where they already are</a:t>
            </a:r>
            <a:br/>
            <a:r>
              <a:t>Automated engagement — scheduled check-ins, mood nudges, streak reminders</a:t>
            </a:r>
            <a:br/>
            <a:r>
              <a:t>Multi-language support — Tamil, Hindi, regional languages (building on existing Tamil capability)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20): Phase 3 — 6 Months (Biometric Intelligence) What's planned: ...</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Phase 3 — 6 Months (Biometric Intelligence)</a:t>
            </a:r>
            <a:br/>
            <a:r>
              <a:t>What's planned:</a:t>
            </a:r>
            <a:br/>
            <a:r>
              <a:t>Smartwatch / Wearable integration (Apple Watch, Fitbit, Garmin)</a:t>
            </a:r>
            <a:br/>
            <a:r>
              <a:t>Monitor: Heart rate variability, sleep patterns, stress signals</a:t>
            </a:r>
            <a:br/>
            <a:r>
              <a:t>Auto-trigger calming tools when physiological distress detected</a:t>
            </a:r>
            <a:br/>
            <a:r>
              <a:t>Example: Heart rate spikes → Keffi automatically sends 4-7-8 breathing exercise</a:t>
            </a:r>
          </a:p>
          <a:p>
            <a:pPr>
              <a:defRPr sz="1200">
                <a:solidFill>
                  <a:srgbClr val="1E293B"/>
                </a:solidFill>
              </a:defRPr>
            </a:pPr>
            <a:r>
              <a:t>Phase 4 — 1 Year+ (Clinical Validation &amp; Scale)</a:t>
            </a:r>
            <a:br/>
            <a:r>
              <a:t>What's planned:</a:t>
            </a:r>
            <a:br/>
            <a:r>
              <a:t>IRB-approved clinical trial — validate Keffi in real hospital/clinic setting</a:t>
            </a:r>
            <a:br/>
            <a:r>
              <a:t>Doctor integration — prescribing doctors can view MHQ scores alongside PHQ results</a:t>
            </a:r>
            <a:br/>
            <a:r>
              <a:t>Insurance &amp; healthcare system tie-ins</a:t>
            </a:r>
            <a:br/>
            <a:r>
              <a:t>FDA/CE digital therapeutics certification pathway</a:t>
            </a:r>
            <a:br/>
            <a:r>
              <a:t>Research publication — contribute to the Woebot-level evidence base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21): CONCLUSION</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CONCLUSION</a:t>
            </a:r>
          </a:p>
          <a:p>
            <a:pPr>
              <a:defRPr sz="1200">
                <a:solidFill>
                  <a:srgbClr val="1E293B"/>
                </a:solidFill>
              </a:defRPr>
            </a:pPr>
            <a:r>
              <a:t>Keffi AI is not just a traditional chatbot but a clinically inspired digital mental health platform that combines artificial intelligence with proven psychological frameworks to deliver personalized and real-time support. By understanding 96+ emotional and depression states, integrating therapeutic response strategies like CBT and empathy-based interaction, and enabling automation through systems like n8n, the platform ensures both intelligent conversation and timely intervention. It addresses key limitations of existing solutions such as lack of memory, poor personalization, and absence of safety mechanisms. With features like MHQ scoring, attrition prediction, and </a:t>
            </a:r>
            <a:br/>
            <a:r>
              <a:t>future integration with wearable devices, Keffi AI moves towards a proactive and continuous mental healthcare </a:t>
            </a:r>
            <a:br/>
            <a:r>
              <a:t>model. Overall, it represents a shift from reactive chatbot systems to a smart, scalable, and clinically aware mental</a:t>
            </a:r>
            <a:br/>
            <a:r>
              <a:t>health ecosystem capable of supporting users effectively and bridging the gap between technology and healthcare.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1 (Slide 22): THANK YOU</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THANK YOU</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1): DEPARTMENT OF CSE</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DEPARTMENT OF CSE</a:t>
            </a:r>
          </a:p>
          <a:p>
            <a:pPr>
              <a:defRPr sz="1200">
                <a:solidFill>
                  <a:srgbClr val="1E293B"/>
                </a:solidFill>
              </a:defRPr>
            </a:pPr>
            <a:r>
              <a:t>NAAN MUDHALVAN-NIRAL THIRUVIZHA</a:t>
            </a:r>
          </a:p>
          <a:p>
            <a:pPr>
              <a:defRPr sz="1200">
                <a:solidFill>
                  <a:srgbClr val="1E293B"/>
                </a:solidFill>
              </a:defRPr>
            </a:pPr>
            <a:r>
              <a:t>UNIVERSITY  COLLEGE OF ENGINEERING</a:t>
            </a:r>
          </a:p>
          <a:p>
            <a:pPr>
              <a:defRPr sz="1200">
                <a:solidFill>
                  <a:srgbClr val="1E293B"/>
                </a:solidFill>
              </a:defRPr>
            </a:pPr>
            <a:r>
              <a:t>PRESENTED BY</a:t>
            </a:r>
          </a:p>
          <a:p>
            <a:pPr>
              <a:defRPr sz="1200">
                <a:solidFill>
                  <a:srgbClr val="1E293B"/>
                </a:solidFill>
              </a:defRPr>
            </a:pPr>
            <a:r>
              <a:t>Dr. SIVANESH., B.Tech .,M.Tech., Ph.D.,</a:t>
            </a:r>
            <a:br/>
            <a:r>
              <a:t>DEPARTMENT OF CSE</a:t>
            </a:r>
          </a:p>
          <a:p>
            <a:pPr>
              <a:defRPr sz="1200">
                <a:solidFill>
                  <a:srgbClr val="1E293B"/>
                </a:solidFill>
              </a:defRPr>
            </a:pPr>
            <a:r>
              <a:t>MAJOR AREA:Artificial Intelligence in Mental Healthcare</a:t>
            </a:r>
            <a:br/>
            <a:r>
              <a:t>   (AI-based Clinical Decision &amp; Therapeutic Support System)</a:t>
            </a:r>
          </a:p>
          <a:p>
            <a:pPr>
              <a:defRPr sz="1200">
                <a:solidFill>
                  <a:srgbClr val="1E293B"/>
                </a:solidFill>
              </a:defRPr>
            </a:pPr>
            <a:r>
              <a:t>2nd Review Date:07/05/2026</a:t>
            </a:r>
          </a:p>
          <a:p>
            <a:pPr>
              <a:defRPr sz="1200">
                <a:solidFill>
                  <a:srgbClr val="1E293B"/>
                </a:solidFill>
              </a:defRPr>
            </a:pPr>
            <a:r>
              <a:t>17. How might we utilize AI chatbots and machine learning to address the challenges of incomplete alleviation of depression symptoms, attrition, and loss of follow-up in mental health treatment</a:t>
            </a:r>
          </a:p>
          <a:p>
            <a:pPr>
              <a:defRPr sz="1200">
                <a:solidFill>
                  <a:srgbClr val="1E293B"/>
                </a:solidFill>
              </a:defRPr>
            </a:pPr>
            <a:r>
              <a:t>GUIDED BY</a:t>
            </a:r>
          </a:p>
          <a:p>
            <a:pPr>
              <a:defRPr sz="1200">
                <a:solidFill>
                  <a:srgbClr val="1E293B"/>
                </a:solidFill>
              </a:defRPr>
            </a:pPr>
            <a:r>
              <a:t>BALAJI P(422623104035)</a:t>
            </a:r>
            <a:br/>
            <a:r>
              <a:t>MADHUMATHI S(422623104003)</a:t>
            </a:r>
            <a:br/>
            <a:r>
              <a:t>MALINI V(422623104048)</a:t>
            </a:r>
          </a:p>
          <a:p>
            <a:pPr>
              <a:defRPr sz="1200">
                <a:solidFill>
                  <a:srgbClr val="1E293B"/>
                </a:solidFill>
              </a:defRPr>
            </a:pPr>
            <a:r>
              <a:t>https://meet.google.com/xrz-jdwc-ddx</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2): ABSTRACT</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ABSTRACT</a:t>
            </a:r>
          </a:p>
          <a:p>
            <a:pPr>
              <a:defRPr sz="1200">
                <a:solidFill>
                  <a:srgbClr val="1E293B"/>
                </a:solidFill>
              </a:defRPr>
            </a:pPr>
            <a:r>
              <a:t>Keffi AI is a Clinical Digital Therapeutics Platform designed to improve digital mental healthcare by overcoming</a:t>
            </a:r>
            <a:br/>
            <a:r>
              <a:t> the limitations of existing chatbots, which lack memory, personalization, and clinical safety.</a:t>
            </a:r>
            <a:br/>
            <a:br/>
            <a:r>
              <a:t>The system uses BERT-based emotion analysis to classify user input into 96 clinically relevant emotional states, </a:t>
            </a:r>
            <a:br/>
            <a:r>
              <a:t>enabling deeper understanding beyond basic sentiment detection. It also incorporates a vector-based memory system </a:t>
            </a:r>
            <a:br/>
            <a:r>
              <a:t>to retain past conversations and build a continuous psychological profile of the user.</a:t>
            </a:r>
            <a:br/>
            <a:br/>
            <a:r>
              <a:t>A dynamic Mental Health Quotient (MHQ) tracks user condition in real time, while a predictive attrition algorithm</a:t>
            </a:r>
            <a:br/>
            <a:r>
              <a:t> identifies early signs of disengagement and emotional decline. The platform integrates an automation layer (n8n) to</a:t>
            </a:r>
            <a:br/>
            <a:r>
              <a:t> trigger real-time interventions such as alerts, reminders, and crisis responses.</a:t>
            </a:r>
            <a:br/>
            <a:br/>
            <a:r>
              <a:t>Keffi AI provides both a patient interface for interaction and a clinical dashboard for monitoring, bridging the gap </a:t>
            </a:r>
            <a:br/>
            <a:r>
              <a:t>between self-help tools and professional mental healthcare.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3): PROBLEM STATEMENT</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PROBLEM STATEMENT</a:t>
            </a:r>
          </a:p>
          <a:p>
            <a:pPr>
              <a:defRPr sz="1200">
                <a:solidFill>
                  <a:srgbClr val="1E293B"/>
                </a:solidFill>
              </a:defRPr>
            </a:pPr>
            <a:r>
              <a:t>How might we utilize AI chatbots and machine learning to address the challenges of incomplete alleviation of depression symptoms, attrition, and loss of follow-up in mental health treatment.</a:t>
            </a:r>
          </a:p>
          <a:p>
            <a:pPr>
              <a:defRPr sz="1200">
                <a:solidFill>
                  <a:srgbClr val="1E293B"/>
                </a:solidFill>
              </a:defRPr>
            </a:pPr>
            <a:r>
              <a:t>Three Interconnected Challenges</a:t>
            </a:r>
          </a:p>
          <a:p>
            <a:pPr>
              <a:defRPr sz="1200">
                <a:solidFill>
                  <a:srgbClr val="1E293B"/>
                </a:solidFill>
              </a:defRPr>
            </a:pPr>
            <a:r>
              <a:t>1. Incomplete Alleviation of Depression Symptoms</a:t>
            </a:r>
            <a:br/>
            <a:r>
              <a:t>Current treatments — therapy and medication — work for many, but not completely for all. Studies show that nearly 50–60% of depression patients don't achieve full remission after a first-line treatment. This happens because:</a:t>
            </a:r>
            <a:br/>
            <a:r>
              <a:t>Treatment is often one-size-fits-all</a:t>
            </a:r>
            <a:br/>
            <a:r>
              <a:t>Symptom tracking between sessions is inconsistent or absent</a:t>
            </a:r>
            <a:br/>
            <a:r>
              <a:t>Patients suffer in silence between weekly or monthly appointments</a:t>
            </a:r>
            <a:br/>
            <a:r>
              <a:t>There's a significant gap between clinic visits where symptoms can worsen undetected</a:t>
            </a:r>
          </a:p>
          <a:p>
            <a:pPr>
              <a:defRPr sz="1200">
                <a:solidFill>
                  <a:srgbClr val="1E293B"/>
                </a:solidFill>
              </a:defRPr>
            </a:pPr>
            <a:r>
              <a:t>2. Attrition — Dropping Out of Treatment</a:t>
            </a:r>
            <a:br/>
            <a:r>
              <a:t>A large portion of patients abandon treatment prematurely, often before meaningful progress is made. Key reasons include:</a:t>
            </a:r>
            <a:br/>
            <a:r>
              <a:t>Stigma around seeking continued mental health support</a:t>
            </a:r>
            <a:br/>
            <a:r>
              <a:t>Cost and accessibility barriers — therapy is expensive and geographically limited</a:t>
            </a:r>
            <a:br/>
            <a:r>
              <a:t>Lack of motivation when progress feels slow or invisible</a:t>
            </a:r>
            <a:br/>
            <a:r>
              <a:t>Feeling disconnected from a therapist they see infrequently</a:t>
            </a:r>
          </a:p>
          <a:p>
            <a:pPr>
              <a:defRPr sz="1200">
                <a:solidFill>
                  <a:srgbClr val="1E293B"/>
                </a:solidFill>
              </a:defRPr>
            </a:pPr>
            <a:r>
              <a:t>3. Loss to Follow-Up</a:t>
            </a:r>
            <a:br/>
            <a:r>
              <a:t>Even patients who complete an initial treatment course often disappear from care entirely. This is dangerous because:</a:t>
            </a:r>
            <a:br/>
            <a:r>
              <a:t>Depression is episodic and recurring — without follow-up, relapse goes undetected</a:t>
            </a:r>
            <a:br/>
            <a:r>
              <a:t>There's no system proactively reaching out to at-risk patients</a:t>
            </a:r>
            <a:br/>
            <a:r>
              <a:t>Clinicians are overwhelmed and cannot manually track hundreds of patients</a:t>
            </a:r>
            <a:br/>
            <a:r>
              <a:t>The handoff between crisis care and long-term care is often broken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4): SOLUTION</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SOLUTION</a:t>
            </a:r>
          </a:p>
          <a:p>
            <a:pPr>
              <a:defRPr sz="1200">
                <a:solidFill>
                  <a:srgbClr val="1E293B"/>
                </a:solidFill>
              </a:defRPr>
            </a:pPr>
            <a:r>
              <a:t>Keffi AI is designed as a clinical mental health support system, not just a chatbot.</a:t>
            </a:r>
            <a:br/>
            <a:r>
              <a:t>It uses AI + psychological frameworks to understand user emotions and respond using scientifically validated therapeutic strategies.</a:t>
            </a:r>
            <a:br/>
            <a:r>
              <a:t>Instead of giving generic replies, Keffi:</a:t>
            </a:r>
            <a:br/>
            <a:r>
              <a:t>      Analyzes user emotion in real-time </a:t>
            </a:r>
            <a:br/>
            <a:r>
              <a:t>      Selects the best therapeutic response type </a:t>
            </a:r>
            <a:br/>
            <a:r>
              <a:t>      Provides personalized, safe, and structured support</a:t>
            </a:r>
          </a:p>
          <a:p>
            <a:pPr>
              <a:defRPr sz="1200">
                <a:solidFill>
                  <a:srgbClr val="1E293B"/>
                </a:solidFill>
              </a:defRPr>
            </a:pPr>
            <a:r>
              <a:t>Keffi’s 7 Therapeutic AI Response Types</a:t>
            </a:r>
          </a:p>
          <a:p>
            <a:pPr>
              <a:defRPr sz="1200">
                <a:solidFill>
                  <a:srgbClr val="1E293B"/>
                </a:solidFill>
              </a:defRPr>
            </a:pPr>
            <a:r>
              <a:t>1.Validation &amp; Empathy</a:t>
            </a:r>
            <a:br/>
            <a:r>
              <a:t>Accepts user feelings without judgment </a:t>
            </a:r>
            <a:br/>
            <a:r>
              <a:t>Builds emotional trust </a:t>
            </a:r>
            <a:br/>
            <a:r>
              <a:t>Based on: Person-Centered Therapy</a:t>
            </a:r>
            <a:br/>
            <a:r>
              <a:t>Proof: 30% therapy success depends on feeling understood</a:t>
            </a:r>
          </a:p>
          <a:p>
            <a:pPr>
              <a:defRPr sz="1200">
                <a:solidFill>
                  <a:srgbClr val="1E293B"/>
                </a:solidFill>
              </a:defRPr>
            </a:pPr>
            <a:r>
              <a:t>2.Metaphor &amp; Storytelling</a:t>
            </a:r>
            <a:br/>
            <a:r>
              <a:t>Uses simple stories or analogies </a:t>
            </a:r>
            <a:br/>
            <a:r>
              <a:t>Helps users process emotions gently </a:t>
            </a:r>
            <a:br/>
            <a:r>
              <a:t>Based on: Acceptance &amp; Commitment Therapy (ACT)</a:t>
            </a:r>
            <a:br/>
            <a:r>
              <a:t>Proof: Helps in cognitive defusion (reduces overthinking)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5): 3.Grounding &amp; Somatic Techniques Breathing exercises (4-7-8)...</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3.Grounding &amp; Somatic Techniques</a:t>
            </a:r>
            <a:br/>
            <a:r>
              <a:t>Breathing exercises (4-7-8) </a:t>
            </a:r>
            <a:br/>
            <a:r>
              <a:t>Brings user to present moment </a:t>
            </a:r>
            <a:br/>
            <a:r>
              <a:t>Based on: Polyvagal Theory &amp; MBSR</a:t>
            </a:r>
            <a:br/>
            <a:r>
              <a:t>Proof: Reduces panic by 45–50%</a:t>
            </a:r>
          </a:p>
          <a:p>
            <a:pPr>
              <a:defRPr sz="1200">
                <a:solidFill>
                  <a:srgbClr val="1E293B"/>
                </a:solidFill>
              </a:defRPr>
            </a:pPr>
            <a:r>
              <a:t>4.Cognitive Reframing (CBT)</a:t>
            </a:r>
            <a:br/>
            <a:r>
              <a:t>Changes negative thinking patterns </a:t>
            </a:r>
            <a:br/>
            <a:r>
              <a:t>Builds positive mindset </a:t>
            </a:r>
            <a:br/>
            <a:r>
              <a:t>Based on: Cognitive Behavioral Therapy (CBT)</a:t>
            </a:r>
            <a:br/>
            <a:r>
              <a:t>Proof: 50–75% reduction in depression &amp; anxiety (WHO approved)</a:t>
            </a:r>
          </a:p>
          <a:p>
            <a:pPr>
              <a:defRPr sz="1200">
                <a:solidFill>
                  <a:srgbClr val="1E293B"/>
                </a:solidFill>
              </a:defRPr>
            </a:pPr>
            <a:r>
              <a:t>5.Reflective Questioning</a:t>
            </a:r>
            <a:br/>
            <a:r>
              <a:t>Asks open-ended questions </a:t>
            </a:r>
            <a:br/>
            <a:r>
              <a:t>Helps users understand themselves </a:t>
            </a:r>
            <a:br/>
            <a:r>
              <a:t>Based on: Motivational Interviewing</a:t>
            </a:r>
            <a:br/>
            <a:r>
              <a:t>Proof: Improves self-awareness &amp; behavior change</a:t>
            </a:r>
          </a:p>
          <a:p>
            <a:pPr>
              <a:defRPr sz="1200">
                <a:solidFill>
                  <a:srgbClr val="1E293B"/>
                </a:solidFill>
              </a:defRPr>
            </a:pPr>
            <a:r>
              <a:t>6.Guided Options (Quick Replies)</a:t>
            </a:r>
            <a:br/>
            <a:r>
              <a:t>Provides A/B/C choices </a:t>
            </a:r>
            <a:br/>
            <a:r>
              <a:t>Reduces mental effort </a:t>
            </a:r>
            <a:br/>
            <a:r>
              <a:t>Based on: Cognitive Load Theory</a:t>
            </a:r>
            <a:br/>
            <a:r>
              <a:t>Proof: Reduces decision fatigue &amp; user dropout</a:t>
            </a:r>
          </a:p>
          <a:p>
            <a:pPr>
              <a:defRPr sz="1200">
                <a:solidFill>
                  <a:srgbClr val="1E293B"/>
                </a:solidFill>
              </a:defRPr>
            </a:pPr>
            <a:r>
              <a:t>7.Crisis Intervention (SOS)</a:t>
            </a:r>
            <a:br/>
            <a:r>
              <a:t>Detects suicidal or high-risk signals </a:t>
            </a:r>
            <a:br/>
            <a:r>
              <a:t>Triggers emergency support </a:t>
            </a:r>
            <a:br/>
            <a:r>
              <a:t>Based on: WHO Suicide Prevention Protocols</a:t>
            </a:r>
            <a:br/>
            <a:r>
              <a:t>Proof: Ensures clinical safety &amp; ethical compliance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6): EXISTING SYSTEM  1.Rule-Based Chatbots(Examples: Woebot, Wys...</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EXISTING SYSTEM</a:t>
            </a:r>
            <a:br/>
            <a:br/>
            <a:r>
              <a:t>1.Rule-Based Chatbots(Examples: Woebot, Wysa)</a:t>
            </a:r>
            <a:br/>
            <a:r>
              <a:t>Rule-based chatbots like Woebot and Wysa operate on simple keyword matching. When a user types a message, the bot identifies a keyword and returns a pre-written response — the same answer every time, regardless of context or emotional depth. There is no real AI understanding behind the conversation. After just 2 to 3 sessions, patients begin to feel the robotic nature of the interaction. These systems have zero clinical diagnosis ability, carry no memory between sessions, and involve no doctor at any point in the process.</a:t>
            </a:r>
            <a:br/>
            <a:r>
              <a:t>2.LLM Wrappers(Examples: ChatGPT-based Mental Health Bots)</a:t>
            </a:r>
            <a:br/>
            <a:r>
              <a:t>LLM-based mental health bots are essentially ChatGPT with a mental health prompt layered on top. The user's message — including all personal details — is sent directly to OpenAI's servers with no anonymization or privacy filtering. These systems have no emotion classification, no PHQ or MHQ scoring, and no follow-up mechanism. Because they are generative models, they carry a high hallucination risk — meaning they can confidently produce incorrect or even harmful clinical advice. They are not HIPAA compliant and have no awareness of the patient's history or mental health trajectory.</a:t>
            </a:r>
            <a:br/>
            <a:r>
              <a:t>3.Traditional Therapy Apps(Examples: BetterHelp, Talkspace)</a:t>
            </a:r>
            <a:br/>
            <a:r>
              <a:t>Traditional therapy platforms like BetterHelp and Talkspace connect patients with licensed human therapists. While this provides genuine clinical value, it comes with serious limitations in scalability and accessibility. Sessions cost between $60 to $100 per hour, require patients to wait days or even weeks for an appointment, and offer no real-time monitoring between sessions. There is no crisis detection between appointments, no automated intervention if a patient stops engaging, and no 24/7 availability. For patients in rural India — where language barriers and cultural stigma already limit access — these platforms are practically out of reach.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7): RESEARCH AND SCIENTIFIC VALIDATION</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RESEARCH AND SCIENTIFIC VALIDATION</a:t>
            </a:r>
          </a:p>
          <a:p>
            <a:pPr>
              <a:defRPr sz="1200">
                <a:solidFill>
                  <a:srgbClr val="1E293B"/>
                </a:solidFill>
              </a:defRPr>
            </a:pPr>
            <a:r>
              <a:t>CBT Effectiveness (Cognitive Reframing)</a:t>
            </a:r>
            <a:br/>
            <a:r>
              <a:t>Paper:</a:t>
            </a:r>
            <a:br/>
            <a:r>
              <a:t>Hofmann, S. G., Asnaani, A., Vonk, I. J. J., Sawyer, A. T., &amp; Fang, A. (2012). The Efficacy of Cognitive Behavioral Therapy: A Review of Meta-analyses. Cognitive Therapy and Research, 36(5), 427–440.</a:t>
            </a:r>
            <a:br/>
            <a:br/>
            <a:r>
              <a:t>CBT is WHO &amp; APA's gold standard — proven 50–75% success rate in reducing depression and anxiety symptoms across multiple meta-analyses.</a:t>
            </a:r>
          </a:p>
          <a:p>
            <a:pPr>
              <a:defRPr sz="1200">
                <a:solidFill>
                  <a:srgbClr val="1E293B"/>
                </a:solidFill>
              </a:defRPr>
            </a:pPr>
            <a:r>
              <a:t>Empathy &amp; Therapeutic Alliance (Person-Centered)</a:t>
            </a:r>
            <a:br/>
            <a:r>
              <a:t>Paper:</a:t>
            </a:r>
            <a:br/>
            <a:r>
              <a:t>Norcross, J. C., &amp; Wampold, B. E. (2011). Evidence-based therapy relationships: Research conclusions and clinical practices. Psychotherapy, 48(1), 98–102.</a:t>
            </a:r>
            <a:br/>
            <a:br/>
            <a:r>
              <a:t>Therapeutic alliance alone — the feeling of being heard — accounts for 30% of treatment success, independent of medication or technique.</a:t>
            </a:r>
          </a:p>
          <a:p>
            <a:pPr>
              <a:defRPr sz="1200">
                <a:solidFill>
                  <a:srgbClr val="1E293B"/>
                </a:solidFill>
              </a:defRPr>
            </a:pPr>
            <a:r>
              <a:t>ACT &amp; Mindfulness (Grounding &amp; Metaphors)</a:t>
            </a:r>
            <a:br/>
            <a:r>
              <a:t>Paper:</a:t>
            </a:r>
            <a:br/>
            <a:r>
              <a:t>Hayes, S. C., Luoma, J. B., Bond, F. W., Masuda, A., &amp; Lillis, J. (2006). Acceptance and Commitment Therapy: Model, processes and outcomes. Behaviour Research and Therapy, 44(1), 1–25.</a:t>
            </a:r>
            <a:br/>
            <a:br/>
            <a:r>
              <a:t>NHS-recommended ACT &amp; mindfulness techniques reduce panic attacks and extreme anxiety by 45–50% through grounding and breathing exercises.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8): AI Chatbot Proof — The Woebot Study (YOUR STRONGEST CARD) Pa...</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AI Chatbot Proof — The Woebot Study (YOUR STRONGEST CARD)</a:t>
            </a:r>
            <a:br/>
            <a:r>
              <a:t>Paper:</a:t>
            </a:r>
            <a:br/>
            <a:r>
              <a:t>Fitzpatrick, K. K., Darcy, A., &amp; Vierhile, M. (2017). Delivering Cognitive Behavior Therapy to Young Adults With Symptoms of Depression and Anxiety Using a Fully Automated Conversational Agent (Woebot): A Randomized Controlled Trial. JMIR Mental Health, 4(2), e19.</a:t>
            </a:r>
            <a:br/>
            <a:br/>
            <a:r>
              <a:t>In just 2 weeks, an AI chatbot using CBT &amp; empathy reduced depression symptoms by 22% — scientifically validated via randomized controlled trial at Stanford University.</a:t>
            </a:r>
          </a:p>
          <a:p>
            <a:pPr>
              <a:defRPr sz="1200">
                <a:solidFill>
                  <a:srgbClr val="1E293B"/>
                </a:solidFill>
              </a:defRPr>
            </a:pPr>
            <a:r>
              <a:t>Crisis Intervention &amp; SOS Protocol</a:t>
            </a:r>
            <a:br/>
            <a:r>
              <a:t>Reference Tool:</a:t>
            </a:r>
            <a:br/>
            <a:r>
              <a:t>Posner, K., et al. (2011). The Columbia–Suicide Severity Rating Scale: Initial Validity and Internal Consistency Findings From Three Multisite Studies With Adolescents and Adults. American Journal of Psychiatry, 168(12), 1266–1277.</a:t>
            </a:r>
            <a:br/>
            <a:br/>
            <a:r>
              <a:t>Keffi's SOS system follows WHO Suicide Prevention Guidelines and the clinically validated C-SSRS triage protocol — ensuring safe human escalation when AI detects crisis signals.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9): 96-STATE CLINICAL EMOTION MODEL</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96-STATE CLINICAL EMOTION MODEL</a:t>
            </a:r>
          </a:p>
          <a:p>
            <a:pPr>
              <a:defRPr sz="1200">
                <a:solidFill>
                  <a:srgbClr val="1E293B"/>
                </a:solidFill>
              </a:defRPr>
            </a:pPr>
            <a:r>
              <a:t>DEPRESSION (41 TYPES)</a:t>
            </a:r>
            <a:br/>
            <a:r>
              <a:t>MDD – 2+ weeks severe sadness</a:t>
            </a:r>
            <a:br/>
            <a:r>
              <a:t>PDD – Chronic mild depression 2+ yrs</a:t>
            </a:r>
            <a:br/>
            <a:r>
              <a:t>Bipolar – High vs low mood swings</a:t>
            </a:r>
            <a:br/>
            <a:r>
              <a:t>Postpartum – After childbirth depression</a:t>
            </a:r>
            <a:br/>
            <a:r>
              <a:t>SAD – Seasonal depression</a:t>
            </a:r>
            <a:br/>
            <a:r>
              <a:t>Psychotic – With hallucinations</a:t>
            </a:r>
            <a:br/>
            <a:r>
              <a:t>PMDD – Before periods mood issues</a:t>
            </a:r>
            <a:br/>
            <a:r>
              <a:t>Atypical – Temporary mood lift + oversleep</a:t>
            </a:r>
            <a:br/>
            <a:r>
              <a:t>DMDD – Child anger disorder</a:t>
            </a:r>
            <a:br/>
            <a:r>
              <a:t>TRD – Not responding to treatment</a:t>
            </a:r>
            <a:br/>
            <a:r>
              <a:t>Substance-induced – Due to drugs/alcohol</a:t>
            </a:r>
            <a:br/>
            <a:r>
              <a:t>Medical-condition – Due to illness</a:t>
            </a:r>
            <a:br/>
            <a:r>
              <a:t>Smiling – Hidden depression</a:t>
            </a:r>
            <a:br/>
            <a:r>
              <a:t>Melancholic – No pleasure at all</a:t>
            </a:r>
            <a:br/>
            <a:r>
              <a:t>Agitated – Restless + overthinking</a:t>
            </a:r>
            <a:br/>
            <a:r>
              <a:t>Double – Mild + severe combo</a:t>
            </a:r>
            <a:br/>
            <a:r>
              <a:t>Minor – Less severe MDD</a:t>
            </a:r>
            <a:br/>
            <a:r>
              <a:t>Catatonic – No movement state</a:t>
            </a:r>
          </a:p>
          <a:p>
            <a:pPr>
              <a:defRPr sz="1200">
                <a:solidFill>
                  <a:srgbClr val="1E293B"/>
                </a:solidFill>
              </a:defRPr>
            </a:pPr>
            <a:r>
              <a:t>Endogenous – Internal chemical cause</a:t>
            </a:r>
            <a:br/>
            <a:r>
              <a:t>Reactive – Due to life event</a:t>
            </a:r>
            <a:br/>
            <a:r>
              <a:t>Existential – Meaning-of-life sadness</a:t>
            </a:r>
            <a:br/>
            <a:r>
              <a:t>Masked – Physical pain instead</a:t>
            </a:r>
            <a:br/>
            <a:r>
              <a:t>Geriatric – Elderly depression</a:t>
            </a:r>
            <a:br/>
            <a:r>
              <a:t>Recurrent Brief – Short repeated episodes</a:t>
            </a:r>
            <a:br/>
            <a:r>
              <a:t>Unipolar – Only low mood</a:t>
            </a:r>
            <a:br/>
            <a:r>
              <a:t>Vascular – Blood flow issue</a:t>
            </a:r>
            <a:br/>
            <a:r>
              <a:t>Cyclothymia – Mild bipolar</a:t>
            </a:r>
            <a:br/>
            <a:r>
              <a:t>Mixed Anxiety – Anxiety + depression</a:t>
            </a:r>
            <a:br/>
            <a:r>
              <a:t>Perimenopausal – Menopause-related</a:t>
            </a:r>
            <a:br/>
            <a:r>
              <a:t>Post-Schizo – After schizophrenia</a:t>
            </a:r>
            <a:br/>
            <a:r>
              <a:t>Adjustment – Life change stress</a:t>
            </a:r>
            <a:br/>
            <a:r>
              <a:t>Antenatal – During pregnancy</a:t>
            </a:r>
            <a:br/>
            <a:r>
              <a:t>Prolonged Grief – Long-term grief</a:t>
            </a:r>
            <a:br/>
            <a:r>
              <a:t>Male Syndrome – Anger/risk behavior</a:t>
            </a:r>
            <a:br/>
            <a:r>
              <a:t>Burnout – Work stress exhaustion</a:t>
            </a:r>
            <a:br/>
            <a:r>
              <a:t>Anergic – No energy state</a:t>
            </a:r>
            <a:br/>
            <a:r>
              <a:t>D-MER – Breastfeeding sadness</a:t>
            </a:r>
            <a:br/>
            <a:r>
              <a:t>PCD – After intimacy sadness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10): ALLEVATION (18 STATES) Partial Response – Only partial recov...</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ALLEVATION (18 STATES)</a:t>
            </a:r>
            <a:br/>
            <a:r>
              <a:t>Partial Response – Only partial recovery</a:t>
            </a:r>
            <a:br/>
            <a:r>
              <a:t>Residual Symptoms – Some symptoms remain</a:t>
            </a:r>
            <a:br/>
            <a:r>
              <a:t>Tachyphylaxis – Drug stops working</a:t>
            </a:r>
            <a:br/>
            <a:r>
              <a:t>Breakthrough – Depression returns</a:t>
            </a:r>
            <a:br/>
            <a:r>
              <a:t>TRD – No response to treatment</a:t>
            </a:r>
            <a:br/>
            <a:r>
              <a:t>Full Remission – Complete recovery</a:t>
            </a:r>
            <a:br/>
            <a:r>
              <a:t>Sustained Recovery – Stable long-term</a:t>
            </a:r>
            <a:br/>
            <a:r>
              <a:t>Spontaneous – Auto recovery</a:t>
            </a:r>
            <a:br/>
            <a:r>
              <a:t>Placebo – Belief improves state</a:t>
            </a:r>
            <a:br/>
            <a:r>
              <a:t>Nocebo – Negative belief worsens</a:t>
            </a:r>
            <a:br/>
            <a:r>
              <a:t>Honeymoon – Short-term improvement</a:t>
            </a:r>
            <a:br/>
            <a:r>
              <a:t>Relapse – Return before recovery</a:t>
            </a:r>
            <a:br/>
            <a:r>
              <a:t>Recurrence – New episode later</a:t>
            </a:r>
            <a:br/>
            <a:r>
              <a:t>Pseudo-resistance – Improper treatment issue</a:t>
            </a:r>
            <a:br/>
            <a:r>
              <a:t>Emotional Blunting – No emotions</a:t>
            </a:r>
            <a:br/>
            <a:r>
              <a:t>TEAS – Switch to mania</a:t>
            </a:r>
            <a:br/>
            <a:r>
              <a:t>Withdrawal – Stopping drug effects</a:t>
            </a:r>
          </a:p>
          <a:p>
            <a:pPr>
              <a:defRPr sz="1200">
                <a:solidFill>
                  <a:srgbClr val="1E293B"/>
                </a:solidFill>
              </a:defRPr>
            </a:pPr>
            <a:r>
              <a:t>ATTRITION (20 TYPES)</a:t>
            </a:r>
            <a:br/>
            <a:r>
              <a:t>Voluntary – Leave by choice</a:t>
            </a:r>
            <a:br/>
            <a:r>
              <a:t>Involuntary – Forced removal</a:t>
            </a:r>
            <a:br/>
            <a:r>
              <a:t>Internal – Shift within org</a:t>
            </a:r>
            <a:br/>
            <a:r>
              <a:t>Demographic – Retirement/death</a:t>
            </a:r>
            <a:br/>
            <a:r>
              <a:t>Regrettable – Loss of top talent</a:t>
            </a:r>
            <a:br/>
            <a:r>
              <a:t>Non-regrettable – Low performer leaves</a:t>
            </a:r>
            <a:br/>
            <a:r>
              <a:t>New-hire – Early exit</a:t>
            </a:r>
            <a:br/>
            <a:r>
              <a:t>Veteran – Long-term exit</a:t>
            </a:r>
            <a:br/>
            <a:r>
              <a:t>Customer churn – Service leaving</a:t>
            </a:r>
            <a:br/>
            <a:r>
              <a:t>Student dropout – Education quit</a:t>
            </a:r>
            <a:br/>
            <a:r>
              <a:t>Mechanical – Wear &amp; tear</a:t>
            </a:r>
            <a:br/>
            <a:r>
              <a:t>Dental – Teeth wear</a:t>
            </a:r>
            <a:br/>
            <a:r>
              <a:t>Geological – Rock erosion</a:t>
            </a:r>
            <a:br/>
            <a:r>
              <a:t>War attrition – Loss in war</a:t>
            </a:r>
            <a:br/>
            <a:r>
              <a:t>Clinical trial – Patient dropout</a:t>
            </a:r>
            <a:br/>
            <a:r>
              <a:t>Therapeutic – Stop treatment</a:t>
            </a:r>
            <a:br/>
            <a:r>
              <a:t>Data loss – Packet loss</a:t>
            </a:r>
          </a:p>
          <a:p>
            <a:pPr>
              <a:defRPr sz="1200">
                <a:solidFill>
                  <a:srgbClr val="1E293B"/>
                </a:solidFill>
              </a:defRPr>
            </a:pPr>
            <a:r>
              <a:t>LOSS OF FOLLOW-UP (17 TYPES)</a:t>
            </a:r>
            <a:br/>
            <a:r>
              <a:t>Voluntary Withdrawal – Stops by choice</a:t>
            </a:r>
            <a:br/>
            <a:r>
              <a:t>Non-compliance – Avoids treatment</a:t>
            </a:r>
            <a:br/>
            <a:r>
              <a:t>Cured perception – Thinks cured</a:t>
            </a:r>
            <a:br/>
            <a:r>
              <a:t>Unintentional – Missed visits</a:t>
            </a:r>
            <a:br/>
            <a:r>
              <a:t>Silent loss – No contact</a:t>
            </a:r>
            <a:br/>
            <a:r>
              <a:t>Passive dropout – Ignores follow-up</a:t>
            </a:r>
            <a:br/>
            <a:r>
              <a:t>Active dropout – Informs and leaves</a:t>
            </a:r>
            <a:br/>
            <a:r>
              <a:t>Death – Patient expired</a:t>
            </a:r>
            <a:br/>
            <a:r>
              <a:t>Morbidity – Too ill to come</a:t>
            </a:r>
            <a:br/>
            <a:r>
              <a:t>Geographic – Moved away</a:t>
            </a:r>
            <a:br/>
            <a:r>
              <a:t>Economic – Cannot afford</a:t>
            </a:r>
            <a:br/>
            <a:r>
              <a:t>Stigma – Social fear</a:t>
            </a:r>
            <a:br/>
            <a:r>
              <a:t>Admin loss – System error</a:t>
            </a:r>
            <a:br/>
            <a:r>
              <a:t>Provider relocation – Doctor changed</a:t>
            </a:r>
            <a:br/>
            <a:r>
              <a:t>Protocol burden – Too complex</a:t>
            </a:r>
            <a:br/>
            <a:r>
              <a:t>Intermittent – Returns later</a:t>
            </a:r>
            <a:br/>
            <a:r>
              <a:t>Permanent – Never returns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11): LITERATURE SURVEY</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LITERATURE SURVEY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12): PHQ + MHQ HYBRID SCORING SYSTEM</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PHQ + MHQ HYBRID SCORING SYSTEM</a:t>
            </a:r>
          </a:p>
          <a:p>
            <a:pPr>
              <a:defRPr sz="1200">
                <a:solidFill>
                  <a:srgbClr val="1E293B"/>
                </a:solidFill>
              </a:defRPr>
            </a:pPr>
            <a:r>
              <a:t>PHQ (Patient Health Questionnaire)</a:t>
            </a:r>
            <a:br/>
            <a:br/>
            <a:r>
              <a:t>Standard clinical assessment tool </a:t>
            </a:r>
            <a:br/>
            <a:r>
              <a:t>Score Range: 0 – 27 </a:t>
            </a:r>
            <a:br/>
            <a:br/>
            <a:r>
              <a:t>Severity Levels:</a:t>
            </a:r>
            <a:br/>
            <a:br/>
            <a:r>
              <a:t>0 – 4 → Minimal (0–15%) </a:t>
            </a:r>
            <a:br/>
            <a:r>
              <a:t>5 – 9 → Mild (16–33%) </a:t>
            </a:r>
            <a:br/>
            <a:r>
              <a:t>10 – 14 → Moderate (34–52%) </a:t>
            </a:r>
            <a:br/>
            <a:r>
              <a:t>15 – 19 → Moderately Severe (53–70%) </a:t>
            </a:r>
            <a:br/>
            <a:r>
              <a:t>20 – 27 → Severe (71–100%)</a:t>
            </a:r>
          </a:p>
          <a:p>
            <a:pPr>
              <a:defRPr sz="1200">
                <a:solidFill>
                  <a:srgbClr val="1E293B"/>
                </a:solidFill>
              </a:defRPr>
            </a:pPr>
            <a:r>
              <a:t>MHQ (Mental Health Quotient – Keffi AI)</a:t>
            </a:r>
            <a:br/>
            <a:br/>
            <a:r>
              <a:t>AI-based dynamic scoring system </a:t>
            </a:r>
            <a:br/>
            <a:r>
              <a:t>Score Range: 0 – 100</a:t>
            </a:r>
            <a:br/>
            <a:r>
              <a:t> </a:t>
            </a:r>
            <a:br/>
            <a:r>
              <a:t>State Levels:</a:t>
            </a:r>
            <a:br/>
            <a:br/>
            <a:r>
              <a:t>80 – 100 → Healthy / Thriving </a:t>
            </a:r>
            <a:br/>
            <a:r>
              <a:t>60 – 79 → Stable </a:t>
            </a:r>
            <a:br/>
            <a:r>
              <a:t>40 – 59 → Mild Risk </a:t>
            </a:r>
            <a:br/>
            <a:r>
              <a:t>20 – 39 → Moderate Risk </a:t>
            </a:r>
            <a:br/>
            <a:r>
              <a:t>0 – 19 → Critical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13): The Clinical Brain — BERT + Fast API</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The Clinical Brain — BERT + Fast API</a:t>
            </a:r>
          </a:p>
          <a:p>
            <a:pPr>
              <a:defRPr sz="1200">
                <a:solidFill>
                  <a:srgbClr val="1E293B"/>
                </a:solidFill>
              </a:defRPr>
            </a:pPr>
            <a:r>
              <a:t>BERT = Bidirectional Encoder Representations from Transformers</a:t>
            </a:r>
            <a:br/>
            <a:r>
              <a:t>It reads patient text both left-to-right AND right-to-left simultaneously</a:t>
            </a:r>
            <a:br/>
            <a:r>
              <a:t>This means it understands context, not just keywords</a:t>
            </a:r>
            <a:br/>
            <a:br/>
            <a:r>
              <a:t>                          Patient Message</a:t>
            </a:r>
            <a:br/>
            <a:r>
              <a:t>                                  ↓</a:t>
            </a:r>
            <a:br/>
            <a:r>
              <a:t>                        ① REACT UI        →  Voice/Text captured via Web Speech API</a:t>
            </a:r>
            <a:br/>
            <a:r>
              <a:t>                                  ↓</a:t>
            </a:r>
            <a:br/>
            <a:r>
              <a:t>                        ② FASTAPI GATE    →  PII Stripped (Name/Phone/Location removed)</a:t>
            </a:r>
            <a:br/>
            <a:r>
              <a:t>                                  ↓</a:t>
            </a:r>
            <a:br/>
            <a:r>
              <a:t>                        ③ BERT ENGINE     →  96-State Emotion Analysis + Confidence %</a:t>
            </a:r>
            <a:br/>
            <a:r>
              <a:t>                                  ↓</a:t>
            </a:r>
            <a:br/>
            <a:r>
              <a:t>                        ④ PINECONE MEMORY →  Past memories matched by similarity score</a:t>
            </a:r>
            <a:br/>
            <a:r>
              <a:t>                                  ↓</a:t>
            </a:r>
            <a:br/>
            <a:r>
              <a:t>                        ⑤ MHQ CALCULATOR  →  Live score updated (0–100 dynamic)</a:t>
            </a:r>
            <a:br/>
            <a:r>
              <a:t>                                   ↓</a:t>
            </a:r>
            <a:br/>
            <a:r>
              <a:t>                        ⑥ DUAL RESPONSE   →  Backend: Doctor Report | Frontend: Empathy Chat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14): BERT Output Example: Patient says:            "I've been fee...</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BERT Output Example:</a:t>
            </a:r>
            <a:br/>
            <a:r>
              <a:t>Patient says:</a:t>
            </a:r>
            <a:br/>
            <a:r>
              <a:t>           "I've been feeling tired, nothing excites me anymore...“</a:t>
            </a:r>
            <a:br/>
            <a:r>
              <a:t>BERT detects:</a:t>
            </a:r>
            <a:br/>
            <a:r>
              <a:t>          Sadness               → 84.3%</a:t>
            </a:r>
            <a:br/>
            <a:r>
              <a:t>          Hopelessness      → 71.2%</a:t>
            </a:r>
            <a:br/>
            <a:r>
              <a:t>          Anhedonia          → 68.9%</a:t>
            </a:r>
            <a:br/>
            <a:r>
              <a:t>          Exhaustion         → 61.4%</a:t>
            </a:r>
            <a:br/>
            <a:r>
              <a:t>          Joy                      → 2.1%</a:t>
            </a:r>
            <a:br/>
            <a:br/>
            <a:r>
              <a:t>BERT measures. FastAPI protects. Pinecone remembers. Claude speaks. — All in under 2 seconds.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15): System Architecture — Layered AI Infrastructure</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System Architecture — Layered AI Infrastructure</a:t>
            </a:r>
          </a:p>
          <a:p>
            <a:pPr>
              <a:defRPr sz="1200">
                <a:solidFill>
                  <a:srgbClr val="1E293B"/>
                </a:solidFill>
              </a:defRPr>
            </a:pPr>
            <a:r>
              <a:t>User Interface Layer (Frontend)</a:t>
            </a:r>
            <a:br/>
            <a:r>
              <a:t>Built using React + Tailwind CSS </a:t>
            </a:r>
            <a:br/>
            <a:r>
              <a:t>Provides: </a:t>
            </a:r>
            <a:br/>
            <a:r>
              <a:t>Patient Sanctuary (chat, mood tracking, tools) </a:t>
            </a:r>
            <a:br/>
            <a:r>
              <a:t>Admin Dashboard (doctor monitoring) </a:t>
            </a:r>
            <a:br/>
            <a:r>
              <a:t>Handles: </a:t>
            </a:r>
            <a:br/>
            <a:r>
              <a:t>User input (text / voice) </a:t>
            </a:r>
            <a:br/>
            <a:r>
              <a:t>Mood check-ins &amp; interaction</a:t>
            </a:r>
          </a:p>
          <a:p>
            <a:pPr>
              <a:defRPr sz="1200">
                <a:solidFill>
                  <a:srgbClr val="1E293B"/>
                </a:solidFill>
              </a:defRPr>
            </a:pPr>
            <a:r>
              <a:t>The Brain (Backend – FastAPI + Python)</a:t>
            </a:r>
            <a:br/>
            <a:r>
              <a:t>Core processing engine of the system </a:t>
            </a:r>
            <a:br/>
            <a:r>
              <a:t>Handles: </a:t>
            </a:r>
            <a:br/>
            <a:r>
              <a:t>User &amp; session management </a:t>
            </a:r>
            <a:br/>
            <a:r>
              <a:t>AI logic routing </a:t>
            </a:r>
            <a:br/>
            <a:r>
              <a:t>Risk assessment &amp; alerts </a:t>
            </a:r>
            <a:br/>
            <a:r>
              <a:t>Clinical safety checks </a:t>
            </a:r>
            <a:br/>
            <a:r>
              <a:t>Uses: </a:t>
            </a:r>
            <a:br/>
            <a:r>
              <a:t>REST APIs, WebSockets, Webhooks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 SLIDE 16</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17): Memory &amp; NLP Core BERT Model  Performs 96-state emotion clas...</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Memory &amp; NLP Core</a:t>
            </a:r>
            <a:br/>
            <a:r>
              <a:t>BERT Model </a:t>
            </a:r>
            <a:br/>
            <a:r>
              <a:t>Performs 96-state emotion classification </a:t>
            </a:r>
            <a:br/>
            <a:r>
              <a:t>Extracts sentiment + confidence score </a:t>
            </a:r>
            <a:br/>
            <a:r>
              <a:t>Vector Database (Pinecone) </a:t>
            </a:r>
            <a:br/>
            <a:r>
              <a:t>Stores conversation embeddings </a:t>
            </a:r>
            <a:br/>
            <a:r>
              <a:t>Enables long-term memory recall</a:t>
            </a:r>
          </a:p>
          <a:p>
            <a:pPr>
              <a:defRPr sz="1200">
                <a:solidFill>
                  <a:srgbClr val="1E293B"/>
                </a:solidFill>
              </a:defRPr>
            </a:pPr>
            <a:r>
              <a:t>Automation Router (n8n)</a:t>
            </a:r>
            <a:br/>
            <a:r>
              <a:t>Webhook-driven automation engine </a:t>
            </a:r>
            <a:br/>
            <a:r>
              <a:t>Components: </a:t>
            </a:r>
            <a:br/>
            <a:r>
              <a:t>Trigger (incoming event) </a:t>
            </a:r>
            <a:br/>
            <a:r>
              <a:t>Condition check (risk level) </a:t>
            </a:r>
            <a:br/>
            <a:r>
              <a:t>Action router (decision flow) </a:t>
            </a:r>
            <a:br/>
            <a:r>
              <a:t>Logging &amp; monitoring </a:t>
            </a:r>
            <a:br/>
            <a:r>
              <a:t>Handles: </a:t>
            </a:r>
            <a:br/>
            <a:r>
              <a:t>WhatsApp nudges </a:t>
            </a:r>
            <a:br/>
            <a:r>
              <a:t>Crisis alerts </a:t>
            </a:r>
            <a:br/>
            <a:r>
              <a:t>Doctor notifications</a:t>
            </a:r>
          </a:p>
          <a:p>
            <a:pPr>
              <a:defRPr sz="1200">
                <a:solidFill>
                  <a:srgbClr val="1E293B"/>
                </a:solidFill>
              </a:defRPr>
            </a:pPr>
            <a:r>
              <a:t>External Services &amp; Integrations</a:t>
            </a:r>
            <a:br/>
            <a:r>
              <a:t>WhatsApp → User engagement &amp; nudges </a:t>
            </a:r>
            <a:br/>
            <a:r>
              <a:t>Email → Doctor alerts </a:t>
            </a:r>
            <a:br/>
            <a:r>
              <a:t>Calendar → Reminders &amp; scheduling</a:t>
            </a:r>
          </a:p>
          <a:p>
            <a:pPr>
              <a:defRPr sz="1200">
                <a:solidFill>
                  <a:srgbClr val="1E293B"/>
                </a:solidFill>
              </a:defRPr>
            </a:pPr>
            <a:r>
              <a:t>Database Layer</a:t>
            </a:r>
            <a:br/>
            <a:r>
              <a:t>PostgreSQL → User &amp; clinical data </a:t>
            </a:r>
            <a:br/>
            <a:r>
              <a:t>Redis → Real-time caching </a:t>
            </a:r>
            <a:br/>
            <a:r>
              <a:t>Pinecone → Vector memory </a:t>
            </a:r>
            <a:br/>
            <a:r>
              <a:t>Secure Storage → Logs &amp; reports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18): MODULE DESCRIPTION</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MODULE DESCRIPTION</a:t>
            </a:r>
          </a:p>
          <a:p>
            <a:pPr>
              <a:defRPr sz="1200">
                <a:solidFill>
                  <a:srgbClr val="1E293B"/>
                </a:solidFill>
              </a:defRPr>
            </a:pPr>
            <a:r>
              <a:t>1. User Experience Layer</a:t>
            </a:r>
            <a:br/>
            <a:r>
              <a:t>Provides interaction through Web / Mobile / Voice interface </a:t>
            </a:r>
            <a:br/>
            <a:r>
              <a:t>Includes: </a:t>
            </a:r>
            <a:br/>
            <a:r>
              <a:t>Chat interface for user communication </a:t>
            </a:r>
            <a:br/>
            <a:r>
              <a:t>Mood check-in system </a:t>
            </a:r>
            <a:br/>
            <a:r>
              <a:t>Dashboard to track mental health progress </a:t>
            </a:r>
            <a:br/>
            <a:r>
              <a:t>Ensures easy, user-friendly and accessible design</a:t>
            </a:r>
          </a:p>
          <a:p>
            <a:pPr>
              <a:defRPr sz="1200">
                <a:solidFill>
                  <a:srgbClr val="1E293B"/>
                </a:solidFill>
              </a:defRPr>
            </a:pPr>
            <a:r>
              <a:t>2. Emotion Understanding Module</a:t>
            </a:r>
            <a:br/>
            <a:r>
              <a:t>Uses BERT-based NLP model for emotion detection </a:t>
            </a:r>
            <a:br/>
            <a:r>
              <a:t>Processes: </a:t>
            </a:r>
            <a:br/>
            <a:r>
              <a:t>User text / voice input </a:t>
            </a:r>
            <a:br/>
            <a:r>
              <a:t>Converts into embeddings </a:t>
            </a:r>
            <a:br/>
            <a:r>
              <a:t>Classifies into multi-emotion states (fine-grained emotions) </a:t>
            </a:r>
            <a:br/>
            <a:r>
              <a:t>Helps in identifying user’s emotional condition accurately</a:t>
            </a:r>
          </a:p>
          <a:p>
            <a:pPr>
              <a:defRPr sz="1200">
                <a:solidFill>
                  <a:srgbClr val="1E293B"/>
                </a:solidFill>
              </a:defRPr>
            </a:pPr>
            <a:r>
              <a:t>3. Therapy &amp; Response Engine</a:t>
            </a:r>
            <a:br/>
            <a:r>
              <a:t>Generates context-aware responses </a:t>
            </a:r>
            <a:br/>
            <a:r>
              <a:t>Supports multiple techniques: </a:t>
            </a:r>
            <a:br/>
            <a:r>
              <a:t>Empathy-based replies </a:t>
            </a:r>
            <a:br/>
            <a:r>
              <a:t>Cognitive Behavioral Therapy (CBT) </a:t>
            </a:r>
            <a:br/>
            <a:r>
              <a:t>Grounding techniques </a:t>
            </a:r>
            <a:br/>
            <a:r>
              <a:t>Storytelling-based support </a:t>
            </a:r>
            <a:br/>
            <a:r>
              <a:t>Ensures human-like emotional interaction</a:t>
            </a:r>
          </a:p>
          <a:p>
            <a:pPr>
              <a:defRPr sz="1200">
                <a:solidFill>
                  <a:srgbClr val="1E293B"/>
                </a:solidFill>
              </a:defRPr>
            </a:pPr>
            <a:r>
              <a:t>4. Mental Health &amp; Risk Analysis Module</a:t>
            </a:r>
            <a:br/>
            <a:r>
              <a:t>Calculates Mental Health Quotient (MHQ) </a:t>
            </a:r>
            <a:br/>
            <a:r>
              <a:t>Performs: </a:t>
            </a:r>
            <a:br/>
            <a:r>
              <a:t>Real-time emotional scoring </a:t>
            </a:r>
            <a:br/>
            <a:r>
              <a:t>Risk detection (stress, anxiety, crisis signals) </a:t>
            </a:r>
            <a:br/>
            <a:r>
              <a:t>Uses AI models + predefined clinical rules</a:t>
            </a:r>
          </a:p>
          <a:p>
            <a:pPr>
              <a:defRPr sz="1200">
                <a:solidFill>
                  <a:srgbClr val="1E293B"/>
                </a:solidFill>
              </a:defRPr>
            </a:pPr>
            <a:r>
              <a:t>5. Memory System</a:t>
            </a:r>
            <a:br/>
            <a:r>
              <a:t>Short-Term Memory (Redis): </a:t>
            </a:r>
            <a:br/>
            <a:r>
              <a:t>Stores recent conversations </a:t>
            </a:r>
            <a:br/>
            <a:r>
              <a:t>Maintains session context </a:t>
            </a:r>
            <a:br/>
            <a:r>
              <a:t>Long-Term Memory (Pinecone): </a:t>
            </a:r>
            <a:br/>
            <a:r>
              <a:t>Stores past interactions </a:t>
            </a:r>
            <a:br/>
            <a:r>
              <a:t>Enables semantic search &amp; recall </a:t>
            </a:r>
            <a:br/>
            <a:r>
              <a:t>Helps chatbot provide personalized responses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19): 6. Data Storage Layer Stores structured and unstructured dat...</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6. Data Storage Layer</a:t>
            </a:r>
            <a:br/>
            <a:r>
              <a:t>Stores structured and unstructured data: </a:t>
            </a:r>
            <a:br/>
            <a:r>
              <a:t>PostgreSQL → User &amp; clinical data </a:t>
            </a:r>
            <a:br/>
            <a:r>
              <a:t>Redis → Real-time cache </a:t>
            </a:r>
            <a:br/>
            <a:r>
              <a:t>Pinecone → Vector memory </a:t>
            </a:r>
            <a:br/>
            <a:r>
              <a:t>Secure Storage → Logs &amp; reports </a:t>
            </a:r>
            <a:br/>
            <a:r>
              <a:t>Ensures efficient and secure data handling</a:t>
            </a:r>
          </a:p>
          <a:p>
            <a:pPr>
              <a:defRPr sz="1200">
                <a:solidFill>
                  <a:srgbClr val="1E293B"/>
                </a:solidFill>
              </a:defRPr>
            </a:pPr>
            <a:r>
              <a:t>7. Real-Time Communication Module</a:t>
            </a:r>
            <a:br/>
            <a:r>
              <a:t>Enables: </a:t>
            </a:r>
            <a:br/>
            <a:r>
              <a:t>Live chat streaming </a:t>
            </a:r>
            <a:br/>
            <a:r>
              <a:t>Instant responses </a:t>
            </a:r>
            <a:br/>
            <a:r>
              <a:t>Typing indicators </a:t>
            </a:r>
            <a:br/>
            <a:r>
              <a:t>Uses technologies like WebSockets </a:t>
            </a:r>
            <a:br/>
            <a:r>
              <a:t>Ensures smooth real-time interaction</a:t>
            </a:r>
          </a:p>
          <a:p>
            <a:pPr>
              <a:defRPr sz="1200">
                <a:solidFill>
                  <a:srgbClr val="1E293B"/>
                </a:solidFill>
              </a:defRPr>
            </a:pPr>
            <a:r>
              <a:t>8. Automation &amp; Event Engine</a:t>
            </a:r>
            <a:br/>
            <a:r>
              <a:t>Handles workflows using event-based triggers </a:t>
            </a:r>
            <a:br/>
            <a:r>
              <a:t>Functions: </a:t>
            </a:r>
            <a:br/>
            <a:r>
              <a:t>Detects conditions </a:t>
            </a:r>
            <a:br/>
            <a:r>
              <a:t>Triggers actions (alerts, responses) </a:t>
            </a:r>
            <a:br/>
            <a:r>
              <a:t>Supports real-time intervention and automation</a:t>
            </a:r>
          </a:p>
          <a:p>
            <a:pPr>
              <a:defRPr sz="1200">
                <a:solidFill>
                  <a:srgbClr val="1E293B"/>
                </a:solidFill>
              </a:defRPr>
            </a:pPr>
            <a:r>
              <a:t>9. External Integration Module</a:t>
            </a:r>
            <a:br/>
            <a:r>
              <a:t>Integrates with: </a:t>
            </a:r>
            <a:br/>
            <a:r>
              <a:t>WhatsApp (chat support) </a:t>
            </a:r>
            <a:br/>
            <a:r>
              <a:t>Email (alerts &amp; reports) </a:t>
            </a:r>
            <a:br/>
            <a:r>
              <a:t>SMS (critical notifications) </a:t>
            </a:r>
            <a:br/>
            <a:r>
              <a:t>Calendar (reminders) </a:t>
            </a:r>
            <a:br/>
            <a:r>
              <a:t>Expands chatbot reach and usability</a:t>
            </a:r>
          </a:p>
          <a:p>
            <a:pPr>
              <a:defRPr sz="1200">
                <a:solidFill>
                  <a:srgbClr val="1E293B"/>
                </a:solidFill>
              </a:defRPr>
            </a:pPr>
            <a:r>
              <a:t>10. Security &amp; Compliance Layer</a:t>
            </a:r>
            <a:br/>
            <a:r>
              <a:t>Ensures: </a:t>
            </a:r>
            <a:br/>
            <a:r>
              <a:t>End-to-End Encryption </a:t>
            </a:r>
            <a:br/>
            <a:r>
              <a:t>Role-Based Access Control (RBAC) </a:t>
            </a:r>
            <a:br/>
            <a:r>
              <a:t>Data privacy &amp; anonymization </a:t>
            </a:r>
            <a:br/>
            <a:r>
              <a:t>Supports secure and ethical AI usage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20): Core Architecture – n8n Automation Engine</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Core Architecture – n8n Automation Engine</a:t>
            </a:r>
          </a:p>
          <a:p>
            <a:pPr>
              <a:defRPr sz="1200">
                <a:solidFill>
                  <a:srgbClr val="1E293B"/>
                </a:solidFill>
              </a:defRPr>
            </a:pPr>
            <a:r>
              <a:t>Entry Point — FastAPI Webhook</a:t>
            </a:r>
            <a:br/>
            <a:br/>
            <a:r>
              <a:t>This is where everything begins. A patient sends a message (likely through a chat interface or WhatsApp), and that message hits your FastAPI webhook as an HTTP POST request. FastAPI acts as the front door — it receives the raw message payload and immediately passes it into the n8n workflow. This is your system's trigger node, meaning nothing runs until this webhook fires.</a:t>
            </a:r>
          </a:p>
          <a:p>
            <a:pPr>
              <a:defRPr sz="1200">
                <a:solidFill>
                  <a:srgbClr val="1E293B"/>
                </a:solidFill>
              </a:defRPr>
            </a:pPr>
            <a:r>
              <a:t>Branch 1 — Premium Pipeline (The Core AI Chain)</a:t>
            </a:r>
            <a:br/>
            <a:br/>
            <a:r>
              <a:t>When the Triage node classifies a message as premium, it enters a sequential 3-AI chain — each model building on the previous one's output:</a:t>
            </a:r>
            <a:br/>
            <a:r>
              <a:t>Step 1 — Gemini (Diagnosis Engine)</a:t>
            </a:r>
            <a:br/>
            <a:br/>
            <a:r>
              <a:t>The patient's message is sent to Google's Gemini via the Generative Language API. Gemini's job is purely clinical — it analyses the symptoms, duration, and severity described by the patient and generates a structured clinical diagnosis. It might return a differential diagnosis list or a primary suspected condition. This output is not patient-facing yet — it's raw clinical data.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21): Step 2 — Claude (Empathy Story Engine) Gemini's clinical out...</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Step 2 — Claude (Empathy Story Engine)</a:t>
            </a:r>
            <a:br/>
            <a:r>
              <a:t>Gemini's clinical output is then passed to Anthropic's Claude. Claude's job is to take that cold, clinical diagnosis and wrap it in compassionate, human language. It rewrites the information so the patient doesn't feel like they're reading a medical report. Claude handles the emotional layer — reducing anxiety, using culturally sensitive language, and making the patient feel heard. This is why Claude specifically was chosen for this step — it excels at nuanced, empathetic communication.</a:t>
            </a:r>
            <a:br/>
            <a:r>
              <a:t>Step 3 — ChatGPT (Options Engine)</a:t>
            </a:r>
            <a:br/>
            <a:r>
              <a:t>Claude's empathetic response is then passed to OpenAI's ChatGPT. ChatGPT's role is to generate clear, actionable next steps for the patient — things like "visit a clinic," "take these OTC medications," "call emergency services," or "monitor at home." It formats the response as a numbered menu of options so the patient knows exactly what to do next. This is the final response that gets sent back to the patient.</a:t>
            </a:r>
            <a:br/>
            <a:br/>
            <a:r>
              <a:t>Branch 2 — Normal Chat</a:t>
            </a:r>
            <a:br/>
            <a:r>
              <a:t>If the Triage node decides the message is a simple, non-clinical query, it skips all three AI models entirely and returns a standard conversational reply directly. This keeps costs low and response time fast for messages that don't need clinical processing — things like greetings, appointment questions, or general information requests.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22): Branch 3 — Crisis Protocol (Safety-Critical Path) This is ar...</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Branch 3 — Crisis Protocol (Safety-Critical Path)</a:t>
            </a:r>
            <a:br/>
            <a:r>
              <a:t>This is arguably the most important branch from a patient safety perspective. When the Triage node detects crisis indicators — suicidal ideation, self-harm language, medical emergencies — two things happen simultaneously or in sequence:</a:t>
            </a:r>
            <a:br/>
            <a:r>
              <a:t>         WhatsApp SOS Alert (Twilio)</a:t>
            </a:r>
            <a:br/>
            <a:r>
              <a:t>                   An automated WhatsApp message is instantly fired to a designated emergency contact — likely a clinical supervisor, on-call doctor, or crisis team — via the Twilio API. This happens without any human initiating it. The clinician is alerted in real time.</a:t>
            </a:r>
            <a:br/>
            <a:r>
              <a:t>         Return Crisis Protocol</a:t>
            </a:r>
            <a:br/>
            <a:r>
              <a:t>                   A pre-written, clinically-approved crisis response is sent back to the patient. This is hardcoded content — it does NOT go through Gemini, Claude, or ChatGPT. This is a deliberate safety design decision: LLMs can hallucinate, and a hallucinated response to someone in crisis could be catastrophic. The response contains things like helpline numbers, grounding instructions, and immediate next steps.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23): ADVANTAGE</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ADVANTAGE</a:t>
            </a:r>
          </a:p>
          <a:p>
            <a:pPr>
              <a:defRPr sz="1200">
                <a:solidFill>
                  <a:srgbClr val="1E293B"/>
                </a:solidFill>
              </a:defRPr>
            </a:pPr>
            <a:r>
              <a:t>1.96-State Emotion Understanding</a:t>
            </a:r>
            <a:br/>
            <a:r>
              <a:t>Other bots: 3–5 basic emotions</a:t>
            </a:r>
            <a:br/>
            <a:r>
              <a:t>Keffi: 96 clinically classified states (41 depression types, 20 attrition types, 17 loss-of-follow-up types)</a:t>
            </a:r>
            <a:br/>
            <a:r>
              <a:t>Powered by BERT — reads context bidirectionally, not just keywords</a:t>
            </a:r>
            <a:br/>
            <a:br/>
            <a:r>
              <a:t>2.Vector Memory (Pinecone)</a:t>
            </a:r>
            <a:br/>
            <a:r>
              <a:t>Other bots: Stateless — no memory between sessions</a:t>
            </a:r>
            <a:br/>
            <a:r>
              <a:t>Keffi: Stores conversation embeddings → builds a continuous psychological profile over time</a:t>
            </a:r>
            <a:br/>
            <a:r>
              <a:t>Remembers past pain points, triggers, and progress</a:t>
            </a:r>
            <a:br/>
            <a:br/>
            <a:r>
              <a:t>3.Dynamic MHQ Scoring</a:t>
            </a:r>
            <a:br/>
            <a:r>
              <a:t>Other bots: No health scoring system</a:t>
            </a:r>
            <a:br/>
            <a:r>
              <a:t>Keffi: Live Mental Health Quotient (0–100) updated every session, mapped to PHQ clinical standards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24): 4.Triple-AI Architecture Other bots: Single LLM  Keffi uses ...</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4.Triple-AI Architecture</a:t>
            </a:r>
            <a:br/>
            <a:r>
              <a:t>Other bots: Single LLM </a:t>
            </a:r>
            <a:br/>
            <a:r>
              <a:t>Keffi uses 3 specialized AIs in parallel: </a:t>
            </a:r>
            <a:br/>
            <a:r>
              <a:t>Gemini → Deep diagnosis &amp; pattern analysis Claude → Human-like empathy &amp; storytelling ChatGPT → Structured A/B/C guided options</a:t>
            </a:r>
            <a:br/>
            <a:br/>
            <a:r>
              <a:t>5.Predictive Attrition Engine</a:t>
            </a:r>
            <a:br/>
            <a:r>
              <a:t>Other bots: React only when user messages </a:t>
            </a:r>
            <a:br/>
            <a:r>
              <a:t>Keffi: Predicts dropout before it happens → triggers WhatsApp nudges, reminders, alerts via n8n</a:t>
            </a:r>
            <a:br/>
            <a:r>
              <a:t> </a:t>
            </a:r>
            <a:br/>
            <a:r>
              <a:t>6.Clinical Crisis Protocol</a:t>
            </a:r>
            <a:br/>
            <a:r>
              <a:t>Other bots: Show a helpline number at best </a:t>
            </a:r>
            <a:br/>
            <a:r>
              <a:t>Keffi: Follows C-SSRS + WHO protocols → auto-alerts doctor, sends WhatsApp SOS, activates crisis response</a:t>
            </a:r>
            <a:br/>
            <a:br/>
            <a:r>
              <a:t>7.Two-Sided Platform</a:t>
            </a:r>
            <a:br/>
            <a:r>
              <a:t>Other bots: Only patient-facing</a:t>
            </a:r>
            <a:br/>
            <a:r>
              <a:t>Keffi: Patient app + Clinical Hub dashboard for doctors with NLP analytics, patient roster, therapist allocation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25): SYSTEM REQUIREMENTS</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SYSTEM REQUIREMENTS</a:t>
            </a:r>
          </a:p>
          <a:p>
            <a:pPr>
              <a:defRPr sz="1200">
                <a:solidFill>
                  <a:srgbClr val="1E293B"/>
                </a:solidFill>
              </a:defRPr>
            </a:pPr>
            <a:r>
              <a:t>1. Hardware Requirements</a:t>
            </a:r>
            <a:br/>
            <a:r>
              <a:t>Processor: Intel i3 / AMD equivalent or higher </a:t>
            </a:r>
            <a:br/>
            <a:r>
              <a:t>RAM: Minimum 4 GB (8 GB recommended) </a:t>
            </a:r>
            <a:br/>
            <a:r>
              <a:t>Storage: 10 GB free disk space </a:t>
            </a:r>
            <a:br/>
            <a:r>
              <a:t>Device: Laptop / Desktop / Smartphone </a:t>
            </a:r>
            <a:br/>
            <a:r>
              <a:t>Internet: Stable connection for real-time interaction</a:t>
            </a:r>
          </a:p>
          <a:p>
            <a:pPr>
              <a:defRPr sz="1200">
                <a:solidFill>
                  <a:srgbClr val="1E293B"/>
                </a:solidFill>
              </a:defRPr>
            </a:pPr>
            <a:r>
              <a:t>2. Software Requirements</a:t>
            </a:r>
            <a:br/>
            <a:r>
              <a:t>Operating System: Windows / Linux / macOS </a:t>
            </a:r>
            <a:br/>
            <a:r>
              <a:t>Programming Language: Python </a:t>
            </a:r>
            <a:br/>
            <a:r>
              <a:t>Frameworks: FastAPI / Flask </a:t>
            </a:r>
            <a:br/>
            <a:r>
              <a:t>Frontend: React.js / HTML / CSS / Tailwind </a:t>
            </a:r>
            <a:br/>
            <a:r>
              <a:t>Database: PostgreSQL </a:t>
            </a:r>
            <a:br/>
            <a:r>
              <a:t>Tools: Google Colab / VS Code / Jupyter Notebook</a:t>
            </a:r>
          </a:p>
          <a:p>
            <a:pPr>
              <a:defRPr sz="1200">
                <a:solidFill>
                  <a:srgbClr val="1E293B"/>
                </a:solidFill>
              </a:defRPr>
            </a:pPr>
            <a:r>
              <a:t>3. AI &amp; NLP Requirements</a:t>
            </a:r>
            <a:br/>
            <a:r>
              <a:t>NLP Model: BERT (Bidirectional Encoder Representations from Transformers) </a:t>
            </a:r>
            <a:br/>
            <a:r>
              <a:t>Libraries: </a:t>
            </a:r>
            <a:br/>
            <a:r>
              <a:t>Transformers (Hugging Face) </a:t>
            </a:r>
            <a:br/>
            <a:r>
              <a:t>TensorFlow / PyTorch </a:t>
            </a:r>
            <a:br/>
            <a:r>
              <a:t>NLTK / SpaCy </a:t>
            </a:r>
            <a:br/>
            <a:r>
              <a:t>Emotion Dataset: GoEmotions / Custom dataset</a:t>
            </a:r>
          </a:p>
          <a:p>
            <a:pPr>
              <a:defRPr sz="1200">
                <a:solidFill>
                  <a:srgbClr val="1E293B"/>
                </a:solidFill>
              </a:defRPr>
            </a:pPr>
            <a:r>
              <a:t>4. Storage &amp; Memory Requirements</a:t>
            </a:r>
            <a:br/>
            <a:r>
              <a:t>Short-Term Memory: Redis </a:t>
            </a:r>
            <a:br/>
            <a:r>
              <a:t>Long-Term Memory: Pinecone (Vector Database) </a:t>
            </a:r>
            <a:br/>
            <a:r>
              <a:t>File Storage: Cloud / Local storage</a:t>
            </a:r>
          </a:p>
          <a:p>
            <a:pPr>
              <a:defRPr sz="1200">
                <a:solidFill>
                  <a:srgbClr val="1E293B"/>
                </a:solidFill>
              </a:defRPr>
            </a:pPr>
            <a:r>
              <a:t>5. Communication Requirements</a:t>
            </a:r>
            <a:br/>
            <a:r>
              <a:t>WebSockets for real-time chat </a:t>
            </a:r>
            <a:br/>
            <a:r>
              <a:t>REST APIs for backend communication </a:t>
            </a:r>
            <a:br/>
            <a:r>
              <a:t>Internet connectivity for API calls</a:t>
            </a:r>
          </a:p>
          <a:p>
            <a:pPr>
              <a:defRPr sz="1200">
                <a:solidFill>
                  <a:srgbClr val="1E293B"/>
                </a:solidFill>
              </a:defRPr>
            </a:pPr>
            <a:r>
              <a:t>6. Security Requirements</a:t>
            </a:r>
            <a:br/>
            <a:r>
              <a:t>User data encryption (HTTPS / TLS) </a:t>
            </a:r>
            <a:br/>
            <a:r>
              <a:t>Authentication &amp; Authorization </a:t>
            </a:r>
            <a:br/>
            <a:r>
              <a:t>Data privacy and anonymization </a:t>
            </a:r>
            <a:br/>
            <a:r>
              <a:t>Secure database access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26): ROADMAP</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ROADMAP</a:t>
            </a:r>
          </a:p>
          <a:p>
            <a:pPr>
              <a:defRPr sz="1200">
                <a:solidFill>
                  <a:srgbClr val="1E293B"/>
                </a:solidFill>
              </a:defRPr>
            </a:pPr>
            <a:r>
              <a:t>Phase 1 — Now (Current Prototype)</a:t>
            </a:r>
            <a:br/>
            <a:r>
              <a:t>What's built:</a:t>
            </a:r>
            <a:br/>
            <a:r>
              <a:t>Full React + Tailwind UI (Patient Sanctuary + Clinical Hub)</a:t>
            </a:r>
            <a:br/>
            <a:r>
              <a:t>BERT-based 96-state emotion engine via FastAPI</a:t>
            </a:r>
            <a:br/>
            <a:r>
              <a:t>Pinecone vector memory system</a:t>
            </a:r>
            <a:br/>
            <a:r>
              <a:t>MHQ dynamic scoring (0–100)</a:t>
            </a:r>
            <a:br/>
            <a:r>
              <a:t>Attrition prediction algorithm</a:t>
            </a:r>
            <a:br/>
            <a:r>
              <a:t>n8n automation pipeline</a:t>
            </a:r>
            <a:br/>
            <a:r>
              <a:t>7 therapeutic AI response types</a:t>
            </a:r>
          </a:p>
          <a:p>
            <a:pPr>
              <a:defRPr sz="1200">
                <a:solidFill>
                  <a:srgbClr val="1E293B"/>
                </a:solidFill>
              </a:defRPr>
            </a:pPr>
            <a:r>
              <a:t>Phase 2 — 3 Months (Deployment &amp; Engagement)</a:t>
            </a:r>
            <a:br/>
            <a:r>
              <a:t>What's planned:</a:t>
            </a:r>
            <a:br/>
            <a:r>
              <a:t>Cloud deployment on AWS / Vercel for real users</a:t>
            </a:r>
            <a:br/>
            <a:r>
              <a:t>WhatsApp integration — reach users where they already are</a:t>
            </a:r>
            <a:br/>
            <a:r>
              <a:t>Automated engagement — scheduled check-ins, mood nudges, streak reminders</a:t>
            </a:r>
            <a:br/>
            <a:r>
              <a:t>Multi-language support — Tamil, Hindi, regional languages (building on existing Tamil capability)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27): Phase 3 — 6 Months (Biometric Intelligence) What's planned: ...</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Phase 3 — 6 Months (Biometric Intelligence)</a:t>
            </a:r>
            <a:br/>
            <a:r>
              <a:t>What's planned:</a:t>
            </a:r>
            <a:br/>
            <a:r>
              <a:t>Smartwatch / Wearable integration (Apple Watch, Fitbit, Garmin)</a:t>
            </a:r>
            <a:br/>
            <a:r>
              <a:t>Monitor: Heart rate variability, sleep patterns, stress signals</a:t>
            </a:r>
            <a:br/>
            <a:r>
              <a:t>Auto-trigger calming tools when physiological distress detected</a:t>
            </a:r>
            <a:br/>
            <a:r>
              <a:t>Example: Heart rate spikes → Keffi automatically sends 4-7-8 breathing exercise</a:t>
            </a:r>
          </a:p>
          <a:p>
            <a:pPr>
              <a:defRPr sz="1200">
                <a:solidFill>
                  <a:srgbClr val="1E293B"/>
                </a:solidFill>
              </a:defRPr>
            </a:pPr>
            <a:r>
              <a:t>Phase 4 — 1 Year+ (Clinical Validation &amp; Scale)</a:t>
            </a:r>
            <a:br/>
            <a:r>
              <a:t>What's planned:</a:t>
            </a:r>
            <a:br/>
            <a:r>
              <a:t>IRB-approved clinical trial — validate Keffi in real hospital/clinic setting</a:t>
            </a:r>
            <a:br/>
            <a:r>
              <a:t>Doctor integration — prescribing doctors can view MHQ scores alongside PHQ results</a:t>
            </a:r>
            <a:br/>
            <a:r>
              <a:t>Insurance &amp; healthcare system tie-ins</a:t>
            </a:r>
            <a:br/>
            <a:r>
              <a:t>FDA/CE digital therapeutics certification pathway</a:t>
            </a:r>
            <a:br/>
            <a:r>
              <a:t>Research publication — contribute to the Woebot-level evidence base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28): JOURNEY VIDEO REFERENCE</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JOURNEY VIDEO REFERENCE</a:t>
            </a:r>
          </a:p>
          <a:p>
            <a:pPr>
              <a:defRPr sz="1200">
                <a:solidFill>
                  <a:srgbClr val="1E293B"/>
                </a:solidFill>
              </a:defRPr>
            </a:pPr>
            <a:r>
              <a:t>FIRST REVIEW OF OUR </a:t>
            </a:r>
            <a:br/>
            <a:r>
              <a:t>PROJECT WITH COLLEGE</a:t>
            </a:r>
            <a:br/>
            <a:r>
              <a:t>MENTOR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29): CONCLUSION</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CONCLUSION</a:t>
            </a:r>
          </a:p>
          <a:p>
            <a:pPr>
              <a:defRPr sz="1200">
                <a:solidFill>
                  <a:srgbClr val="1E293B"/>
                </a:solidFill>
              </a:defRPr>
            </a:pPr>
            <a:r>
              <a:t>Keffi AI is not just a traditional chatbot but a clinically inspired digital mental health platform that combines artificial intelligence with proven psychological frameworks to deliver personalized and real-time support. By understanding 96+ emotional and depression states, integrating therapeutic response strategies like CBT and empathy-based interaction, and enabling automation through systems like n8n, the platform ensures both intelligent conversation and timely intervention. It addresses key limitations of existing solutions such as lack of memory, poor personalization, and absence of safety mechanisms. With features like MHQ scoring, attrition prediction, and </a:t>
            </a:r>
            <a:br/>
            <a:r>
              <a:t>future integration with wearable devices, Keffi AI moves towards a proactive and continuous mental healthcare </a:t>
            </a:r>
            <a:br/>
            <a:r>
              <a:t>model. Overall, it represents a shift from reactive chatbot systems to a smart, scalable, and clinically aware mental</a:t>
            </a:r>
            <a:br/>
            <a:r>
              <a:t>health ecosystem capable of supporting users effectively and bridging the gap between technology and healthcare.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REVIEW 2 (Slide 30): THANK YOU</a:t>
            </a:r>
          </a:p>
        </p:txBody>
      </p:sp>
      <p:sp>
        <p:nvSpPr>
          <p:cNvPr id="3" name="Rounded Rectangle 2"/>
          <p:cNvSpPr/>
          <p:nvPr/>
        </p:nvSpPr>
        <p:spPr>
          <a:xfrm>
            <a:off x="731520" y="1371600"/>
            <a:ext cx="10728655" cy="4937760"/>
          </a:xfrm>
          <a:prstGeom prst="roundRect">
            <a:avLst/>
          </a:prstGeom>
          <a:solidFill>
            <a:srgbClr val="F1F5F9"/>
          </a:solidFill>
          <a:ln>
            <a:solidFill>
              <a:srgbClr val="0D505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p>
          <a:p>
            <a:pPr>
              <a:defRPr sz="1200">
                <a:solidFill>
                  <a:srgbClr val="1E293B"/>
                </a:solidFill>
              </a:defRPr>
            </a:pPr>
            <a:r>
              <a:t>THANK YOU</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UPGRADE 1: 4 NEXT-GEN AFFECTIVE COMPUTING LAYERS</a:t>
            </a:r>
          </a:p>
        </p:txBody>
      </p:sp>
      <p:sp>
        <p:nvSpPr>
          <p:cNvPr id="3" name="Rounded Rectangle 2"/>
          <p:cNvSpPr/>
          <p:nvPr/>
        </p:nvSpPr>
        <p:spPr>
          <a:xfrm>
            <a:off x="731520" y="1371600"/>
            <a:ext cx="10728655" cy="4937760"/>
          </a:xfrm>
          <a:prstGeom prst="roundRect">
            <a:avLst/>
          </a:prstGeom>
          <a:solidFill>
            <a:srgbClr val="2C5555"/>
          </a:solidFill>
          <a:ln>
            <a:solidFill>
              <a:srgbClr val="2AA87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p>
          <a:p>
            <a:pPr>
              <a:defRPr sz="1350">
                <a:solidFill>
                  <a:srgbClr val="FFFFFF"/>
                </a:solidFill>
              </a:defRPr>
            </a:pPr>
            <a:r>
              <a:t>•  Layer 1: Voice Prosody &amp; Acoustic Sentiment Analyzer (Pitch, Speech Rate WPM, Energy dB, Pause Gaps).</a:t>
            </a:r>
          </a:p>
          <a:p>
            <a:pPr>
              <a:defRPr sz="1350">
                <a:solidFill>
                  <a:srgbClr val="FFFFFF"/>
                </a:solidFill>
              </a:defRPr>
            </a:pPr>
            <a:r>
              <a:t>•  Layer 2: Cognitive Distortion Mapping Engine (10 CBT psychological distortions: Catastrophizing, All-or-Nothing, Mind Reading).</a:t>
            </a:r>
          </a:p>
          <a:p>
            <a:pPr>
              <a:defRPr sz="1350">
                <a:solidFill>
                  <a:srgbClr val="FFFFFF"/>
                </a:solidFill>
              </a:defRPr>
            </a:pPr>
            <a:r>
              <a:t>•  Layer 3: IoT Biometric Telemetry Engine (ESP32 Heart Rate BPM, HRV ms, GSR uS sensor streams for HR &gt; 100 BPM panic override).</a:t>
            </a:r>
          </a:p>
          <a:p>
            <a:pPr>
              <a:defRPr sz="1350">
                <a:solidFill>
                  <a:srgbClr val="FFFFFF"/>
                </a:solidFill>
              </a:defRPr>
            </a:pPr>
            <a:r>
              <a:t>•  Layer 4: Temporal Emotion Knowledge Graph (Long-term graph memory: User -&gt; Triggers -&gt; States -&gt; Coping).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UPGRADE 2: MASTER CLINICAL KNOWLEDGE BASE (DSM-5-TR)</a:t>
            </a:r>
          </a:p>
        </p:txBody>
      </p:sp>
      <p:sp>
        <p:nvSpPr>
          <p:cNvPr id="3" name="Rounded Rectangle 2"/>
          <p:cNvSpPr/>
          <p:nvPr/>
        </p:nvSpPr>
        <p:spPr>
          <a:xfrm>
            <a:off x="731520" y="1371600"/>
            <a:ext cx="10728655" cy="4937760"/>
          </a:xfrm>
          <a:prstGeom prst="roundRect">
            <a:avLst/>
          </a:prstGeom>
          <a:solidFill>
            <a:srgbClr val="2C5555"/>
          </a:solidFill>
          <a:ln>
            <a:solidFill>
              <a:srgbClr val="2AA87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p>
          <a:p>
            <a:pPr>
              <a:defRPr sz="1350">
                <a:solidFill>
                  <a:srgbClr val="FFFFFF"/>
                </a:solidFill>
              </a:defRPr>
            </a:pPr>
            <a:r>
              <a:t>•  Major Depressive Disorder (296.2x / 6A70): First-line Cognitive Therapy (Beck) + Behavioral Activation.</a:t>
            </a:r>
          </a:p>
          <a:p>
            <a:pPr>
              <a:defRPr sz="1350">
                <a:solidFill>
                  <a:srgbClr val="FFFFFF"/>
                </a:solidFill>
              </a:defRPr>
            </a:pPr>
            <a:r>
              <a:t>•  Persistent Depressive Disorder / Dysthymia (300.4): Long-term ACT Defusion (Hayes) + Core Schema Reframing.</a:t>
            </a:r>
          </a:p>
          <a:p>
            <a:pPr>
              <a:defRPr sz="1350">
                <a:solidFill>
                  <a:srgbClr val="FFFFFF"/>
                </a:solidFill>
              </a:defRPr>
            </a:pPr>
            <a:r>
              <a:t>•  Generalized Anxiety Disorder (300.02 / 6B00): Somatic Nervous System Pacing (van der Kolk) + Polyvagal 4-7-8 Breathing.</a:t>
            </a:r>
          </a:p>
          <a:p>
            <a:pPr>
              <a:defRPr sz="1350">
                <a:solidFill>
                  <a:srgbClr val="FFFFFF"/>
                </a:solidFill>
              </a:defRPr>
            </a:pPr>
            <a:r>
              <a:t>•  Panic Disorder &amp; Agoraphobia (300.01): TIPP Crisis Distress Tolerance (Linehan DBT) + Interoceptive Exposure.</a:t>
            </a:r>
          </a:p>
          <a:p>
            <a:pPr>
              <a:defRPr sz="1350">
                <a:solidFill>
                  <a:srgbClr val="FFFFFF"/>
                </a:solidFill>
              </a:defRPr>
            </a:pPr>
            <a:r>
              <a:t>•  PTSD &amp; Trauma (309.81 / 6B40): Somatic Neurobiology &amp; Polyvagal Vagus Nerve Pacing.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UPGRADE 3: EXPLAINABLE AI (SHAP &amp; LIME XAI SUITE)</a:t>
            </a:r>
          </a:p>
        </p:txBody>
      </p:sp>
      <p:sp>
        <p:nvSpPr>
          <p:cNvPr id="3" name="Rounded Rectangle 2"/>
          <p:cNvSpPr/>
          <p:nvPr/>
        </p:nvSpPr>
        <p:spPr>
          <a:xfrm>
            <a:off x="731520" y="1371600"/>
            <a:ext cx="10728655" cy="4937760"/>
          </a:xfrm>
          <a:prstGeom prst="roundRect">
            <a:avLst/>
          </a:prstGeom>
          <a:solidFill>
            <a:srgbClr val="2C5555"/>
          </a:solidFill>
          <a:ln>
            <a:solidFill>
              <a:srgbClr val="2AA87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p>
          <a:p>
            <a:pPr>
              <a:defRPr sz="1350">
                <a:solidFill>
                  <a:srgbClr val="FFFFFF"/>
                </a:solidFill>
              </a:defRPr>
            </a:pPr>
            <a:r>
              <a:t>•  SHAP (SHapley Additive exPlanations): Game-theoretic feature attribution for every input token driving BERT emotion scores.</a:t>
            </a:r>
          </a:p>
          <a:p>
            <a:pPr>
              <a:defRPr sz="1350">
                <a:solidFill>
                  <a:srgbClr val="FFFFFF"/>
                </a:solidFill>
              </a:defRPr>
            </a:pPr>
            <a:r>
              <a:t>•  LIME (Local Interpretable Model-agnostic Explanations): Local surrogate model explaining why CBT reframing was chosen.</a:t>
            </a:r>
          </a:p>
          <a:p>
            <a:pPr>
              <a:defRPr sz="1350">
                <a:solidFill>
                  <a:srgbClr val="FFFFFF"/>
                </a:solidFill>
              </a:defRPr>
            </a:pPr>
            <a:r>
              <a:t>•  100% Medical Audit Compliance: Complete transparency eliminating AI black box in clinical decision making.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D5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sz="1000" b="1">
                <a:solidFill>
                  <a:srgbClr val="2AA870"/>
                </a:solidFill>
              </a:defRPr>
            </a:pPr>
            <a:r>
              <a:t>NIRAL THIRUVIZHA 3.0 - MASTER FINAL REVIEW DECK</a:t>
            </a:r>
          </a:p>
          <a:p>
            <a:pPr>
              <a:defRPr sz="2000" b="1">
                <a:solidFill>
                  <a:srgbClr val="FFFFFF"/>
                </a:solidFill>
              </a:defRPr>
            </a:pPr>
            <a:r>
              <a:t>UPGRADE 4: 70B MULTI-LLM RESILIENT CASCADE</a:t>
            </a:r>
          </a:p>
        </p:txBody>
      </p:sp>
      <p:sp>
        <p:nvSpPr>
          <p:cNvPr id="3" name="Rounded Rectangle 2"/>
          <p:cNvSpPr/>
          <p:nvPr/>
        </p:nvSpPr>
        <p:spPr>
          <a:xfrm>
            <a:off x="731520" y="1371600"/>
            <a:ext cx="10728655" cy="4937760"/>
          </a:xfrm>
          <a:prstGeom prst="roundRect">
            <a:avLst/>
          </a:prstGeom>
          <a:solidFill>
            <a:srgbClr val="2C5555"/>
          </a:solidFill>
          <a:ln>
            <a:solidFill>
              <a:srgbClr val="2AA87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p>
          <a:p>
            <a:pPr>
              <a:defRPr sz="1350">
                <a:solidFill>
                  <a:srgbClr val="FFFFFF"/>
                </a:solidFill>
              </a:defRPr>
            </a:pPr>
            <a:r>
              <a:t>•  Primary Engine: Groq Llama-3.3 70B (llama-3.3-70b-versatile) — High-speed clinical response inference.</a:t>
            </a:r>
          </a:p>
          <a:p>
            <a:pPr>
              <a:defRPr sz="1350">
                <a:solidFill>
                  <a:srgbClr val="FFFFFF"/>
                </a:solidFill>
              </a:defRPr>
            </a:pPr>
            <a:r>
              <a:t>•  Fallback 1: OpenAI ChatGPT (gpt-4o-mini) — Failover for complex conversational reframing.</a:t>
            </a:r>
          </a:p>
          <a:p>
            <a:pPr>
              <a:defRPr sz="1350">
                <a:solidFill>
                  <a:srgbClr val="FFFFFF"/>
                </a:solidFill>
              </a:defRPr>
            </a:pPr>
            <a:r>
              <a:t>•  Fallback 2: Google Gemini (gemini-1.5-flash) — Context analysis failover.</a:t>
            </a:r>
          </a:p>
          <a:p>
            <a:pPr>
              <a:defRPr sz="1350">
                <a:solidFill>
                  <a:srgbClr val="FFFFFF"/>
                </a:solidFill>
              </a:defRPr>
            </a:pPr>
            <a:r>
              <a:t>•  Fallback 3: Local 10-Methodology CBT Engine — Zero-downtime offline clinical fallback.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