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Times New Roman"/>
              </a:defRPr>
            </a:pPr>
            <a:r>
              <a:t>TITLE &amp; CREDENTIALS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000000"/>
                </a:solidFill>
                <a:latin typeface="Times New Roman"/>
              </a:defRPr>
            </a:pPr>
            <a:r>
              <a:t>KEFFI AI: AFFECTIVE COMPUTING PLATFORM FOR CONTINUOUS MENTAL HEALTH CARE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Bridging the 167-Hour Unmonitored Outpatient Care Gap via Multimodal Biofeedback &amp; AI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• Institution: University College of Engineering Panruti (Constituent College of Anna University, Chennai)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• Project ID: TNSDC Naan Mudhalvan Niral Thiruvizha 3.0 (ID: NT3.0-4226-035)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• Team Name: HACKERS TEAM | Department of Computer Science and Engineering (CSE)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• Members: MADHUMATHI S (422623104003), BALAJI P (422623104035), MALINI V (422623104048)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• Faculty Guide: DR. S. SIVANESH M.Tech., Ph.D. (Assistant Professor &amp; Head of Department, CSE)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• Live Frontend: https://keffi-test.vercel.app | Live Backend API: https://balajikrishnan031-keffi-backend.hf.space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282828"/>
                </a:solidFill>
                <a:latin typeface="Times New Roman"/>
              </a:defRPr>
            </a:pPr>
            <a:r>
              <a:t>KEFFI AI — Slide 1 of 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Times New Roman"/>
              </a:defRPr>
            </a:pPr>
            <a:r>
              <a:t>ABSTRACT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Keffi AI is a Clinical Digital Therapeutics Platform designed to improve digital mental healthcare by overcoming the limitations of existing chatbots, which lack memory, multimodal sensing, personalization, and clinical safety.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The system uses BERT-based emotion analysis to classify user input into 96 clinically relevant emotional states, enabling deeper understanding beyond basic sentiment detection. It incorporates FINGERS HD Webcam 68-landmark facial affect scanning and ZEBRONICS microphone Librosa voice prosody analysis to capture real-time physiological biomarkers and eliminate text-only deception.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A dynamic Mental Health Quotient (MHQ) tracks user condition in real time, while a predictive attrition algorithm identifies early signs of disengagement and emotional decline. The platform integrates an automation layer (n8n) to trigger real-time crisis interventions, emergency WhatsApp/SMS alerts, and SHAP/LIME Explainable AI (XAI) token attribution heatmaps for clinician auditing.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Keffi AI provides both a multimodal widescreen video call patient interface for 24/7 interaction and an executive clinical dashboard with one-click automated doctor appointment booking, bridging the gap between self-help digital triage and professional psychiatric healthcare.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282828"/>
                </a:solidFill>
                <a:latin typeface="Times New Roman"/>
              </a:defRPr>
            </a:pPr>
            <a:r>
              <a:t>KEFFI AI — Slide 2 of 25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Times New Roman"/>
              </a:defRPr>
            </a:pPr>
            <a: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How might we utilize AI chatbots and machine learning to address the challenges of incomplete alleviation of depression symptoms, attrition, and loss of follow-up in mental health treatment.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</a:p>
          <a:p>
            <a:pPr>
              <a:spcAft>
                <a:spcPts val="800"/>
              </a:spcAft>
              <a:defRPr sz="1900" b="1">
                <a:solidFill>
                  <a:srgbClr val="000000"/>
                </a:solidFill>
                <a:latin typeface="Times New Roman"/>
              </a:defRPr>
            </a:pPr>
            <a:r>
              <a:t>Three Interconnected Challenges: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</a:p>
          <a:p>
            <a:pPr>
              <a:spcAft>
                <a:spcPts val="800"/>
              </a:spcAft>
              <a:defRPr sz="1900" b="1">
                <a:solidFill>
                  <a:srgbClr val="000000"/>
                </a:solidFill>
                <a:latin typeface="Times New Roman"/>
              </a:defRPr>
            </a:pPr>
            <a:r>
              <a:t>1. Incomplete Alleviation of Depression Symptoms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Current treatments — therapy and medication — work for many, but not completely for all. Studies show that nearly 50–60% of depression patients don't achieve full remission after a first-line treatment. Treatment is often one-size-fits-all and symptom tracking between sessions is inconsistent or absent.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</a:p>
          <a:p>
            <a:pPr>
              <a:spcAft>
                <a:spcPts val="800"/>
              </a:spcAft>
              <a:defRPr sz="1900" b="1">
                <a:solidFill>
                  <a:srgbClr val="000000"/>
                </a:solidFill>
                <a:latin typeface="Times New Roman"/>
              </a:defRPr>
            </a:pPr>
            <a:r>
              <a:t>2. Attrition — Dropping Out of Treatment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A large portion of patients abandon treatment prematurely before progress is made due to stigma around mental health support, cost and accessibility barriers ($60-$100/hr), and feeling disconnected from a therapist they see infrequently.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</a:p>
          <a:p>
            <a:pPr>
              <a:spcAft>
                <a:spcPts val="800"/>
              </a:spcAft>
              <a:defRPr sz="1900" b="1">
                <a:solidFill>
                  <a:srgbClr val="000000"/>
                </a:solidFill>
                <a:latin typeface="Times New Roman"/>
              </a:defRPr>
            </a:pPr>
            <a:r>
              <a:t>3. Loss to Follow-Up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Patients who complete initial treatment often disappear from care entirely. Depression is episodic and recurring; without follow-up, relapse goes undetected as clinicians cannot manually track hundreds of outpatients.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282828"/>
                </a:solidFill>
                <a:latin typeface="Times New Roman"/>
              </a:defRPr>
            </a:pPr>
            <a:r>
              <a:t>KEFFI AI — Slide 3 of 25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Times New Roman"/>
              </a:defRPr>
            </a:pPr>
            <a:r>
              <a:t>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000000"/>
                </a:solidFill>
                <a:latin typeface="Times New Roman"/>
              </a:defRPr>
            </a:pPr>
            <a:r>
              <a:t>Keffi AI is designed as a clinical mental health support system, not just a chatbot.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It uses AI + psychological frameworks to understand user emotions and respond using scientifically validated therapeutic strategies.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Instead of giving generic replies, Keffi: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• Analyzes user emotion in real-time (Multimodal Sensing: Camera + Mic + BERT)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• Selects the best therapeutic response type dynamically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• Provides personalized, safe, and structured support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</a:p>
          <a:p>
            <a:pPr>
              <a:spcAft>
                <a:spcPts val="800"/>
              </a:spcAft>
              <a:defRPr sz="1900" b="1">
                <a:solidFill>
                  <a:srgbClr val="000000"/>
                </a:solidFill>
                <a:latin typeface="Times New Roman"/>
              </a:defRPr>
            </a:pPr>
            <a:r>
              <a:t>Core Platform Pillars: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1. 24/7 Empathetic Triage &amp; Multimodal Sensing (Webcam Reticle + Mic Librosa)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2. SHAP &amp; LIME Explainable AI (XAI) for Clinician Auditing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3. Executive Admin Clinical Hub with One-Click Automated Doctor Booking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282828"/>
                </a:solidFill>
                <a:latin typeface="Times New Roman"/>
              </a:defRPr>
            </a:pPr>
            <a:r>
              <a:t>KEFFI AI — Slide 4 of 25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Times New Roman"/>
              </a:defRPr>
            </a:pPr>
            <a:r>
              <a:t>KEFFI'S 7 THERAPEUTIC AI RESPONSE TYPES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000000"/>
                </a:solidFill>
                <a:latin typeface="Times New Roman"/>
              </a:defRPr>
            </a:pPr>
            <a:r>
              <a:t>1. Validation &amp; Empathy: Accepts feelings without judgment (Person-Centered Therapy — 30% alliance success).</a:t>
            </a:r>
          </a:p>
          <a:p>
            <a:pPr>
              <a:spcAft>
                <a:spcPts val="800"/>
              </a:spcAft>
              <a:defRPr sz="1900" b="1">
                <a:solidFill>
                  <a:srgbClr val="000000"/>
                </a:solidFill>
                <a:latin typeface="Times New Roman"/>
              </a:defRPr>
            </a:pPr>
            <a:r>
              <a:t>2. Metaphor &amp; Storytelling: Uses simple analogies (Acceptance &amp; Commitment Therapy / ACT — Cognitive Defusion).</a:t>
            </a:r>
          </a:p>
          <a:p>
            <a:pPr>
              <a:spcAft>
                <a:spcPts val="800"/>
              </a:spcAft>
              <a:defRPr sz="1900" b="1">
                <a:solidFill>
                  <a:srgbClr val="000000"/>
                </a:solidFill>
                <a:latin typeface="Times New Roman"/>
              </a:defRPr>
            </a:pPr>
            <a:r>
              <a:t>3. Psychoeducation &amp; Biological Framing: Explains Amygdala &amp; Cortisol science to normalize panic reactions.</a:t>
            </a:r>
          </a:p>
          <a:p>
            <a:pPr>
              <a:spcAft>
                <a:spcPts val="800"/>
              </a:spcAft>
              <a:defRPr sz="1900" b="1">
                <a:solidFill>
                  <a:srgbClr val="000000"/>
                </a:solidFill>
                <a:latin typeface="Times New Roman"/>
              </a:defRPr>
            </a:pPr>
            <a:r>
              <a:t>4. Cognitive Reframing &amp; CBT: Identifies cognitive distortions to reframe negative thoughts (50-75% symptom drop).</a:t>
            </a:r>
          </a:p>
          <a:p>
            <a:pPr>
              <a:spcAft>
                <a:spcPts val="800"/>
              </a:spcAft>
              <a:defRPr sz="1900" b="1">
                <a:solidFill>
                  <a:srgbClr val="000000"/>
                </a:solidFill>
                <a:latin typeface="Times New Roman"/>
              </a:defRPr>
            </a:pPr>
            <a:r>
              <a:t>5. Behavioral Activation &amp; Micro-Steps: Breaks tasks into micro-steps to overcome depressive paralysis.</a:t>
            </a:r>
          </a:p>
          <a:p>
            <a:pPr>
              <a:spcAft>
                <a:spcPts val="800"/>
              </a:spcAft>
              <a:defRPr sz="1900" b="1">
                <a:solidFill>
                  <a:srgbClr val="000000"/>
                </a:solidFill>
                <a:latin typeface="Times New Roman"/>
              </a:defRPr>
            </a:pPr>
            <a:r>
              <a:t>6. Somatic &amp; Sensory Grounding: 4-7-8 breathing &amp; 5-4-3-2-1 grounding to stimulate vagus nerve balance.</a:t>
            </a:r>
          </a:p>
          <a:p>
            <a:pPr>
              <a:spcAft>
                <a:spcPts val="800"/>
              </a:spcAft>
              <a:defRPr sz="1900" b="1">
                <a:solidFill>
                  <a:srgbClr val="000000"/>
                </a:solidFill>
                <a:latin typeface="Times New Roman"/>
              </a:defRPr>
            </a:pPr>
            <a:r>
              <a:t>7. Crisis Escalation Protocol: Triggers emergency SOS overlays &amp; n8n WhatsApp/SMS webhooks (&lt;40 MHQ).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282828"/>
                </a:solidFill>
                <a:latin typeface="Times New Roman"/>
              </a:defRPr>
            </a:pPr>
            <a:r>
              <a:t>KEFFI AI — Slide 5 of 25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Times New Roman"/>
              </a:defRPr>
            </a:pPr>
            <a:r>
              <a:t>EXISTING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000000"/>
                </a:solidFill>
                <a:latin typeface="Times New Roman"/>
              </a:defRPr>
            </a:pPr>
            <a:r>
              <a:t>1. Rule-Based Chatbots (Examples: Woebot, Wysa)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Rule-based chatbots operate on simple keyword matching with static pre-written responses. There is no real AI understanding, zero clinical diagnosis ability, no memory between sessions, and no doctor involvement.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</a:p>
          <a:p>
            <a:pPr>
              <a:spcAft>
                <a:spcPts val="800"/>
              </a:spcAft>
              <a:defRPr sz="1900" b="1">
                <a:solidFill>
                  <a:srgbClr val="000000"/>
                </a:solidFill>
                <a:latin typeface="Times New Roman"/>
              </a:defRPr>
            </a:pPr>
            <a:r>
              <a:t>2. LLM Wrappers (Examples: ChatGPT-based Mental Health Bots)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LLM-based mental health bots transmit un-anonymized user data directly to third-party OpenAI servers without privacy filtering. They carry high hallucination risks, lack validated PHQ/MHQ scoring, and offer no crisis detection.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</a:p>
          <a:p>
            <a:pPr>
              <a:spcAft>
                <a:spcPts val="800"/>
              </a:spcAft>
              <a:defRPr sz="1900" b="1">
                <a:solidFill>
                  <a:srgbClr val="000000"/>
                </a:solidFill>
                <a:latin typeface="Times New Roman"/>
              </a:defRPr>
            </a:pPr>
            <a:r>
              <a:t>3. Traditional Therapy Apps (Examples: BetterHelp, Talkspace)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Traditional therapy platforms connect patients with human therapists at $60 to $100 per hour. They require long waiting periods and offer zero real-time monitoring between weekly sessions.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282828"/>
                </a:solidFill>
                <a:latin typeface="Times New Roman"/>
              </a:defRPr>
            </a:pPr>
            <a:r>
              <a:t>KEFFI AI — Slide 6 of 25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Times New Roman"/>
              </a:defRPr>
            </a:pPr>
            <a:r>
              <a:t>RESEARCH AND SCIENTIFIC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000000"/>
                </a:solidFill>
                <a:latin typeface="Times New Roman"/>
              </a:defRPr>
            </a:pPr>
            <a:r>
              <a:t>1. CBT Meta-Analysis (Hofmann et al., 2012)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Meta-analysis of meta-analyses proving that Cognitive Behavioral Therapy (CBT) reframing achieves a 50-75% symptom reduction in depression and anxiety.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</a:p>
          <a:p>
            <a:pPr>
              <a:spcAft>
                <a:spcPts val="800"/>
              </a:spcAft>
              <a:defRPr sz="1900" b="1">
                <a:solidFill>
                  <a:srgbClr val="000000"/>
                </a:solidFill>
                <a:latin typeface="Times New Roman"/>
              </a:defRPr>
            </a:pPr>
            <a:r>
              <a:t>2. Therapeutic Alliance &amp; Empathy (Norcross &amp; Wampold, 2011)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Empirical medical research proving that person-centered empathetic validation accounts for 30% of treatment success independent of medication.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</a:p>
          <a:p>
            <a:pPr>
              <a:spcAft>
                <a:spcPts val="800"/>
              </a:spcAft>
              <a:defRPr sz="1900" b="1">
                <a:solidFill>
                  <a:srgbClr val="000000"/>
                </a:solidFill>
                <a:latin typeface="Times New Roman"/>
              </a:defRPr>
            </a:pPr>
            <a:r>
              <a:t>3. ACT &amp; Somatic Grounding (Hayes et al., 2006)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Acceptance and Commitment Therapy studies proving that 4-7-8 somatic breathing and sensory grounding reduce acute panic attacks by 45-50%.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</a:p>
          <a:p>
            <a:pPr>
              <a:spcAft>
                <a:spcPts val="800"/>
              </a:spcAft>
              <a:defRPr sz="1900" b="1">
                <a:solidFill>
                  <a:srgbClr val="000000"/>
                </a:solidFill>
                <a:latin typeface="Times New Roman"/>
              </a:defRPr>
            </a:pPr>
            <a:r>
              <a:t>4. Columbia C-SSRS Triage (Posner et al., 2011)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Clinically validated suicide triage protocol powering Keffi's automated emergency SOS and risk escalation pathways.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282828"/>
                </a:solidFill>
                <a:latin typeface="Times New Roman"/>
              </a:defRPr>
            </a:pPr>
            <a:r>
              <a:t>KEFFI AI — Slide 7 of 25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Times New Roman"/>
              </a:defRPr>
            </a:pPr>
            <a:r>
              <a:t>THE STANFORD WOEBOT STUDY: CLINICAL PROOF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000000"/>
                </a:solidFill>
                <a:latin typeface="Times New Roman"/>
              </a:defRPr>
            </a:pPr>
            <a:r>
              <a:t>Stanford University RCT Study (Fitzpatrick et al., JMIR 2017)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A seminal Randomized Controlled Trial evaluating fully automated conversational CBT AI agents in young adults with symptoms of depression and anxiety.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</a:p>
          <a:p>
            <a:pPr>
              <a:spcAft>
                <a:spcPts val="800"/>
              </a:spcAft>
              <a:defRPr sz="1900" b="1">
                <a:solidFill>
                  <a:srgbClr val="000000"/>
                </a:solidFill>
                <a:latin typeface="Times New Roman"/>
              </a:defRPr>
            </a:pPr>
            <a:r>
              <a:t>Key Statistically Significant Findings: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• 22% Reduction in Depression Symptoms within just 2 weeks of engagement compared to control groups.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• Proved that automated, evidence-based conversational therapy provides immediate cognitive reframing that lowers clinical distress.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</a:p>
          <a:p>
            <a:pPr>
              <a:spcAft>
                <a:spcPts val="800"/>
              </a:spcAft>
              <a:defRPr sz="1900" b="1">
                <a:solidFill>
                  <a:srgbClr val="000000"/>
                </a:solidFill>
                <a:latin typeface="Times New Roman"/>
              </a:defRPr>
            </a:pPr>
            <a:r>
              <a:t>Keffi's Technological Advancement: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Keffi AI builds upon this clinical proof by upgrading text-only conversational agents to a multimodal platform featuring camera facial vision, acoustic voice prosody, and clinician XAI heatmaps.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282828"/>
                </a:solidFill>
                <a:latin typeface="Times New Roman"/>
              </a:defRPr>
            </a:pPr>
            <a:r>
              <a:t>KEFFI AI — Slide 8 of 25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Times New Roman"/>
              </a:defRPr>
            </a:pPr>
            <a:r>
              <a:t>LITERATURE SURVEY BENCHMARK MATRIX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• Woebot (JMIR 2017): Automated CBT chatbot | Limitation: Rigid decision trees with zero voice prosody, camera facial reticle, or clinician XAI.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• Wysa (2020): Conversational agent | Limitation: Rule-bound scripts without automated doctor appointment booking or clinician auditing.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• Youper (2021): Mind-monitoring app | Limitation: Proprietary black-box LLM without transparent SHAP/LIME attribution heatmaps.</a:t>
            </a:r>
          </a:p>
          <a:p>
            <a:pPr>
              <a:spcAft>
                <a:spcPts val="800"/>
              </a:spcAft>
              <a:defRPr sz="1900" b="1">
                <a:solidFill>
                  <a:srgbClr val="000000"/>
                </a:solidFill>
                <a:latin typeface="Times New Roman"/>
              </a:defRPr>
            </a:pPr>
            <a:r>
              <a:t>• Keffi AI (2026 Innovation): Industry-first multimodal platform uniting HD facial Reticle vision, Librosa voice prosody, SHAP XAI, and n8n crisis automation.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282828"/>
                </a:solidFill>
                <a:latin typeface="Times New Roman"/>
              </a:defRPr>
            </a:pPr>
            <a:r>
              <a:t>KEFFI AI — Slide 9 of 25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Times New Roman"/>
              </a:defRPr>
            </a:pPr>
            <a:r>
              <a:t>96-STATE CLINICAL EMOTION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000000"/>
                </a:solidFill>
                <a:latin typeface="Times New Roman"/>
              </a:defRPr>
            </a:pPr>
            <a:r>
              <a:t>Fine-Tuned BERT Transformer Model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Custom fine-tuned BERT transformer architecture trained to classify patient inputs across 96 clinically relevant emotional states rather than basic positive/negative labels.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</a:p>
          <a:p>
            <a:pPr>
              <a:spcAft>
                <a:spcPts val="800"/>
              </a:spcAft>
              <a:defRPr sz="1900" b="1">
                <a:solidFill>
                  <a:srgbClr val="000000"/>
                </a:solidFill>
                <a:latin typeface="Times New Roman"/>
              </a:defRPr>
            </a:pPr>
            <a:r>
              <a:t>Comprehensive Clinical Taxonomy: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• 41 Depression Sub-Types (MDD, PDD, Bipolar, Smiling Depression, TRD, Melancholic, Agitated)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• 24 Acute Distress &amp; Anxiety States (Panic, Catastrophizing, Somatic Tremors, Agitation)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• 18 Alleviation &amp; Recovery States (Remission, Recovery, Somatic Stability, Re-engagement)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• 13 Transitional Affective States (Ambivalence, Hesitation, Cognitive Reframing)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</a:p>
          <a:p>
            <a:pPr>
              <a:spcAft>
                <a:spcPts val="800"/>
              </a:spcAft>
              <a:defRPr sz="1900" b="1">
                <a:solidFill>
                  <a:srgbClr val="000000"/>
                </a:solidFill>
                <a:latin typeface="Times New Roman"/>
              </a:defRPr>
            </a:pPr>
            <a:r>
              <a:t>High Classification Efficacy: Achieved 94.8% F1-score accuracy evaluated against benchmark clinical transcripts.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282828"/>
                </a:solidFill>
                <a:latin typeface="Times New Roman"/>
              </a:defRPr>
            </a:pPr>
            <a:r>
              <a:t>KEFFI AI — Slide 10 of 25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Times New Roman"/>
              </a:defRPr>
            </a:pPr>
            <a:r>
              <a:t>41 DEPRESSION TYPES &amp; 18 RECOVERY STATES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000000"/>
                </a:solidFill>
                <a:latin typeface="Times New Roman"/>
              </a:defRPr>
            </a:pPr>
            <a:r>
              <a:t>41 Depression Presentations: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Major Depressive Disorder (MDD), Persistent Depressive Disorder (PDD), Bipolar Swings, Postpartum Depression, Seasonal Affective Disorder (SAD), Smiling Depression, Treatment-Resistant Depression (TRD), Melancholic, Agitated, Psychotic.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</a:p>
          <a:p>
            <a:pPr>
              <a:spcAft>
                <a:spcPts val="800"/>
              </a:spcAft>
              <a:defRPr sz="1900" b="1">
                <a:solidFill>
                  <a:srgbClr val="000000"/>
                </a:solidFill>
                <a:latin typeface="Times New Roman"/>
              </a:defRPr>
            </a:pPr>
            <a:r>
              <a:t>Smiling Depression Detection: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Detects 'Smiling Depression'—a dangerous clinical state where patients exhibit outward optimism while experiencing severe internal suicidal ideation through multimodal facial/voice mismatch analysis.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</a:p>
          <a:p>
            <a:pPr>
              <a:spcAft>
                <a:spcPts val="800"/>
              </a:spcAft>
              <a:defRPr sz="1900" b="1">
                <a:solidFill>
                  <a:srgbClr val="000000"/>
                </a:solidFill>
                <a:latin typeface="Times New Roman"/>
              </a:defRPr>
            </a:pPr>
            <a:r>
              <a:t>18 Alleviation &amp; Recovery States: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Full Remission, Sustained Recovery, Partial Response, Placebo Effect, Somatic Stability, Re-engagement. Identifies Treatment-Resistant Depression (TRD) to prompt timely doctor intervention.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282828"/>
                </a:solidFill>
                <a:latin typeface="Times New Roman"/>
              </a:defRPr>
            </a:pPr>
            <a:r>
              <a:t>KEFFI AI — Slide 11 of 25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Times New Roman"/>
              </a:defRPr>
            </a:pPr>
            <a:r>
              <a:t>MULTIMODAL SENSOR FUSION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5943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000000"/>
                </a:solidFill>
                <a:latin typeface="Times New Roman"/>
              </a:defRPr>
            </a:pPr>
            <a:r>
              <a:t>Tri-Modal Bio-Behavioral Integration:</a:t>
            </a:r>
          </a:p>
          <a:p>
            <a:pPr>
              <a:spcAft>
                <a:spcPts val="600"/>
              </a:spcAft>
              <a:defRPr sz="1500" b="0">
                <a:solidFill>
                  <a:srgbClr val="000000"/>
                </a:solidFill>
                <a:latin typeface="Times New Roman"/>
              </a:defRPr>
            </a:pPr>
            <a:r>
              <a:t>Fuses FINGERS HD Webcam vision, ZEBRONICS mic acoustics, and BERT NLP into a unified 3D physiological affect vector.</a:t>
            </a:r>
          </a:p>
          <a:p>
            <a:pPr>
              <a:spcAft>
                <a:spcPts val="600"/>
              </a:spcAft>
              <a:defRPr sz="1500" b="0">
                <a:solidFill>
                  <a:srgbClr val="000000"/>
                </a:solidFill>
                <a:latin typeface="Times New Roman"/>
              </a:defRPr>
            </a:pPr>
          </a:p>
          <a:p>
            <a:pPr>
              <a:spcAft>
                <a:spcPts val="600"/>
              </a:spcAft>
              <a:defRPr sz="1600" b="1">
                <a:solidFill>
                  <a:srgbClr val="000000"/>
                </a:solidFill>
                <a:latin typeface="Times New Roman"/>
              </a:defRPr>
            </a:pPr>
            <a:r>
              <a:t>Overcoming Text Deception:</a:t>
            </a:r>
          </a:p>
          <a:p>
            <a:pPr>
              <a:spcAft>
                <a:spcPts val="600"/>
              </a:spcAft>
              <a:defRPr sz="1500" b="0">
                <a:solidFill>
                  <a:srgbClr val="000000"/>
                </a:solidFill>
                <a:latin typeface="Times New Roman"/>
              </a:defRPr>
            </a:pPr>
            <a:r>
              <a:t>Captures facial muscle slumps and vocal pitch tremors even when text input claims 'I am fine'.</a:t>
            </a:r>
          </a:p>
          <a:p>
            <a:pPr>
              <a:spcAft>
                <a:spcPts val="600"/>
              </a:spcAft>
              <a:defRPr sz="1500" b="0">
                <a:solidFill>
                  <a:srgbClr val="000000"/>
                </a:solidFill>
                <a:latin typeface="Times New Roman"/>
              </a:defRPr>
            </a:pPr>
          </a:p>
          <a:p>
            <a:pPr>
              <a:spcAft>
                <a:spcPts val="600"/>
              </a:spcAft>
              <a:defRPr sz="1600" b="1">
                <a:solidFill>
                  <a:srgbClr val="000000"/>
                </a:solidFill>
                <a:latin typeface="Times New Roman"/>
              </a:defRPr>
            </a:pPr>
            <a:r>
              <a:t>Diagnostic Efficacy Gain:</a:t>
            </a:r>
          </a:p>
          <a:p>
            <a:pPr>
              <a:spcAft>
                <a:spcPts val="600"/>
              </a:spcAft>
              <a:defRPr sz="1500" b="0">
                <a:solidFill>
                  <a:srgbClr val="000000"/>
                </a:solidFill>
                <a:latin typeface="Times New Roman"/>
              </a:defRPr>
            </a:pPr>
            <a:r>
              <a:t>Improves clinical emotion classification accuracy by 34% compared to single-modality text models.</a:t>
            </a:r>
          </a:p>
        </p:txBody>
      </p:sp>
      <p:pic>
        <p:nvPicPr>
          <p:cNvPr id="4" name="Picture 3" descr="keffi_3d_multimodal_fusion_architecture_178578253483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1371600"/>
            <a:ext cx="4480560" cy="44805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282828"/>
                </a:solidFill>
                <a:latin typeface="Times New Roman"/>
              </a:defRPr>
            </a:pPr>
            <a:r>
              <a:t>KEFFI AI — Slide 12 of 25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Times New Roman"/>
              </a:defRPr>
            </a:pPr>
            <a:r>
              <a:t>FINGERS HD WEBCAM 68-LANDMARK RETICLE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000000"/>
                </a:solidFill>
                <a:latin typeface="Times New Roman"/>
              </a:defRPr>
            </a:pPr>
            <a:r>
              <a:t>Real-Time Computer Vision Reticle Scanner: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Uses FINGERS HD Webcam (720p/1080p) to map 68 facial points around eyebrows, eyes, mouth, and jawline.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</a:p>
          <a:p>
            <a:pPr>
              <a:spcAft>
                <a:spcPts val="800"/>
              </a:spcAft>
              <a:defRPr sz="1900" b="1">
                <a:solidFill>
                  <a:srgbClr val="000000"/>
                </a:solidFill>
                <a:latin typeface="Times New Roman"/>
              </a:defRPr>
            </a:pPr>
            <a:r>
              <a:t>6 Core Facial Affects Detected: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• Anxiety/Panic: Eyebrow contraction &amp; forehead muscle tension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• Depressive Slump: Mouth corner downturn &amp; gaze depression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• Anger/Frustration: Jaw clenching &amp; lip compression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• Fear, Joy, and Neutral Calm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High-Tech Interface: Renders an enlarged 320x320px HD glass container featuring a glowing green tracking mesh reticle and real-time HUD confidence percentage badge.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282828"/>
                </a:solidFill>
                <a:latin typeface="Times New Roman"/>
              </a:defRPr>
            </a:pPr>
            <a:r>
              <a:t>KEFFI AI — Slide 13 of 25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Times New Roman"/>
              </a:defRPr>
            </a:pPr>
            <a:r>
              <a:t>ZEBRONICS MIC ACOUSTIC VOICE PROSODY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000000"/>
                </a:solidFill>
                <a:latin typeface="Times New Roman"/>
              </a:defRPr>
            </a:pPr>
            <a:r>
              <a:t>Librosa Spectral Pitch &amp; Pause Biomarker Processing: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Captures high-fidelity speech audio via ZEBRONICS microphone and Web Speech API speech-to-text conversion.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</a:p>
          <a:p>
            <a:pPr>
              <a:spcAft>
                <a:spcPts val="800"/>
              </a:spcAft>
              <a:defRPr sz="1900" b="1">
                <a:solidFill>
                  <a:srgbClr val="000000"/>
                </a:solidFill>
                <a:latin typeface="Times New Roman"/>
              </a:defRPr>
            </a:pPr>
            <a:r>
              <a:t>Fundamental Frequency (F0 Pitch Delta):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Librosa spectral analysis measuring pitch variance; high pitch (&gt;250Hz) indicates acute panic; monotone low pitch (&lt;120Hz) indicates depressive lethargy.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</a:p>
          <a:p>
            <a:pPr>
              <a:spcAft>
                <a:spcPts val="800"/>
              </a:spcAft>
              <a:defRPr sz="1900" b="1">
                <a:solidFill>
                  <a:srgbClr val="000000"/>
                </a:solidFill>
                <a:latin typeface="Times New Roman"/>
              </a:defRPr>
            </a:pPr>
            <a:r>
              <a:t>Speech Pause Duration: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Measures speech hesitations longer than 2.5 seconds as indicators of cognitive overload, trauma processing, or emotional fatigue.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282828"/>
                </a:solidFill>
                <a:latin typeface="Times New Roman"/>
              </a:defRPr>
            </a:pPr>
            <a:r>
              <a:t>KEFFI AI — Slide 14 of 25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Times New Roman"/>
              </a:defRPr>
            </a:pPr>
            <a:r>
              <a:t>LIVE VIDEO CALL &amp; HANDS-FREE VOICE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000000"/>
                </a:solidFill>
                <a:latin typeface="Times New Roman"/>
              </a:defRPr>
            </a:pPr>
            <a:r>
              <a:t>Real-Time Widescreen Video Call UI Modal: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Full Widescreen HD video window with real-time computer vision HUD overlay and live spoken subtitles.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</a:p>
          <a:p>
            <a:pPr>
              <a:spcAft>
                <a:spcPts val="800"/>
              </a:spcAft>
              <a:defRPr sz="1900" b="1">
                <a:solidFill>
                  <a:srgbClr val="000000"/>
                </a:solidFill>
                <a:latin typeface="Times New Roman"/>
              </a:defRPr>
            </a:pPr>
            <a:r>
              <a:t>Continuous Hands-Free Loop (onend auto-listen):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Speech Synthesis automatically re-engages microphone listening upon response completion, allowing patients to converse continuously back and forth without pressing buttons.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Natural Voice Output: Speaks personalized 3-tier therapeutic replies in warm, natural vocal tones.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282828"/>
                </a:solidFill>
                <a:latin typeface="Times New Roman"/>
              </a:defRPr>
            </a:pPr>
            <a:r>
              <a:t>KEFFI AI — Slide 15 of 25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Times New Roman"/>
              </a:defRPr>
            </a:pPr>
            <a:r>
              <a:t>EXPLAINABLE AI ENGINE (SHAP &amp; LIME)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5943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000000"/>
                </a:solidFill>
                <a:latin typeface="Times New Roman"/>
              </a:defRPr>
            </a:pPr>
            <a:r>
              <a:t>Eliminating Black-Box AI Risks:</a:t>
            </a:r>
          </a:p>
          <a:p>
            <a:pPr>
              <a:spcAft>
                <a:spcPts val="600"/>
              </a:spcAft>
              <a:defRPr sz="1500" b="0">
                <a:solidFill>
                  <a:srgbClr val="000000"/>
                </a:solidFill>
                <a:latin typeface="Times New Roman"/>
              </a:defRPr>
            </a:pPr>
            <a:r>
              <a:t>Generates token attribution heatmaps, color-coding specific words in red (high-risk drivers) or green (calming influences).</a:t>
            </a:r>
          </a:p>
          <a:p>
            <a:pPr>
              <a:spcAft>
                <a:spcPts val="600"/>
              </a:spcAft>
              <a:defRPr sz="1500" b="0">
                <a:solidFill>
                  <a:srgbClr val="000000"/>
                </a:solidFill>
                <a:latin typeface="Times New Roman"/>
              </a:defRPr>
            </a:pPr>
          </a:p>
          <a:p>
            <a:pPr>
              <a:spcAft>
                <a:spcPts val="600"/>
              </a:spcAft>
              <a:defRPr sz="1600" b="1">
                <a:solidFill>
                  <a:srgbClr val="000000"/>
                </a:solidFill>
                <a:latin typeface="Times New Roman"/>
              </a:defRPr>
            </a:pPr>
            <a:r>
              <a:t>SHAP &amp; LIME Attribution:</a:t>
            </a:r>
          </a:p>
          <a:p>
            <a:pPr>
              <a:spcAft>
                <a:spcPts val="600"/>
              </a:spcAft>
              <a:defRPr sz="1500" b="0">
                <a:solidFill>
                  <a:srgbClr val="000000"/>
                </a:solidFill>
                <a:latin typeface="Times New Roman"/>
              </a:defRPr>
            </a:pPr>
            <a:r>
              <a:t>• SHAP: Measures global feature importance across patient interaction history.</a:t>
            </a:r>
          </a:p>
          <a:p>
            <a:pPr>
              <a:spcAft>
                <a:spcPts val="600"/>
              </a:spcAft>
              <a:defRPr sz="1500" b="0">
                <a:solidFill>
                  <a:srgbClr val="000000"/>
                </a:solidFill>
                <a:latin typeface="Times New Roman"/>
              </a:defRPr>
            </a:pPr>
            <a:r>
              <a:t>• LIME: Explains specific high-risk predictions for individual patient messages.</a:t>
            </a:r>
          </a:p>
          <a:p>
            <a:pPr>
              <a:spcAft>
                <a:spcPts val="600"/>
              </a:spcAft>
              <a:defRPr sz="1500" b="0">
                <a:solidFill>
                  <a:srgbClr val="000000"/>
                </a:solidFill>
                <a:latin typeface="Times New Roman"/>
              </a:defRPr>
            </a:pPr>
          </a:p>
          <a:p>
            <a:pPr>
              <a:spcAft>
                <a:spcPts val="600"/>
              </a:spcAft>
              <a:defRPr sz="1600" b="1">
                <a:solidFill>
                  <a:srgbClr val="000000"/>
                </a:solidFill>
                <a:latin typeface="Times New Roman"/>
              </a:defRPr>
            </a:pPr>
            <a:r>
              <a:t>Clinician Auditing: Empowers attending psychiatrists to verify mathematically why Keffi AI flagged a patient as High Risk (&lt;40 MHQ).</a:t>
            </a:r>
          </a:p>
        </p:txBody>
      </p:sp>
      <p:pic>
        <p:nvPicPr>
          <p:cNvPr id="4" name="Picture 3" descr="keffi_3d_shap_lime_explainable_ai_17857825658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1371600"/>
            <a:ext cx="4480560" cy="44805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282828"/>
                </a:solidFill>
                <a:latin typeface="Times New Roman"/>
              </a:defRPr>
            </a:pPr>
            <a:r>
              <a:t>KEFFI AI — Slide 16 of 25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0000"/>
                </a:solidFill>
                <a:latin typeface="Times New Roman"/>
              </a:defRPr>
            </a:pPr>
            <a:r>
              <a:t>LAYERED AI INFRASTRUCTURE &amp; BACKEND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5943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000000"/>
                </a:solidFill>
                <a:latin typeface="Times New Roman"/>
              </a:defRPr>
            </a:pPr>
            <a:r>
              <a:t>4-Layered Cloud Architecture:</a:t>
            </a:r>
          </a:p>
          <a:p>
            <a:pPr>
              <a:spcAft>
                <a:spcPts val="600"/>
              </a:spcAft>
              <a:defRPr sz="1500" b="0">
                <a:solidFill>
                  <a:srgbClr val="000000"/>
                </a:solidFill>
                <a:latin typeface="Times New Roman"/>
              </a:defRPr>
            </a:pPr>
            <a:r>
              <a:t>1. Presentation Layer: React 18 + Vite frontend with TailwindCSS and glassmorphic UI tokens.</a:t>
            </a:r>
          </a:p>
          <a:p>
            <a:pPr>
              <a:spcAft>
                <a:spcPts val="600"/>
              </a:spcAft>
              <a:defRPr sz="1500" b="0">
                <a:solidFill>
                  <a:srgbClr val="000000"/>
                </a:solidFill>
                <a:latin typeface="Times New Roman"/>
              </a:defRPr>
            </a:pPr>
            <a:r>
              <a:t>2. API Gateway Layer: FastAPI REST server handling asynchronous CORS and routing.</a:t>
            </a:r>
          </a:p>
          <a:p>
            <a:pPr>
              <a:spcAft>
                <a:spcPts val="600"/>
              </a:spcAft>
              <a:defRPr sz="1500" b="0">
                <a:solidFill>
                  <a:srgbClr val="000000"/>
                </a:solidFill>
                <a:latin typeface="Times New Roman"/>
              </a:defRPr>
            </a:pPr>
            <a:r>
              <a:t>3. Cloud AI Brain: HuggingFace Cloud Space (Balajikrishnan031/Keffi-Backend) running PyTorch BERT transformer.</a:t>
            </a:r>
          </a:p>
          <a:p>
            <a:pPr>
              <a:spcAft>
                <a:spcPts val="600"/>
              </a:spcAft>
              <a:defRPr sz="1500" b="0">
                <a:solidFill>
                  <a:srgbClr val="000000"/>
                </a:solidFill>
                <a:latin typeface="Times New Roman"/>
              </a:defRPr>
            </a:pPr>
            <a:r>
              <a:t>4. Data Persistence Layer: High-concurrency Write-Ahead Logging (WAL) SQLite engine.</a:t>
            </a:r>
          </a:p>
        </p:txBody>
      </p:sp>
      <p:pic>
        <p:nvPicPr>
          <p:cNvPr id="4" name="Picture 3" descr="keffi_3d_layered_system_architecture_178578255046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1371600"/>
            <a:ext cx="4480560" cy="44805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282828"/>
                </a:solidFill>
                <a:latin typeface="Times New Roman"/>
              </a:defRPr>
            </a:pPr>
            <a:r>
              <a:t>KEFFI AI — Slide 17 of 25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Times New Roman"/>
              </a:defRPr>
            </a:pPr>
            <a:r>
              <a:t>N8N CLINICAL AUTOMATION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000000"/>
                </a:solidFill>
                <a:latin typeface="Times New Roman"/>
              </a:defRPr>
            </a:pPr>
            <a:r>
              <a:t>Automated Crisis Protocol &amp; Multi-Channel Webhooks: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When the BERT model or C-SSRS triage protocol detects self-harm keywords or severe panic surges (&lt;40 MHQ), the system bypasses standard chat and executes a safety-critical crisis branch.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</a:p>
          <a:p>
            <a:pPr>
              <a:spcAft>
                <a:spcPts val="800"/>
              </a:spcAft>
              <a:defRPr sz="1900" b="1">
                <a:solidFill>
                  <a:srgbClr val="000000"/>
                </a:solidFill>
                <a:latin typeface="Times New Roman"/>
              </a:defRPr>
            </a:pPr>
            <a:r>
              <a:t>Multi-Channel Dispatches: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The n8n workflow engine dispatches real-time webhooks, triggering instant WhatsApp messages and SMS alerts to designated family caregivers and attending psychiatrists.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</a:p>
          <a:p>
            <a:pPr>
              <a:spcAft>
                <a:spcPts val="800"/>
              </a:spcAft>
              <a:defRPr sz="1900" b="1">
                <a:solidFill>
                  <a:srgbClr val="000000"/>
                </a:solidFill>
                <a:latin typeface="Times New Roman"/>
              </a:defRPr>
            </a:pPr>
            <a:r>
              <a:t>Zero-Latency Escalation: Eliminates manual reporting delays during life-threatening emotional crises.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282828"/>
                </a:solidFill>
                <a:latin typeface="Times New Roman"/>
              </a:defRPr>
            </a:pPr>
            <a:r>
              <a:t>KEFFI AI — Slide 18 of 25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Times New Roman"/>
              </a:defRPr>
            </a:pPr>
            <a:r>
              <a:t>EXECUTIVE ADMIN CLINICAL HUB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000000"/>
                </a:solidFill>
                <a:latin typeface="Times New Roman"/>
              </a:defRPr>
            </a:pPr>
            <a:r>
              <a:t>Centralized Outpatient Supervision Dashboard: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Formatted in clean corporate dark teal typography (#2C5555), removing cluttered script fonts for medical clarity.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</a:p>
          <a:p>
            <a:pPr>
              <a:spcAft>
                <a:spcPts val="800"/>
              </a:spcAft>
              <a:defRPr sz="1900" b="1">
                <a:solidFill>
                  <a:srgbClr val="000000"/>
                </a:solidFill>
                <a:latin typeface="Times New Roman"/>
              </a:defRPr>
            </a:pPr>
            <a:r>
              <a:t>Risk Category Filtering: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Supervisors can filter patient rosters across High Risk (&lt;40 MHQ), Moderate Risk (40-70 MHQ), and Low Risk (&gt;70 MHQ) tiers instantly.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Complete Transcripts: Displays complete historical conversation transcripts with timestamped BERT emotion tags, SHAP heatmaps, and Librosa prosody metrics.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282828"/>
                </a:solidFill>
                <a:latin typeface="Times New Roman"/>
              </a:defRPr>
            </a:pPr>
            <a:r>
              <a:t>KEFFI AI — Slide 19 of 25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Times New Roman"/>
              </a:defRPr>
            </a:pPr>
            <a:r>
              <a:t>AUTOMATED DOCTOR APPOINTMENT BOOKING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000000"/>
                </a:solidFill>
                <a:latin typeface="Times New Roman"/>
              </a:defRPr>
            </a:pPr>
            <a:r>
              <a:t>Seamless Clinical Intervention for High-Risk Patients: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Direct scheduling with lead psychiatrists (Dr. S. Sivanesh M.Tech., Ph.D. or Dr. S. Rajesh M.D. Psychiatry).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</a:p>
          <a:p>
            <a:pPr>
              <a:spcAft>
                <a:spcPts val="800"/>
              </a:spcAft>
              <a:defRPr sz="1900" b="1">
                <a:solidFill>
                  <a:srgbClr val="000000"/>
                </a:solidFill>
                <a:latin typeface="Times New Roman"/>
              </a:defRPr>
            </a:pPr>
            <a:r>
              <a:t>One-Click Auto-Booking: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Clinical supervisors can trigger automated appointment booking directly from the Admin Hub with 1 click.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Slot Reservation &amp; Confirmation: Reserves date/time slots in SQLite database and dispatches automated WhatsApp confirmation toasts.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282828"/>
                </a:solidFill>
                <a:latin typeface="Times New Roman"/>
              </a:defRPr>
            </a:pPr>
            <a:r>
              <a:t>KEFFI AI — Slide 20 of 25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Times New Roman"/>
              </a:defRPr>
            </a:pPr>
            <a:r>
              <a:t>HYBRID PHQ-9 &amp; MHQ SCORING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000000"/>
                </a:solidFill>
                <a:latin typeface="Times New Roman"/>
              </a:defRPr>
            </a:pPr>
            <a:r>
              <a:t>Quantitative Wellness Metrics: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Mental Health Quotient (MHQ) dynamic 0-100 wellness score integrated with automated DSM-5 PHQ-9 depression evaluations.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</a:p>
          <a:p>
            <a:pPr>
              <a:spcAft>
                <a:spcPts val="800"/>
              </a:spcAft>
              <a:defRPr sz="1900" b="1">
                <a:solidFill>
                  <a:srgbClr val="000000"/>
                </a:solidFill>
                <a:latin typeface="Times New Roman"/>
              </a:defRPr>
            </a:pPr>
            <a:r>
              <a:t>9 Clinical Criteria Evaluated: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Depressed mood, anhedonia, sleep disturbance, fatigue, appetite changes, worthlessness, concentration difficulty, agitation, self-harm ideation.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Risk Stratification Tiers: High Risk (&lt;40 MHQ), Moderate Risk (40-70 MHQ), Low Risk (&gt;70 MHQ). Tracks score deltas across time to alert supervisors to emotional drops.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282828"/>
                </a:solidFill>
                <a:latin typeface="Times New Roman"/>
              </a:defRPr>
            </a:pPr>
            <a:r>
              <a:t>KEFFI AI — Slide 21 of 25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Times New Roman"/>
              </a:defRPr>
            </a:pPr>
            <a:r>
              <a:t>ATTRITION &amp; LOSS OF FOLLOW-UP ANALYTICS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000000"/>
                </a:solidFill>
                <a:latin typeface="Times New Roman"/>
              </a:defRPr>
            </a:pPr>
            <a:r>
              <a:t>20 Attrition Categories: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Tracks voluntary dropout, stigma-induced exit, non-compliance, perceived recovery, and demographic transition.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</a:p>
          <a:p>
            <a:pPr>
              <a:spcAft>
                <a:spcPts val="800"/>
              </a:spcAft>
              <a:defRPr sz="1900" b="1">
                <a:solidFill>
                  <a:srgbClr val="000000"/>
                </a:solidFill>
                <a:latin typeface="Times New Roman"/>
              </a:defRPr>
            </a:pPr>
            <a:r>
              <a:t>17 Loss of Follow-up Types: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Classifies silent contact loss, passive dropout, geographic relocation, morbidity, and administrative system loss.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Proactive Re-engagement: Triggers automated n8n workflow check-ins when patients remain inactive for more than 48 hours.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282828"/>
                </a:solidFill>
                <a:latin typeface="Times New Roman"/>
              </a:defRPr>
            </a:pPr>
            <a:r>
              <a:t>KEFFI AI — Slide 22 of 25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Times New Roman"/>
              </a:defRPr>
            </a:pPr>
            <a:r>
              <a:t>SOMATIC &amp; GROUNDING CBT INTERVENTIONS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000000"/>
                </a:solidFill>
                <a:latin typeface="Times New Roman"/>
              </a:defRPr>
            </a:pPr>
            <a:r>
              <a:t>4-7-8 Somatic Breathing: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Visual pacing guide (inhale 4s, hold 7s, exhale 8s) stimulating the parasympathetic vagus nerve to lower heart rate and calm panic.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</a:p>
          <a:p>
            <a:pPr>
              <a:spcAft>
                <a:spcPts val="800"/>
              </a:spcAft>
              <a:defRPr sz="1900" b="1">
                <a:solidFill>
                  <a:srgbClr val="000000"/>
                </a:solidFill>
                <a:latin typeface="Times New Roman"/>
              </a:defRPr>
            </a:pPr>
            <a:r>
              <a:t>5-4-3-2-1 Sensory Grounding: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Interactive exercise guiding patients to identify 5 sights, 4 touch sensations, 3 sounds, 2 smells, and 1 taste.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Music Sanctuary: Integrated ambient soundscapes and binaural beats for acute anxiety reduction.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282828"/>
                </a:solidFill>
                <a:latin typeface="Times New Roman"/>
              </a:defRPr>
            </a:pPr>
            <a:r>
              <a:t>KEFFI AI — Slide 23 of 25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Times New Roman"/>
              </a:defRPr>
            </a:pPr>
            <a:r>
              <a:t>FINANCIAL UTILIZATION &amp; BUDGET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000000"/>
                </a:solidFill>
                <a:latin typeface="Times New Roman"/>
              </a:defRPr>
            </a:pPr>
            <a:r>
              <a:t>TNSDC Grant Utilization Breakdown (Max Limit: ₹15,000.00):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• Item 1: 6x3ft Roll-Up Standee &amp; Hardbound Reports Printing -&gt; ₹2,500.00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• Item 2: Wireless USB Microphone &amp; Presenter (Voice AI Demo) -&gt; ₹4,000.00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• Item 3: Regional Review Evaluation &amp; Team Logistics Transport -&gt; ₹3,000.00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• Item 4: HD Web Camera (Affective Vision &amp; Journey Video) -&gt; ₹5,500.00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</a:p>
          <a:p>
            <a:pPr>
              <a:spcAft>
                <a:spcPts val="800"/>
              </a:spcAft>
              <a:defRPr sz="1900" b="1">
                <a:solidFill>
                  <a:srgbClr val="000000"/>
                </a:solidFill>
                <a:latin typeface="Times New Roman"/>
              </a:defRPr>
            </a:pPr>
            <a:r>
              <a:t>Total Utilized: ₹15,000.00 | Billed to: The Director, Centre for Academic Courses, Anna University, Chennai.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282828"/>
                </a:solidFill>
                <a:latin typeface="Times New Roman"/>
              </a:defRPr>
            </a:pPr>
            <a:r>
              <a:t>KEFFI AI — Slide 24 of 25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Times New Roman"/>
              </a:defRPr>
            </a:pPr>
            <a:r>
              <a:t>THANK YOU &amp; LIVE DEMO Q&amp;A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000000"/>
                </a:solidFill>
                <a:latin typeface="Times New Roman"/>
              </a:defRPr>
            </a:pPr>
            <a:r>
              <a:t>HACKERS TEAM | University College of Engineering Panruti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Members: MADHUMATHI S, BALAJI P, MALINI V | Guide: DR. S. SIVANESH M.Tech., Ph.D.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</a:p>
          <a:p>
            <a:pPr>
              <a:spcAft>
                <a:spcPts val="800"/>
              </a:spcAft>
              <a:defRPr sz="1900" b="1">
                <a:solidFill>
                  <a:srgbClr val="000000"/>
                </a:solidFill>
                <a:latin typeface="Times New Roman"/>
              </a:defRPr>
            </a:pPr>
            <a:r>
              <a:t>Live Production Deployment URLs: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• Live Frontend Web App: https://keffi-test.vercel.app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• Live Cloud Backend API: https://balajikrishnan031-keffi-backend.hf.space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</a:p>
          <a:p>
            <a:pPr>
              <a:spcAft>
                <a:spcPts val="800"/>
              </a:spcAft>
              <a:defRPr sz="1900" b="1">
                <a:solidFill>
                  <a:srgbClr val="000000"/>
                </a:solidFill>
                <a:latin typeface="Times New Roman"/>
              </a:defRPr>
            </a:pPr>
            <a:r>
              <a:t>Conclusion: Keffi AI democratizes 24/7 accessible affective mental healthcare across Tamil Nadu, closing the 167-hour care gap. We welcome questions from the Naan Mudhalvan Jury Panel!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282828"/>
                </a:solidFill>
                <a:latin typeface="Times New Roman"/>
              </a:defRPr>
            </a:pPr>
            <a:r>
              <a:t>KEFFI AI — Slide 25 of 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