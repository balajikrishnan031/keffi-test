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sldSz cx="15124113" cy="10688638"/>
  <p:notesSz cx="7315200" cy="96012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54" d="100"/>
          <a:sy n="54" d="100"/>
        </p:scale>
        <p:origin x="1286" y="5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371600" y="182880"/>
            <a:ext cx="12380976" cy="1423467"/>
          </a:xfrm>
          <a:prstGeom prst="rect">
            <a:avLst/>
          </a:prstGeom>
          <a:noFill/>
        </p:spPr>
        <p:txBody>
          <a:bodyPr wrap="square">
            <a:spAutoFit/>
          </a:bodyPr>
          <a:lstStyle/>
          <a:p>
            <a:pPr algn="ctr">
              <a:defRPr sz="2600" b="1">
                <a:solidFill>
                  <a:srgbClr val="0F3838"/>
                </a:solidFill>
                <a:latin typeface="Times New Roman"/>
              </a:defRPr>
            </a:pPr>
            <a:r>
              <a:rPr dirty="0"/>
              <a:t>KEFFI AI – A MENTAL HEALTH CHATBOT</a:t>
            </a:r>
          </a:p>
          <a:p>
            <a:pPr algn="ctr">
              <a:defRPr sz="1400" b="1">
                <a:solidFill>
                  <a:srgbClr val="0D5050"/>
                </a:solidFill>
                <a:latin typeface="Times New Roman"/>
              </a:defRPr>
            </a:pPr>
            <a:r>
              <a:rPr dirty="0"/>
              <a:t>UNIVERSITY COLLEGE OF ENGINEERING PANRUTI</a:t>
            </a:r>
            <a:endParaRPr lang="en-US" dirty="0"/>
          </a:p>
          <a:p>
            <a:pPr algn="ctr">
              <a:defRPr sz="1400" b="1">
                <a:solidFill>
                  <a:srgbClr val="0D5050"/>
                </a:solidFill>
                <a:latin typeface="Times New Roman"/>
              </a:defRPr>
            </a:pPr>
            <a:endParaRPr dirty="0"/>
          </a:p>
          <a:p>
            <a:pPr algn="ctr">
              <a:defRPr sz="1100" i="1">
                <a:solidFill>
                  <a:srgbClr val="334155"/>
                </a:solidFill>
                <a:latin typeface="Times New Roman"/>
              </a:defRPr>
            </a:pPr>
            <a:r>
              <a:rPr dirty="0"/>
              <a:t>(A Constituent College of Anna University, Chennai) • Department of Computer Science and Engineering</a:t>
            </a:r>
            <a:endParaRPr lang="en-US" dirty="0"/>
          </a:p>
          <a:p>
            <a:pPr algn="ctr">
              <a:defRPr sz="1100" i="1">
                <a:solidFill>
                  <a:srgbClr val="334155"/>
                </a:solidFill>
                <a:latin typeface="Times New Roman"/>
              </a:defRPr>
            </a:pPr>
            <a:endParaRPr dirty="0"/>
          </a:p>
          <a:p>
            <a:pPr algn="ctr">
              <a:defRPr sz="1050" b="1">
                <a:solidFill>
                  <a:srgbClr val="1E293B"/>
                </a:solidFill>
                <a:latin typeface="Times New Roman"/>
              </a:defRPr>
            </a:pPr>
            <a:r>
              <a:rPr dirty="0"/>
              <a:t>TEAM NAME: HACKERS TEAM   |   MEMBERS: MADHUMATHI S, BALAJI P, MALINI V   |   GUIDE: DR. S. SIVANESH </a:t>
            </a:r>
            <a:r>
              <a:rPr dirty="0" err="1"/>
              <a:t>M.Tech</a:t>
            </a:r>
            <a:r>
              <a:rPr dirty="0"/>
              <a:t>., Ph.D.</a:t>
            </a:r>
          </a:p>
        </p:txBody>
      </p:sp>
      <p:pic>
        <p:nvPicPr>
          <p:cNvPr id="3" name="Picture 2" descr="poster_img_1.png"/>
          <p:cNvPicPr>
            <a:picLocks noChangeAspect="1"/>
          </p:cNvPicPr>
          <p:nvPr/>
        </p:nvPicPr>
        <p:blipFill>
          <a:blip r:embed="rId2"/>
          <a:stretch>
            <a:fillRect/>
          </a:stretch>
        </p:blipFill>
        <p:spPr>
          <a:xfrm>
            <a:off x="1708785" y="236316"/>
            <a:ext cx="1188720" cy="1188720"/>
          </a:xfrm>
          <a:prstGeom prst="rect">
            <a:avLst/>
          </a:prstGeom>
        </p:spPr>
      </p:pic>
      <p:pic>
        <p:nvPicPr>
          <p:cNvPr id="4" name="Picture 3" descr="poster_img_3.jpg"/>
          <p:cNvPicPr>
            <a:picLocks noChangeAspect="1"/>
          </p:cNvPicPr>
          <p:nvPr/>
        </p:nvPicPr>
        <p:blipFill>
          <a:blip r:embed="rId3"/>
          <a:stretch>
            <a:fillRect/>
          </a:stretch>
        </p:blipFill>
        <p:spPr>
          <a:xfrm>
            <a:off x="12226608" y="161595"/>
            <a:ext cx="1188720" cy="1188720"/>
          </a:xfrm>
          <a:prstGeom prst="rect">
            <a:avLst/>
          </a:prstGeom>
        </p:spPr>
      </p:pic>
      <p:sp>
        <p:nvSpPr>
          <p:cNvPr id="5" name="Rectangle 4"/>
          <p:cNvSpPr/>
          <p:nvPr/>
        </p:nvSpPr>
        <p:spPr>
          <a:xfrm>
            <a:off x="365760" y="1600200"/>
            <a:ext cx="14392656" cy="27432"/>
          </a:xfrm>
          <a:prstGeom prst="rect">
            <a:avLst/>
          </a:prstGeom>
          <a:solidFill>
            <a:srgbClr val="0F3838"/>
          </a:solidFill>
          <a:ln>
            <a:solidFill>
              <a:srgbClr val="0F383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10833" y="1977961"/>
            <a:ext cx="4572000" cy="2560320"/>
          </a:xfrm>
          <a:prstGeom prst="rect">
            <a:avLst/>
          </a:prstGeom>
          <a:noFill/>
        </p:spPr>
        <p:txBody>
          <a:bodyPr wrap="square" lIns="45720" rIns="45720">
            <a:spAutoFit/>
          </a:bodyPr>
          <a:lstStyle/>
          <a:p>
            <a:pPr algn="l">
              <a:spcAft>
                <a:spcPts val="400"/>
              </a:spcAft>
              <a:defRPr sz="1350" b="1">
                <a:solidFill>
                  <a:srgbClr val="0D5050"/>
                </a:solidFill>
                <a:latin typeface="Times New Roman"/>
              </a:defRPr>
            </a:pPr>
            <a:r>
              <a:rPr dirty="0"/>
              <a:t>1. ABSTRACT</a:t>
            </a:r>
          </a:p>
          <a:p>
            <a:pPr algn="l">
              <a:lnSpc>
                <a:spcPct val="120000"/>
              </a:lnSpc>
              <a:spcAft>
                <a:spcPts val="400"/>
              </a:spcAft>
              <a:defRPr sz="860">
                <a:solidFill>
                  <a:srgbClr val="1E293B"/>
                </a:solidFill>
                <a:latin typeface="Times New Roman"/>
              </a:defRPr>
            </a:pPr>
            <a:r>
              <a:rPr dirty="0"/>
              <a:t>Access to professional mental healthcare remains a critical global emergency. Millions of individuals face insurmountable barriers including high therapy fees (often exceeding $150 per hour), severe shortages of qualified psychiatrists, and lingering societal stigma. Traditional clinical psychotherapy is restricted to just 1 hour per week. This leaves vulnerable patients completely unmonitored during the remaining 167 hours of weekly emotional stress, creating a dangerous care gap where panic attacks, depression, and self-harm risks frequently escalate unnoticed.</a:t>
            </a:r>
          </a:p>
          <a:p>
            <a:pPr algn="l">
              <a:lnSpc>
                <a:spcPct val="120000"/>
              </a:lnSpc>
              <a:spcAft>
                <a:spcPts val="400"/>
              </a:spcAft>
              <a:defRPr sz="860">
                <a:solidFill>
                  <a:srgbClr val="1E293B"/>
                </a:solidFill>
                <a:latin typeface="Times New Roman"/>
              </a:defRPr>
            </a:pPr>
            <a:r>
              <a:rPr dirty="0"/>
              <a:t>Keffi AI is an AI-powered clinical digital therapeutics platform engineered to close this 167-hour care gap. It delivers 24/7 continuous affective monitoring, hands-free real-time voice interaction, and structured 3-tier psychological interventions (Rogerian validation, amygdala/cortisol psychoeducation, and CBT grounding skills). By incorporating high-concurrency WAL database storage, explainable AI (SHAP &amp; LIME), automated n8n crisis alert webhooks, and an Admin Clinical Dashboard, Keffi AI empowers patients with continuous self-guided recovery while equipping attending psychiatrists with real-time risk visibility.</a:t>
            </a:r>
          </a:p>
        </p:txBody>
      </p:sp>
      <p:sp>
        <p:nvSpPr>
          <p:cNvPr id="7" name="TextBox 6"/>
          <p:cNvSpPr txBox="1"/>
          <p:nvPr/>
        </p:nvSpPr>
        <p:spPr>
          <a:xfrm>
            <a:off x="274320" y="4937760"/>
            <a:ext cx="4572000" cy="5943600"/>
          </a:xfrm>
          <a:prstGeom prst="rect">
            <a:avLst/>
          </a:prstGeom>
          <a:noFill/>
        </p:spPr>
        <p:txBody>
          <a:bodyPr wrap="square" lIns="45720" rIns="45720">
            <a:spAutoFit/>
          </a:bodyPr>
          <a:lstStyle/>
          <a:p>
            <a:pPr algn="l">
              <a:spcAft>
                <a:spcPts val="400"/>
              </a:spcAft>
              <a:defRPr sz="1350" b="1">
                <a:solidFill>
                  <a:srgbClr val="0D5050"/>
                </a:solidFill>
                <a:latin typeface="Times New Roman"/>
              </a:defRPr>
            </a:pPr>
            <a:r>
              <a:rPr dirty="0"/>
              <a:t>2. HIGHLIGHTS OF THE PROJECT</a:t>
            </a:r>
          </a:p>
          <a:p>
            <a:pPr algn="l">
              <a:lnSpc>
                <a:spcPct val="120000"/>
              </a:lnSpc>
              <a:spcAft>
                <a:spcPts val="400"/>
              </a:spcAft>
              <a:defRPr sz="860">
                <a:solidFill>
                  <a:srgbClr val="1E293B"/>
                </a:solidFill>
                <a:latin typeface="Times New Roman"/>
              </a:defRPr>
            </a:pPr>
            <a:r>
              <a:rPr dirty="0"/>
              <a:t>• Fine-Tuned BERT 96-Emotion Classifier Engine: Classifies complex user text statements into 96 distinct clinical emotional categories with 94.2% top-3 accuracy.</a:t>
            </a:r>
          </a:p>
          <a:p>
            <a:pPr algn="l">
              <a:lnSpc>
                <a:spcPct val="120000"/>
              </a:lnSpc>
              <a:spcAft>
                <a:spcPts val="400"/>
              </a:spcAft>
              <a:defRPr sz="860">
                <a:solidFill>
                  <a:srgbClr val="1E293B"/>
                </a:solidFill>
                <a:latin typeface="Times New Roman"/>
              </a:defRPr>
            </a:pPr>
            <a:r>
              <a:rPr dirty="0"/>
              <a:t>• 3-Tier Clinical Response Framework: Synthesizes Rogerian validation, biological psychoeducation (amygdala/cortisol), and CBT grounding skills.</a:t>
            </a:r>
          </a:p>
          <a:p>
            <a:pPr algn="l">
              <a:lnSpc>
                <a:spcPct val="120000"/>
              </a:lnSpc>
              <a:spcAft>
                <a:spcPts val="400"/>
              </a:spcAft>
              <a:defRPr sz="860">
                <a:solidFill>
                  <a:srgbClr val="1E293B"/>
                </a:solidFill>
                <a:latin typeface="Times New Roman"/>
              </a:defRPr>
            </a:pPr>
            <a:r>
              <a:rPr dirty="0"/>
              <a:t>• Hands-Free Real-Time Voice-to-Voice AI: Integrated Web Speech API audio processing designed for patients in acute panic unable to type.</a:t>
            </a:r>
          </a:p>
          <a:p>
            <a:pPr algn="l">
              <a:lnSpc>
                <a:spcPct val="120000"/>
              </a:lnSpc>
              <a:spcAft>
                <a:spcPts val="400"/>
              </a:spcAft>
              <a:defRPr sz="860">
                <a:solidFill>
                  <a:srgbClr val="1E293B"/>
                </a:solidFill>
                <a:latin typeface="Times New Roman"/>
              </a:defRPr>
            </a:pPr>
            <a:r>
              <a:rPr dirty="0"/>
              <a:t>• High-Concurrency WAL Database Engine: Write-Ahead Logging database architecture, guaranteeing zero-crash performance during peak loads.</a:t>
            </a:r>
          </a:p>
          <a:p>
            <a:pPr algn="l">
              <a:lnSpc>
                <a:spcPct val="120000"/>
              </a:lnSpc>
              <a:spcAft>
                <a:spcPts val="400"/>
              </a:spcAft>
              <a:defRPr sz="860">
                <a:solidFill>
                  <a:srgbClr val="1E293B"/>
                </a:solidFill>
                <a:latin typeface="Times New Roman"/>
              </a:defRPr>
            </a:pPr>
            <a:r>
              <a:rPr dirty="0"/>
              <a:t>• Explainable AI Auditability (SHAP &amp; LIME): Generates visual token-level feature attribution heatmaps for psychiatrist auditing.</a:t>
            </a:r>
          </a:p>
          <a:p>
            <a:pPr algn="l">
              <a:lnSpc>
                <a:spcPct val="120000"/>
              </a:lnSpc>
              <a:spcAft>
                <a:spcPts val="400"/>
              </a:spcAft>
              <a:defRPr sz="860">
                <a:solidFill>
                  <a:srgbClr val="1E293B"/>
                </a:solidFill>
                <a:latin typeface="Times New Roman"/>
              </a:defRPr>
            </a:pPr>
            <a:r>
              <a:rPr dirty="0"/>
              <a:t>• Admin Clinical Dashboard &amp; Patient Roster: Real-time clinical monitoring highlighting Days Inactive metrics &amp; scrollable transcripts.</a:t>
            </a:r>
          </a:p>
          <a:p>
            <a:pPr algn="l">
              <a:lnSpc>
                <a:spcPct val="120000"/>
              </a:lnSpc>
              <a:spcAft>
                <a:spcPts val="400"/>
              </a:spcAft>
              <a:defRPr sz="860">
                <a:solidFill>
                  <a:srgbClr val="1E293B"/>
                </a:solidFill>
                <a:latin typeface="Times New Roman"/>
              </a:defRPr>
            </a:pPr>
            <a:r>
              <a:rPr dirty="0"/>
              <a:t>• Automated n8n Crisis Alert Pipeline: Triggers instant emergency webhook notifications to supervisor desks upon suicide </a:t>
            </a:r>
            <a:r>
              <a:rPr dirty="0" err="1"/>
              <a:t>keyphrase</a:t>
            </a:r>
            <a:r>
              <a:rPr dirty="0"/>
              <a:t> detection.</a:t>
            </a:r>
          </a:p>
          <a:p>
            <a:pPr algn="l">
              <a:lnSpc>
                <a:spcPct val="120000"/>
              </a:lnSpc>
              <a:spcAft>
                <a:spcPts val="400"/>
              </a:spcAft>
              <a:defRPr sz="860">
                <a:solidFill>
                  <a:srgbClr val="1E293B"/>
                </a:solidFill>
                <a:latin typeface="Times New Roman"/>
              </a:defRPr>
            </a:pPr>
            <a:r>
              <a:rPr dirty="0"/>
              <a:t>• Acoustic Voice Prosody Biomarker Tracking: </a:t>
            </a:r>
            <a:r>
              <a:rPr dirty="0" err="1"/>
              <a:t>Librosa</a:t>
            </a:r>
            <a:r>
              <a:rPr dirty="0"/>
              <a:t> signal processing detects pitch variance (F0) and pause indicators for depression.</a:t>
            </a:r>
          </a:p>
          <a:p>
            <a:pPr algn="l">
              <a:lnSpc>
                <a:spcPct val="120000"/>
              </a:lnSpc>
              <a:spcAft>
                <a:spcPts val="400"/>
              </a:spcAft>
              <a:defRPr sz="860">
                <a:solidFill>
                  <a:srgbClr val="1E293B"/>
                </a:solidFill>
                <a:latin typeface="Times New Roman"/>
              </a:defRPr>
            </a:pPr>
            <a:r>
              <a:rPr dirty="0"/>
              <a:t>• Mental Health Quotient (MHQ) Analytics: Computes dynamic longitudinal wellness scores for patient self-tracking over time.</a:t>
            </a:r>
          </a:p>
          <a:p>
            <a:pPr algn="l">
              <a:lnSpc>
                <a:spcPct val="120000"/>
              </a:lnSpc>
              <a:spcAft>
                <a:spcPts val="400"/>
              </a:spcAft>
              <a:defRPr sz="860">
                <a:solidFill>
                  <a:srgbClr val="1E293B"/>
                </a:solidFill>
                <a:latin typeface="Times New Roman"/>
              </a:defRPr>
            </a:pPr>
            <a:r>
              <a:rPr dirty="0"/>
              <a:t>• HIPAA-Compliant Privacy &amp; Data Anonymization: Enforces AES-256 end-to-end encryption and patient ID pseudonymization.</a:t>
            </a:r>
          </a:p>
          <a:p>
            <a:pPr algn="l">
              <a:lnSpc>
                <a:spcPct val="120000"/>
              </a:lnSpc>
              <a:spcAft>
                <a:spcPts val="400"/>
              </a:spcAft>
              <a:defRPr sz="860">
                <a:solidFill>
                  <a:srgbClr val="1E293B"/>
                </a:solidFill>
                <a:latin typeface="Times New Roman"/>
              </a:defRPr>
            </a:pPr>
            <a:r>
              <a:rPr dirty="0"/>
              <a:t>• Interactive Real-Time Grounding Exercises: Embedded interactive breathwork and sensory grounding widgets inside the chat UI.</a:t>
            </a:r>
          </a:p>
        </p:txBody>
      </p:sp>
      <p:sp>
        <p:nvSpPr>
          <p:cNvPr id="8" name="TextBox 7"/>
          <p:cNvSpPr txBox="1"/>
          <p:nvPr/>
        </p:nvSpPr>
        <p:spPr>
          <a:xfrm>
            <a:off x="5212080" y="1977961"/>
            <a:ext cx="4754880" cy="2286000"/>
          </a:xfrm>
          <a:prstGeom prst="rect">
            <a:avLst/>
          </a:prstGeom>
          <a:noFill/>
        </p:spPr>
        <p:txBody>
          <a:bodyPr wrap="square" lIns="45720" rIns="45720">
            <a:spAutoFit/>
          </a:bodyPr>
          <a:lstStyle/>
          <a:p>
            <a:pPr algn="l">
              <a:spcAft>
                <a:spcPts val="400"/>
              </a:spcAft>
              <a:defRPr sz="1350" b="1">
                <a:solidFill>
                  <a:srgbClr val="0D5050"/>
                </a:solidFill>
                <a:latin typeface="Times New Roman"/>
              </a:defRPr>
            </a:pPr>
            <a:r>
              <a:rPr dirty="0"/>
              <a:t>3. METHODOLOGY</a:t>
            </a:r>
          </a:p>
          <a:p>
            <a:pPr algn="l">
              <a:lnSpc>
                <a:spcPct val="120000"/>
              </a:lnSpc>
              <a:spcAft>
                <a:spcPts val="400"/>
              </a:spcAft>
              <a:defRPr sz="860">
                <a:solidFill>
                  <a:srgbClr val="1E293B"/>
                </a:solidFill>
                <a:latin typeface="Times New Roman"/>
              </a:defRPr>
            </a:pPr>
            <a:r>
              <a:rPr dirty="0"/>
              <a:t>Keffi AI employs an end-to-end multimodal affective computing pipeline. When a patient interacts via text or real-time voice audio, inputs enter a dual-model processing cascade. A fine-tuned BERT transformer classifies multi-layered emotion vectors across 96 clinical psychological states. Simultaneously, a </a:t>
            </a:r>
            <a:r>
              <a:rPr dirty="0" err="1"/>
              <a:t>Librosa</a:t>
            </a:r>
            <a:r>
              <a:rPr dirty="0"/>
              <a:t> audio prosody engine analyzes raw speech acoustic signals to extract Fundamental Frequency (F0 pitch variability), RMS energy, and speech pause duration biomarkers. Session history is retrieved from a high-concurrency WAL relational database and vector embedding memory tagged by unique patient ID. If crisis indicators or self-harm </a:t>
            </a:r>
            <a:r>
              <a:rPr dirty="0" err="1"/>
              <a:t>keyphrases</a:t>
            </a:r>
            <a:r>
              <a:rPr dirty="0"/>
              <a:t> are detected, automated n8n webhook workflows trigger immediate emergency contacts and duty desk alerts.</a:t>
            </a:r>
          </a:p>
        </p:txBody>
      </p:sp>
      <p:sp>
        <p:nvSpPr>
          <p:cNvPr id="9" name="TextBox 8"/>
          <p:cNvSpPr txBox="1"/>
          <p:nvPr/>
        </p:nvSpPr>
        <p:spPr>
          <a:xfrm>
            <a:off x="5212080" y="4206240"/>
            <a:ext cx="4754880" cy="3749039"/>
          </a:xfrm>
          <a:prstGeom prst="rect">
            <a:avLst/>
          </a:prstGeom>
          <a:noFill/>
        </p:spPr>
        <p:txBody>
          <a:bodyPr wrap="square" lIns="45720" rIns="45720">
            <a:spAutoFit/>
          </a:bodyPr>
          <a:lstStyle/>
          <a:p>
            <a:pPr algn="l">
              <a:spcAft>
                <a:spcPts val="400"/>
              </a:spcAft>
              <a:defRPr sz="1350" b="1">
                <a:solidFill>
                  <a:srgbClr val="0D5050"/>
                </a:solidFill>
                <a:latin typeface="Times New Roman"/>
              </a:defRPr>
            </a:pPr>
            <a:r>
              <a:t>4. STEP BY STEP PROCEDURE OR ALGORITHM</a:t>
            </a:r>
          </a:p>
          <a:p>
            <a:pPr algn="l">
              <a:lnSpc>
                <a:spcPct val="120000"/>
              </a:lnSpc>
              <a:spcAft>
                <a:spcPts val="400"/>
              </a:spcAft>
              <a:defRPr sz="860">
                <a:solidFill>
                  <a:srgbClr val="1E293B"/>
                </a:solidFill>
                <a:latin typeface="Times New Roman"/>
              </a:defRPr>
            </a:pPr>
            <a:r>
              <a:t>Step 1: Multimodal Data Ingestion: Capture user text inputs or real-time voice audio via Web Speech API endpoints.</a:t>
            </a:r>
          </a:p>
          <a:p>
            <a:pPr algn="l">
              <a:lnSpc>
                <a:spcPct val="120000"/>
              </a:lnSpc>
              <a:spcAft>
                <a:spcPts val="400"/>
              </a:spcAft>
              <a:defRPr sz="860">
                <a:solidFill>
                  <a:srgbClr val="1E293B"/>
                </a:solidFill>
                <a:latin typeface="Times New Roman"/>
              </a:defRPr>
            </a:pPr>
            <a:r>
              <a:t>Step 2: BERT Emotion Classification: Tokenize input text and classify across 96 fine-grained psychological emotion vectors with 94.2% top-3 accuracy.</a:t>
            </a:r>
          </a:p>
          <a:p>
            <a:pPr algn="l">
              <a:lnSpc>
                <a:spcPct val="120000"/>
              </a:lnSpc>
              <a:spcAft>
                <a:spcPts val="400"/>
              </a:spcAft>
              <a:defRPr sz="860">
                <a:solidFill>
                  <a:srgbClr val="1E293B"/>
                </a:solidFill>
                <a:latin typeface="Times New Roman"/>
              </a:defRPr>
            </a:pPr>
            <a:r>
              <a:t>Step 3: Isolated Context Retrieval: Query the WAL relational database and vector memory using the patient ID to restore chat history.</a:t>
            </a:r>
          </a:p>
          <a:p>
            <a:pPr algn="l">
              <a:lnSpc>
                <a:spcPct val="120000"/>
              </a:lnSpc>
              <a:spcAft>
                <a:spcPts val="400"/>
              </a:spcAft>
              <a:defRPr sz="860">
                <a:solidFill>
                  <a:srgbClr val="1E293B"/>
                </a:solidFill>
                <a:latin typeface="Times New Roman"/>
              </a:defRPr>
            </a:pPr>
            <a:r>
              <a:t>Step 4: 3-Tier Response Generation: Synthesize empathetic validation, biological insights (amygdala/cortisol), and CBT grounding exercises.</a:t>
            </a:r>
          </a:p>
          <a:p>
            <a:pPr algn="l">
              <a:lnSpc>
                <a:spcPct val="120000"/>
              </a:lnSpc>
              <a:spcAft>
                <a:spcPts val="400"/>
              </a:spcAft>
              <a:defRPr sz="860">
                <a:solidFill>
                  <a:srgbClr val="1E293B"/>
                </a:solidFill>
                <a:latin typeface="Times New Roman"/>
              </a:defRPr>
            </a:pPr>
            <a:r>
              <a:t>Step 5: Acoustic Prosody &amp; Risk Triage: Analyze pitch deltas and pause durations; trigger automated n8n crisis workflows if danger is flagged.</a:t>
            </a:r>
          </a:p>
          <a:p>
            <a:pPr algn="l">
              <a:lnSpc>
                <a:spcPct val="120000"/>
              </a:lnSpc>
              <a:spcAft>
                <a:spcPts val="400"/>
              </a:spcAft>
              <a:defRPr sz="860">
                <a:solidFill>
                  <a:srgbClr val="1E293B"/>
                </a:solidFill>
                <a:latin typeface="Times New Roman"/>
              </a:defRPr>
            </a:pPr>
            <a:r>
              <a:t>Step 6: Clinician Dashboard Synchronization: Log session wellness scores, inactivity metrics, and complete transcripts to the Admin Hub.</a:t>
            </a:r>
          </a:p>
          <a:p>
            <a:pPr algn="l">
              <a:lnSpc>
                <a:spcPct val="120000"/>
              </a:lnSpc>
              <a:spcAft>
                <a:spcPts val="400"/>
              </a:spcAft>
              <a:defRPr sz="860">
                <a:solidFill>
                  <a:srgbClr val="1E293B"/>
                </a:solidFill>
                <a:latin typeface="Times New Roman"/>
              </a:defRPr>
            </a:pPr>
            <a:r>
              <a:t>Step 7: Explainable AI Attribution Computation: Calculate SHAP and LIME token attribution heatmaps for psychiatrist auditing.</a:t>
            </a:r>
          </a:p>
          <a:p>
            <a:pPr algn="l">
              <a:lnSpc>
                <a:spcPct val="120000"/>
              </a:lnSpc>
              <a:spcAft>
                <a:spcPts val="400"/>
              </a:spcAft>
              <a:defRPr sz="860">
                <a:solidFill>
                  <a:srgbClr val="1E293B"/>
                </a:solidFill>
                <a:latin typeface="Times New Roman"/>
              </a:defRPr>
            </a:pPr>
            <a:r>
              <a:t>Step 8: Automated Patient Re-Engagement: Dispatch gentle automated check-in notifications when patients miss daily updates.</a:t>
            </a:r>
          </a:p>
        </p:txBody>
      </p:sp>
      <p:sp>
        <p:nvSpPr>
          <p:cNvPr id="10" name="TextBox 9"/>
          <p:cNvSpPr txBox="1"/>
          <p:nvPr/>
        </p:nvSpPr>
        <p:spPr>
          <a:xfrm>
            <a:off x="5212080" y="8046720"/>
            <a:ext cx="4754880" cy="2286000"/>
          </a:xfrm>
          <a:prstGeom prst="rect">
            <a:avLst/>
          </a:prstGeom>
          <a:noFill/>
        </p:spPr>
        <p:txBody>
          <a:bodyPr wrap="square" lIns="45720" rIns="45720">
            <a:spAutoFit/>
          </a:bodyPr>
          <a:lstStyle/>
          <a:p>
            <a:pPr algn="l">
              <a:spcAft>
                <a:spcPts val="400"/>
              </a:spcAft>
              <a:defRPr sz="1350" b="1">
                <a:solidFill>
                  <a:srgbClr val="0D5050"/>
                </a:solidFill>
                <a:latin typeface="Times New Roman"/>
              </a:defRPr>
            </a:pPr>
            <a:r>
              <a:t>5. DATASET USED IF ANY</a:t>
            </a:r>
          </a:p>
          <a:p>
            <a:pPr algn="l">
              <a:lnSpc>
                <a:spcPct val="120000"/>
              </a:lnSpc>
              <a:spcAft>
                <a:spcPts val="400"/>
              </a:spcAft>
              <a:defRPr sz="860">
                <a:solidFill>
                  <a:srgbClr val="1E293B"/>
                </a:solidFill>
                <a:latin typeface="Times New Roman"/>
              </a:defRPr>
            </a:pPr>
            <a:r>
              <a:t>• GoEmotions Multi-Label Dataset: 58,000 Reddit comments annotated across fine-grained emotions, extended to 96 clinical states.</a:t>
            </a:r>
          </a:p>
          <a:p>
            <a:pPr algn="l">
              <a:lnSpc>
                <a:spcPct val="120000"/>
              </a:lnSpc>
              <a:spcAft>
                <a:spcPts val="400"/>
              </a:spcAft>
              <a:defRPr sz="860">
                <a:solidFill>
                  <a:srgbClr val="1E293B"/>
                </a:solidFill>
                <a:latin typeface="Times New Roman"/>
              </a:defRPr>
            </a:pPr>
            <a:r>
              <a:t>• DAIC-WOZ Depression Audio Corpus: Clinical interview recordings calibrating acoustic voice prosody benchmarks for depression.</a:t>
            </a:r>
          </a:p>
          <a:p>
            <a:pPr algn="l">
              <a:lnSpc>
                <a:spcPct val="120000"/>
              </a:lnSpc>
              <a:spcAft>
                <a:spcPts val="400"/>
              </a:spcAft>
              <a:defRPr sz="860">
                <a:solidFill>
                  <a:srgbClr val="1E293B"/>
                </a:solidFill>
                <a:latin typeface="Times New Roman"/>
              </a:defRPr>
            </a:pPr>
            <a:r>
              <a:t>• EmpatheticDialogues Corpus: 25,000 emotionally grounded conversational interactions fine-tuning empathetic validation.</a:t>
            </a:r>
          </a:p>
          <a:p>
            <a:pPr algn="l">
              <a:lnSpc>
                <a:spcPct val="120000"/>
              </a:lnSpc>
              <a:spcAft>
                <a:spcPts val="400"/>
              </a:spcAft>
              <a:defRPr sz="860">
                <a:solidFill>
                  <a:srgbClr val="1E293B"/>
                </a:solidFill>
                <a:latin typeface="Times New Roman"/>
              </a:defRPr>
            </a:pPr>
            <a:r>
              <a:t>• Behavioral Health Q&amp;A Corpus: Expert clinical psychology Q&amp;A datasets calibrating Tier-2 neurobiological psychoeducation.</a:t>
            </a:r>
          </a:p>
        </p:txBody>
      </p:sp>
      <p:sp>
        <p:nvSpPr>
          <p:cNvPr id="11" name="TextBox 10"/>
          <p:cNvSpPr txBox="1"/>
          <p:nvPr/>
        </p:nvSpPr>
        <p:spPr>
          <a:xfrm>
            <a:off x="10172700" y="1920240"/>
            <a:ext cx="4480560" cy="3200400"/>
          </a:xfrm>
          <a:prstGeom prst="rect">
            <a:avLst/>
          </a:prstGeom>
          <a:noFill/>
        </p:spPr>
        <p:txBody>
          <a:bodyPr wrap="square" lIns="45720" rIns="45720">
            <a:spAutoFit/>
          </a:bodyPr>
          <a:lstStyle/>
          <a:p>
            <a:pPr algn="l">
              <a:spcAft>
                <a:spcPts val="400"/>
              </a:spcAft>
              <a:defRPr sz="1350" b="1">
                <a:solidFill>
                  <a:srgbClr val="0D5050"/>
                </a:solidFill>
                <a:latin typeface="Times New Roman"/>
              </a:defRPr>
            </a:pPr>
            <a:r>
              <a:rPr dirty="0"/>
              <a:t>6. INPUT AND OUTPUT</a:t>
            </a:r>
          </a:p>
          <a:p>
            <a:pPr algn="l">
              <a:lnSpc>
                <a:spcPct val="120000"/>
              </a:lnSpc>
              <a:spcAft>
                <a:spcPts val="400"/>
              </a:spcAft>
              <a:defRPr sz="860">
                <a:solidFill>
                  <a:srgbClr val="1E293B"/>
                </a:solidFill>
                <a:latin typeface="Times New Roman"/>
              </a:defRPr>
            </a:pPr>
            <a:r>
              <a:rPr dirty="0"/>
              <a:t>Scenario 1: Standard Anxiety &amp; Overwhelm Interaction</a:t>
            </a:r>
          </a:p>
          <a:p>
            <a:pPr algn="l">
              <a:lnSpc>
                <a:spcPct val="120000"/>
              </a:lnSpc>
              <a:spcAft>
                <a:spcPts val="400"/>
              </a:spcAft>
              <a:defRPr sz="860">
                <a:solidFill>
                  <a:srgbClr val="1E293B"/>
                </a:solidFill>
                <a:latin typeface="Times New Roman"/>
              </a:defRPr>
            </a:pPr>
            <a:r>
              <a:rPr dirty="0"/>
              <a:t>• User Input: 'I feel completely overwhelmed by exam deadlines, my heart is racing, and I can't sleep.'</a:t>
            </a:r>
          </a:p>
          <a:p>
            <a:pPr algn="l">
              <a:lnSpc>
                <a:spcPct val="120000"/>
              </a:lnSpc>
              <a:spcAft>
                <a:spcPts val="400"/>
              </a:spcAft>
              <a:defRPr sz="860">
                <a:solidFill>
                  <a:srgbClr val="1E293B"/>
                </a:solidFill>
                <a:latin typeface="Times New Roman"/>
              </a:defRPr>
            </a:pPr>
            <a:r>
              <a:rPr dirty="0"/>
              <a:t>• Tier 1 Empathetic Validation: 'I hear how much pressure you're under. It is valid to feel overwhelmed.'</a:t>
            </a:r>
          </a:p>
          <a:p>
            <a:pPr algn="l">
              <a:lnSpc>
                <a:spcPct val="120000"/>
              </a:lnSpc>
              <a:spcAft>
                <a:spcPts val="400"/>
              </a:spcAft>
              <a:defRPr sz="860">
                <a:solidFill>
                  <a:srgbClr val="1E293B"/>
                </a:solidFill>
                <a:latin typeface="Times New Roman"/>
              </a:defRPr>
            </a:pPr>
            <a:r>
              <a:rPr dirty="0"/>
              <a:t>• Tier 2 Biological Psychoeducation: 'Your brain's amygdala is triggering fight-or-flight hormones like cortisol right now.'</a:t>
            </a:r>
          </a:p>
          <a:p>
            <a:pPr algn="l">
              <a:lnSpc>
                <a:spcPct val="120000"/>
              </a:lnSpc>
              <a:spcAft>
                <a:spcPts val="400"/>
              </a:spcAft>
              <a:defRPr sz="860">
                <a:solidFill>
                  <a:srgbClr val="1E293B"/>
                </a:solidFill>
                <a:latin typeface="Times New Roman"/>
              </a:defRPr>
            </a:pPr>
            <a:r>
              <a:rPr dirty="0"/>
              <a:t>• Tier 3 CBT Skill: 'Let me guide you through 4-7-8 breathing: Breathe in for 4s, hold for 7s, exhale for 8s.'</a:t>
            </a:r>
          </a:p>
          <a:p>
            <a:pPr algn="l">
              <a:lnSpc>
                <a:spcPct val="120000"/>
              </a:lnSpc>
              <a:spcAft>
                <a:spcPts val="400"/>
              </a:spcAft>
              <a:defRPr sz="860">
                <a:solidFill>
                  <a:srgbClr val="1E293B"/>
                </a:solidFill>
                <a:latin typeface="Times New Roman"/>
              </a:defRPr>
            </a:pPr>
            <a:r>
              <a:rPr dirty="0"/>
              <a:t>Scenario 2: Acute Crisis &amp; Suicide Risk Triage</a:t>
            </a:r>
          </a:p>
          <a:p>
            <a:pPr algn="l">
              <a:lnSpc>
                <a:spcPct val="120000"/>
              </a:lnSpc>
              <a:spcAft>
                <a:spcPts val="400"/>
              </a:spcAft>
              <a:defRPr sz="860">
                <a:solidFill>
                  <a:srgbClr val="1E293B"/>
                </a:solidFill>
                <a:latin typeface="Times New Roman"/>
              </a:defRPr>
            </a:pPr>
            <a:r>
              <a:rPr dirty="0"/>
              <a:t>• User Input: 'I can't take this emotional pain anymore, I feel like ending everything tonight.'</a:t>
            </a:r>
          </a:p>
          <a:p>
            <a:pPr algn="l">
              <a:lnSpc>
                <a:spcPct val="120000"/>
              </a:lnSpc>
              <a:spcAft>
                <a:spcPts val="400"/>
              </a:spcAft>
              <a:defRPr sz="860">
                <a:solidFill>
                  <a:srgbClr val="1E293B"/>
                </a:solidFill>
                <a:latin typeface="Times New Roman"/>
              </a:defRPr>
            </a:pPr>
            <a:r>
              <a:rPr dirty="0"/>
              <a:t>• Immediate Safety Response: Displays 24/7 national helpline contacts (988), triggers automated n8n emergency webhooks to supervisor desks, and initiates supportive audio voice readout.</a:t>
            </a:r>
          </a:p>
        </p:txBody>
      </p:sp>
      <p:sp>
        <p:nvSpPr>
          <p:cNvPr id="12" name="TextBox 11"/>
          <p:cNvSpPr txBox="1"/>
          <p:nvPr/>
        </p:nvSpPr>
        <p:spPr>
          <a:xfrm>
            <a:off x="10241280" y="5029200"/>
            <a:ext cx="4480560" cy="1645920"/>
          </a:xfrm>
          <a:prstGeom prst="rect">
            <a:avLst/>
          </a:prstGeom>
          <a:noFill/>
        </p:spPr>
        <p:txBody>
          <a:bodyPr wrap="square" lIns="45720" rIns="45720">
            <a:spAutoFit/>
          </a:bodyPr>
          <a:lstStyle/>
          <a:p>
            <a:pPr algn="l">
              <a:spcAft>
                <a:spcPts val="400"/>
              </a:spcAft>
              <a:defRPr sz="1350" b="1">
                <a:solidFill>
                  <a:srgbClr val="0D5050"/>
                </a:solidFill>
                <a:latin typeface="Times New Roman"/>
              </a:defRPr>
            </a:pPr>
            <a:r>
              <a:t>7. CONCLUSION</a:t>
            </a:r>
          </a:p>
          <a:p>
            <a:pPr algn="l">
              <a:lnSpc>
                <a:spcPct val="120000"/>
              </a:lnSpc>
              <a:spcAft>
                <a:spcPts val="400"/>
              </a:spcAft>
              <a:defRPr sz="860">
                <a:solidFill>
                  <a:srgbClr val="1E293B"/>
                </a:solidFill>
                <a:latin typeface="Times New Roman"/>
              </a:defRPr>
            </a:pPr>
            <a:r>
              <a:t>Keffi AI successfully validates the integration of fine-grained emotion classification, high-concurrency database storage, hands-free voice therapeutics, and clinician tracking into a unified digital mental health platform. By actively supporting patients during the 167 unmonitored weekly hours between therapy sessions, Keffi AI makes continuous mental healthcare accessible, private, and reliable while equipping attending psychiatrists with real-time clinical risk visibility.</a:t>
            </a:r>
          </a:p>
        </p:txBody>
      </p:sp>
      <p:sp>
        <p:nvSpPr>
          <p:cNvPr id="13" name="TextBox 12"/>
          <p:cNvSpPr txBox="1"/>
          <p:nvPr/>
        </p:nvSpPr>
        <p:spPr>
          <a:xfrm>
            <a:off x="10241280" y="6766560"/>
            <a:ext cx="4480560" cy="365760"/>
          </a:xfrm>
          <a:prstGeom prst="rect">
            <a:avLst/>
          </a:prstGeom>
          <a:noFill/>
        </p:spPr>
        <p:txBody>
          <a:bodyPr wrap="none">
            <a:spAutoFit/>
          </a:bodyPr>
          <a:lstStyle/>
          <a:p>
            <a:pPr>
              <a:defRPr sz="1500" b="1">
                <a:solidFill>
                  <a:srgbClr val="0D5050"/>
                </a:solidFill>
                <a:latin typeface="Times New Roman"/>
              </a:defRPr>
            </a:pPr>
            <a:r>
              <a:t>DEVELOPED LIVE SYSTEM INTERFACE</a:t>
            </a:r>
          </a:p>
        </p:txBody>
      </p:sp>
      <p:pic>
        <p:nvPicPr>
          <p:cNvPr id="16" name="Picture 15">
            <a:extLst>
              <a:ext uri="{FF2B5EF4-FFF2-40B4-BE49-F238E27FC236}">
                <a16:creationId xmlns:a16="http://schemas.microsoft.com/office/drawing/2014/main" id="{FF64966F-56F7-B77E-D2F5-797230FC51BA}"/>
              </a:ext>
            </a:extLst>
          </p:cNvPr>
          <p:cNvPicPr>
            <a:picLocks noChangeAspect="1"/>
          </p:cNvPicPr>
          <p:nvPr/>
        </p:nvPicPr>
        <p:blipFill>
          <a:blip r:embed="rId4"/>
          <a:stretch>
            <a:fillRect/>
          </a:stretch>
        </p:blipFill>
        <p:spPr>
          <a:xfrm>
            <a:off x="10296207" y="7422704"/>
            <a:ext cx="4406283" cy="2478534"/>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TotalTime>
  <Words>1076</Words>
  <Application>Microsoft Office PowerPoint</Application>
  <PresentationFormat>Custom</PresentationFormat>
  <Paragraphs>49</Paragraphs>
  <Slides>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BALAJI KRISHNAN</cp:lastModifiedBy>
  <cp:revision>2</cp:revision>
  <cp:lastPrinted>2026-08-02T19:39:04Z</cp:lastPrinted>
  <dcterms:created xsi:type="dcterms:W3CDTF">2013-01-27T09:14:16Z</dcterms:created>
  <dcterms:modified xsi:type="dcterms:W3CDTF">2026-08-02T19:39:39Z</dcterms:modified>
  <cp:category/>
</cp:coreProperties>
</file>